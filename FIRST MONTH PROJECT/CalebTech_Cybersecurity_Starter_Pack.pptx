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2E"/>
                </a:solidFill>
                <a:latin typeface="Calibri"/>
              </a:defRPr>
            </a:pPr>
            <a:r>
              <a:rPr sz="1300" b="0" i="0" u="none" strike="noStrike">
                <a:solidFill>
                  <a:srgbClr val="16232E"/>
                </a:solidFill>
                <a:latin typeface="Calibri"/>
              </a:rPr>
              <a:t>Ten key accounts reviewed</a:t>
            </a:r>
          </a:p>
        </c:rich>
      </c:tx>
      <c:layout/>
      <c:overlay val="0"/>
    </c:title>
    <c:autoTitleDeleted val="0"/>
    <c:plotArea>
      <c:layout/>
      <c:barChart>
        <c:barDir val="col"/>
        <c:grouping val="clustered"/>
        <c:varyColors val="0"/>
        <c:ser>
          <c:idx val="0"/>
          <c:order val="0"/>
          <c:tx>
            <c:strRef>
              <c:f>Sheet1!$B$1</c:f>
              <c:strCache>
                <c:ptCount val="1"/>
                <c:pt idx="0">
                  <c:v>Accounts</c:v>
                </c:pt>
              </c:strCache>
            </c:strRef>
          </c:tx>
          <c:spPr>
            <a:solidFill>
              <a:srgbClr val="2E5266"/>
            </a:solidFill>
            <a:effectLst/>
          </c:spPr>
          <c:invertIfNegative val="0"/>
          <c:dLbls>
            <c:numFmt formatCode="#,##0" sourceLinked="0"/>
            <c:txPr>
              <a:bodyPr/>
              <a:lstStyle/>
              <a:p>
                <a:pPr>
                  <a:defRPr b="1" i="0" strike="noStrike" sz="1100" u="none">
                    <a:solidFill>
                      <a:srgbClr val="16232E"/>
                    </a:solidFill>
                    <a:latin typeface="Arial"/>
                  </a:defRPr>
                </a:pPr>
              </a:p>
            </c:txPr>
            <c:showLegendKey val="0"/>
            <c:showVal val="1"/>
            <c:showCatName val="0"/>
            <c:showSerName val="0"/>
            <c:showPercent val="0"/>
            <c:showBubbleSize val="0"/>
            <c:showLeaderLines val="0"/>
          </c:dLbls>
          <c:dPt>
            <c:idx val="0"/>
            <c:invertIfNegative val="0"/>
            <c:bubble3D val="0"/>
            <c:spPr>
              <a:solidFill>
                <a:srgbClr val="2E5266"/>
              </a:solidFill>
              <a:effectLst/>
            </c:spPr>
          </c:dPt>
          <c:dPt>
            <c:idx val="1"/>
            <c:invertIfNegative val="0"/>
            <c:bubble3D val="0"/>
            <c:spPr>
              <a:solidFill>
                <a:srgbClr val="E8A33D"/>
              </a:solidFill>
              <a:effectLst/>
            </c:spPr>
          </c:dPt>
          <c:dPt>
            <c:idx val="2"/>
            <c:invertIfNegative val="0"/>
            <c:bubble3D val="0"/>
            <c:spPr>
              <a:solidFill>
                <a:srgbClr val="2E5266"/>
              </a:solidFill>
              <a:effectLst/>
            </c:spPr>
          </c:dPt>
          <c:dPt>
            <c:idx val="3"/>
            <c:invertIfNegative val="0"/>
            <c:bubble3D val="0"/>
            <c:spPr>
              <a:solidFill>
                <a:srgbClr val="E8A33D"/>
              </a:solidFill>
              <a:effectLst/>
            </c:spPr>
          </c:dPt>
          <c:cat>
            <c:multiLvlStrRef>
              <c:f>Sheet1!$A$2:$A$5</c:f>
              <c:multiLvlStrCache>
                <c:ptCount val="4"/>
                <c:lvl>
                  <c:pt idx="0">
                    <c:v>MFA on before</c:v>
                  </c:pt>
                  <c:pt idx="1">
                    <c:v>MFA on after review</c:v>
                  </c:pt>
                  <c:pt idx="2">
                    <c:v>Unique password before</c:v>
                  </c:pt>
                  <c:pt idx="3">
                    <c:v>Unique password after</c:v>
                  </c:pt>
                </c:lvl>
              </c:multiLvlStrCache>
            </c:multiLvlStrRef>
          </c:cat>
          <c:val>
            <c:numRef>
              <c:f>Sheet1!$B$2:$B$5</c:f>
              <c:numCache>
                <c:formatCode>General</c:formatCode>
                <c:ptCount val="4"/>
                <c:pt idx="0">
                  <c:v>2</c:v>
                </c:pt>
                <c:pt idx="1">
                  <c:v>8</c:v>
                </c:pt>
                <c:pt idx="2">
                  <c:v>3</c:v>
                </c:pt>
                <c:pt idx="3">
                  <c:v>10</c:v>
                </c:pt>
              </c:numCache>
            </c:numRef>
          </c:val>
        </c:ser>
        <c:dLbls>
          <c:numFmt formatCode="#,##0" sourceLinked="0"/>
          <c:txPr>
            <a:bodyPr/>
            <a:lstStyle/>
            <a:p>
              <a:pPr>
                <a:defRPr b="1" i="0" strike="noStrike" sz="1100" u="none">
                  <a:solidFill>
                    <a:srgbClr val="1623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E7183"/>
                </a:solidFill>
                <a:latin typeface="Arial"/>
              </a:defRPr>
            </a:pPr>
            <a:endParaRPr lang="en-US"/>
          </a:p>
        </c:txPr>
        <c:crossAx val="2094734552"/>
        <c:crosses val="autoZero"/>
        <c:auto val="1"/>
        <c:lblAlgn val="ctr"/>
        <c:noMultiLvlLbl val="1"/>
      </c:catAx>
      <c:valAx>
        <c:axId val="2094734552"/>
        <c:scaling>
          <c:orientation val="minMax"/>
          <c:max val="12"/>
        </c:scaling>
        <c:delete val="0"/>
        <c:axPos val="l"/>
        <c:majorGridlines>
          <c:spPr>
            <a:ln w="12700" cap="flat">
              <a:solidFill>
                <a:srgbClr val="E1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18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business and state the goal: reduce digital risk for a small computer services business using only documents, checklists and free built-in security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method is deliberately low-tech. The marks come from clear thinking and prioritisation, not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CalebTech is fictional but deliberately ordinary: it has customer data, cash handling, public PCs and social media — the same risk surface as thousands of real small businesses.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Markers look for this slide. Ethics and authorisation are part of professional cybersecurity — state them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section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Importance column is a judgement call the student must justify: how badly would the business hurt if this asset were lost, leaked or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A10: email is the key to the kingdom for small businesses. That insight drives the Week 2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threats, exceeding the five required. Each links to at least one asset from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key must be stated. Two people can disagree on a score, but they cannot argue with a stated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link between Week 1 analysis and Weeks 2-4 work. The project is one continuous story, not four unrelated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section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the deliverable. The finding line at the bottom is what turns a table into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student can only do one thing for a real business, it is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rules, within the 5-8 range the brief asks for. Each is enforceable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section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ladder matters: staff who only ever see the obvious example will still fall for the third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list at six. People remember six things; they do not remember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no-blame rule is the most important line on the slide. Fear of blame is why incidents get hidden until they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line shows the training was actually delivered and measured. That is evidence, not just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section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order: contain first, investigate second, rebuild last. Most beginners reformat the PC immediately and destroy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ten fields. If the form is longer than a page, nobody fills it in during a real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argument of the whole project: risk measurably reduced, at almost no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this slide directly against the marking criteria in the class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domain you want to pursue next — it answers the final question in the class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12304F"/>
          </a:solidFill>
          <a:ln w="12700">
            <a:solidFill>
              <a:srgbClr val="12304F"/>
            </a:solidFill>
            <a:prstDash val="solid"/>
          </a:ln>
        </p:spPr>
      </p:sp>
      <p:sp>
        <p:nvSpPr>
          <p:cNvPr id="3" name="Shape 1"/>
          <p:cNvSpPr/>
          <p:nvPr/>
        </p:nvSpPr>
        <p:spPr>
          <a:xfrm>
            <a:off x="10241280" y="3931920"/>
            <a:ext cx="3108960" cy="3108960"/>
          </a:xfrm>
          <a:prstGeom prst="ellipse">
            <a:avLst/>
          </a:prstGeom>
          <a:solidFill>
            <a:srgbClr val="0F2942"/>
          </a:solidFill>
          <a:ln w="12700">
            <a:solidFill>
              <a:srgbClr val="0F2942"/>
            </a:solidFill>
            <a:prstDash val="solid"/>
          </a:ln>
        </p:spPr>
      </p:sp>
      <p:sp>
        <p:nvSpPr>
          <p:cNvPr id="4" name="Text 2"/>
          <p:cNvSpPr txBox="1"/>
          <p:nvPr/>
        </p:nvSpPr>
        <p:spPr>
          <a:xfrm>
            <a:off x="822960" y="1371600"/>
            <a:ext cx="8229600" cy="274320"/>
          </a:xfrm>
          <a:prstGeom prst="rect">
            <a:avLst/>
          </a:prstGeom>
          <a:noFill/>
          <a:ln/>
        </p:spPr>
        <p:txBody>
          <a:bodyPr wrap="square" lIns="0" tIns="0" rIns="0" bIns="0" rtlCol="0" anchor="ctr"/>
          <a:lstStyle/>
          <a:p>
            <a:pPr indent="0" marL="0">
              <a:buNone/>
            </a:pPr>
            <a:r>
              <a:rPr lang="en-US" sz="1200" b="1" spc="250" kern="0" dirty="0">
                <a:solidFill>
                  <a:srgbClr val="E8A33D"/>
                </a:solidFill>
                <a:latin typeface="Calibri" pitchFamily="34" charset="0"/>
                <a:ea typeface="Calibri" pitchFamily="34" charset="-122"/>
                <a:cs typeface="Calibri" pitchFamily="34" charset="-120"/>
              </a:rPr>
              <a:t>1-MONTH HANDS-ON CYBERSECURITY PROJECT</a:t>
            </a:r>
            <a:endParaRPr lang="en-US" sz="1200" dirty="0"/>
          </a:p>
        </p:txBody>
      </p:sp>
      <p:sp>
        <p:nvSpPr>
          <p:cNvPr id="5" name="Text 3"/>
          <p:cNvSpPr txBox="1"/>
          <p:nvPr/>
        </p:nvSpPr>
        <p:spPr>
          <a:xfrm>
            <a:off x="786384" y="1783080"/>
            <a:ext cx="7863840" cy="1737360"/>
          </a:xfrm>
          <a:prstGeom prst="rect">
            <a:avLst/>
          </a:prstGeom>
          <a:noFill/>
          <a:ln/>
        </p:spPr>
        <p:txBody>
          <a:bodyPr wrap="square" lIns="0" tIns="0" rIns="0" bIns="0" rtlCol="0" anchor="ctr"/>
          <a:lstStyle/>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Cybersecurity</a:t>
            </a:r>
            <a:endParaRPr lang="en-US" sz="5200" dirty="0"/>
          </a:p>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Starter Pack</a:t>
            </a:r>
            <a:endParaRPr lang="en-US" sz="5200" dirty="0"/>
          </a:p>
        </p:txBody>
      </p:sp>
      <p:sp>
        <p:nvSpPr>
          <p:cNvPr id="6" name="Shape 4"/>
          <p:cNvSpPr/>
          <p:nvPr/>
        </p:nvSpPr>
        <p:spPr>
          <a:xfrm>
            <a:off x="822960" y="3657600"/>
            <a:ext cx="5577840" cy="566928"/>
          </a:xfrm>
          <a:prstGeom prst="roundRect">
            <a:avLst>
              <a:gd name="adj" fmla="val 16129"/>
            </a:avLst>
          </a:prstGeom>
          <a:solidFill>
            <a:srgbClr val="E8A33D"/>
          </a:solidFill>
          <a:ln w="12700">
            <a:solidFill>
              <a:srgbClr val="E8A33D"/>
            </a:solidFill>
            <a:prstDash val="solid"/>
          </a:ln>
        </p:spPr>
      </p:sp>
      <p:sp>
        <p:nvSpPr>
          <p:cNvPr id="7" name="Text 5"/>
          <p:cNvSpPr txBox="1"/>
          <p:nvPr/>
        </p:nvSpPr>
        <p:spPr>
          <a:xfrm>
            <a:off x="822960" y="3657600"/>
            <a:ext cx="5577840" cy="566928"/>
          </a:xfrm>
          <a:prstGeom prst="rect">
            <a:avLst/>
          </a:prstGeom>
          <a:noFill/>
          <a:ln/>
        </p:spPr>
        <p:txBody>
          <a:bodyPr wrap="square" lIns="0" tIns="0" rIns="0" bIns="0" rtlCol="0" anchor="ctr"/>
          <a:lstStyle/>
          <a:p>
            <a:pPr algn="ctr" indent="0" marL="0">
              <a:buNone/>
            </a:pPr>
            <a:r>
              <a:rPr lang="en-US" sz="1900" b="1" dirty="0">
                <a:solidFill>
                  <a:srgbClr val="16232E"/>
                </a:solidFill>
                <a:latin typeface="Cambria" pitchFamily="34" charset="0"/>
                <a:ea typeface="Cambria" pitchFamily="34" charset="-122"/>
                <a:cs typeface="Cambria" pitchFamily="34" charset="-120"/>
              </a:rPr>
              <a:t>CalebTech Computer Services</a:t>
            </a:r>
            <a:endParaRPr lang="en-US" sz="1900" dirty="0"/>
          </a:p>
        </p:txBody>
      </p:sp>
      <p:sp>
        <p:nvSpPr>
          <p:cNvPr id="8" name="Text 6"/>
          <p:cNvSpPr txBox="1"/>
          <p:nvPr/>
        </p:nvSpPr>
        <p:spPr>
          <a:xfrm>
            <a:off x="822960" y="4389120"/>
            <a:ext cx="7680960" cy="274320"/>
          </a:xfrm>
          <a:prstGeom prst="rect">
            <a:avLst/>
          </a:prstGeom>
          <a:noFill/>
          <a:ln/>
        </p:spPr>
        <p:txBody>
          <a:bodyPr wrap="square" lIns="0" tIns="0" rIns="0" bIns="0" rtlCol="0" anchor="ctr"/>
          <a:lstStyle/>
          <a:p>
            <a:pPr indent="0" marL="0">
              <a:buNone/>
            </a:pPr>
            <a:r>
              <a:rPr lang="en-US" sz="1300" dirty="0">
                <a:solidFill>
                  <a:srgbClr val="C6D6E4"/>
                </a:solidFill>
                <a:latin typeface="Calibri" pitchFamily="34" charset="0"/>
                <a:ea typeface="Calibri" pitchFamily="34" charset="-122"/>
                <a:cs typeface="Calibri" pitchFamily="34" charset="-120"/>
              </a:rPr>
              <a:t>Wuse Zone 5, Abuja  •  9 staff  •  Sales, repairs, CCTV, cyber-café &amp; IT support</a:t>
            </a:r>
            <a:endParaRPr lang="en-US" sz="1300" dirty="0"/>
          </a:p>
        </p:txBody>
      </p:sp>
      <p:sp>
        <p:nvSpPr>
          <p:cNvPr id="9" name="Shape 7"/>
          <p:cNvSpPr/>
          <p:nvPr/>
        </p:nvSpPr>
        <p:spPr>
          <a:xfrm>
            <a:off x="822960" y="4983480"/>
            <a:ext cx="2011680" cy="420624"/>
          </a:xfrm>
          <a:prstGeom prst="roundRect">
            <a:avLst>
              <a:gd name="adj" fmla="val 47826"/>
            </a:avLst>
          </a:prstGeom>
          <a:solidFill>
            <a:srgbClr val="12304F"/>
          </a:solidFill>
          <a:ln w="12700">
            <a:solidFill>
              <a:srgbClr val="2A4D6E"/>
            </a:solidFill>
            <a:prstDash val="solid"/>
          </a:ln>
        </p:spPr>
      </p:sp>
      <p:sp>
        <p:nvSpPr>
          <p:cNvPr id="10" name="Text 8"/>
          <p:cNvSpPr txBox="1"/>
          <p:nvPr/>
        </p:nvSpPr>
        <p:spPr>
          <a:xfrm>
            <a:off x="822960" y="4983480"/>
            <a:ext cx="2011680" cy="420624"/>
          </a:xfrm>
          <a:prstGeom prst="rect">
            <a:avLst/>
          </a:prstGeom>
          <a:noFill/>
          <a:ln/>
        </p:spPr>
        <p:txBody>
          <a:bodyPr wrap="square" lIns="0" tIns="0" rIns="0" bIns="0" rtlCol="0" anchor="ctr"/>
          <a:lstStyle/>
          <a:p>
            <a:pPr algn="ctr" indent="0" marL="0">
              <a:buNone/>
            </a:pPr>
            <a:r>
              <a:rPr lang="en-US" sz="1050" b="1" dirty="0">
                <a:solidFill>
                  <a:srgbClr val="DCE8F2"/>
                </a:solidFill>
                <a:latin typeface="Calibri" pitchFamily="34" charset="0"/>
                <a:ea typeface="Calibri" pitchFamily="34" charset="-122"/>
                <a:cs typeface="Calibri" pitchFamily="34" charset="-120"/>
              </a:rPr>
              <a:t>Asset &amp; Risk Map</a:t>
            </a:r>
            <a:endParaRPr lang="en-US" sz="1050" dirty="0"/>
          </a:p>
        </p:txBody>
      </p:sp>
      <p:sp>
        <p:nvSpPr>
          <p:cNvPr id="11" name="Shape 9"/>
          <p:cNvSpPr/>
          <p:nvPr/>
        </p:nvSpPr>
        <p:spPr>
          <a:xfrm>
            <a:off x="2971800" y="4983480"/>
            <a:ext cx="2011680" cy="420624"/>
          </a:xfrm>
          <a:prstGeom prst="roundRect">
            <a:avLst>
              <a:gd name="adj" fmla="val 47826"/>
            </a:avLst>
          </a:prstGeom>
          <a:solidFill>
            <a:srgbClr val="12304F"/>
          </a:solidFill>
          <a:ln w="12700">
            <a:solidFill>
              <a:srgbClr val="2A4D6E"/>
            </a:solidFill>
            <a:prstDash val="solid"/>
          </a:ln>
        </p:spPr>
      </p:sp>
      <p:sp>
        <p:nvSpPr>
          <p:cNvPr id="12" name="Text 10"/>
          <p:cNvSpPr txBox="1"/>
          <p:nvPr/>
        </p:nvSpPr>
        <p:spPr>
          <a:xfrm>
            <a:off x="2971800" y="4983480"/>
            <a:ext cx="2011680" cy="420624"/>
          </a:xfrm>
          <a:prstGeom prst="rect">
            <a:avLst/>
          </a:prstGeom>
          <a:noFill/>
          <a:ln/>
        </p:spPr>
        <p:txBody>
          <a:bodyPr wrap="square" lIns="0" tIns="0" rIns="0" bIns="0" rtlCol="0" anchor="ctr"/>
          <a:lstStyle/>
          <a:p>
            <a:pPr algn="ctr" indent="0" marL="0">
              <a:buNone/>
            </a:pPr>
            <a:r>
              <a:rPr lang="en-US" sz="1050" b="1" dirty="0">
                <a:solidFill>
                  <a:srgbClr val="DCE8F2"/>
                </a:solidFill>
                <a:latin typeface="Calibri" pitchFamily="34" charset="0"/>
                <a:ea typeface="Calibri" pitchFamily="34" charset="-122"/>
                <a:cs typeface="Calibri" pitchFamily="34" charset="-120"/>
              </a:rPr>
              <a:t>Access Review</a:t>
            </a:r>
            <a:endParaRPr lang="en-US" sz="1050" dirty="0"/>
          </a:p>
        </p:txBody>
      </p:sp>
      <p:sp>
        <p:nvSpPr>
          <p:cNvPr id="13" name="Shape 11"/>
          <p:cNvSpPr/>
          <p:nvPr/>
        </p:nvSpPr>
        <p:spPr>
          <a:xfrm>
            <a:off x="5120640" y="4983480"/>
            <a:ext cx="2011680" cy="420624"/>
          </a:xfrm>
          <a:prstGeom prst="roundRect">
            <a:avLst>
              <a:gd name="adj" fmla="val 47826"/>
            </a:avLst>
          </a:prstGeom>
          <a:solidFill>
            <a:srgbClr val="12304F"/>
          </a:solidFill>
          <a:ln w="12700">
            <a:solidFill>
              <a:srgbClr val="2A4D6E"/>
            </a:solidFill>
            <a:prstDash val="solid"/>
          </a:ln>
        </p:spPr>
      </p:sp>
      <p:sp>
        <p:nvSpPr>
          <p:cNvPr id="14" name="Text 12"/>
          <p:cNvSpPr txBox="1"/>
          <p:nvPr/>
        </p:nvSpPr>
        <p:spPr>
          <a:xfrm>
            <a:off x="5120640" y="4983480"/>
            <a:ext cx="2011680" cy="420624"/>
          </a:xfrm>
          <a:prstGeom prst="rect">
            <a:avLst/>
          </a:prstGeom>
          <a:noFill/>
          <a:ln/>
        </p:spPr>
        <p:txBody>
          <a:bodyPr wrap="square" lIns="0" tIns="0" rIns="0" bIns="0" rtlCol="0" anchor="ctr"/>
          <a:lstStyle/>
          <a:p>
            <a:pPr algn="ctr" indent="0" marL="0">
              <a:buNone/>
            </a:pPr>
            <a:r>
              <a:rPr lang="en-US" sz="1050" b="1" dirty="0">
                <a:solidFill>
                  <a:srgbClr val="DCE8F2"/>
                </a:solidFill>
                <a:latin typeface="Calibri" pitchFamily="34" charset="0"/>
                <a:ea typeface="Calibri" pitchFamily="34" charset="-122"/>
                <a:cs typeface="Calibri" pitchFamily="34" charset="-120"/>
              </a:rPr>
              <a:t>Phishing Kit</a:t>
            </a:r>
            <a:endParaRPr lang="en-US" sz="1050" dirty="0"/>
          </a:p>
        </p:txBody>
      </p:sp>
      <p:sp>
        <p:nvSpPr>
          <p:cNvPr id="15" name="Shape 13"/>
          <p:cNvSpPr/>
          <p:nvPr/>
        </p:nvSpPr>
        <p:spPr>
          <a:xfrm>
            <a:off x="7269480" y="4983480"/>
            <a:ext cx="2011680" cy="420624"/>
          </a:xfrm>
          <a:prstGeom prst="roundRect">
            <a:avLst>
              <a:gd name="adj" fmla="val 47826"/>
            </a:avLst>
          </a:prstGeom>
          <a:solidFill>
            <a:srgbClr val="12304F"/>
          </a:solidFill>
          <a:ln w="12700">
            <a:solidFill>
              <a:srgbClr val="2A4D6E"/>
            </a:solidFill>
            <a:prstDash val="solid"/>
          </a:ln>
        </p:spPr>
      </p:sp>
      <p:sp>
        <p:nvSpPr>
          <p:cNvPr id="16" name="Text 14"/>
          <p:cNvSpPr txBox="1"/>
          <p:nvPr/>
        </p:nvSpPr>
        <p:spPr>
          <a:xfrm>
            <a:off x="7269480" y="4983480"/>
            <a:ext cx="2011680" cy="420624"/>
          </a:xfrm>
          <a:prstGeom prst="rect">
            <a:avLst/>
          </a:prstGeom>
          <a:noFill/>
          <a:ln/>
        </p:spPr>
        <p:txBody>
          <a:bodyPr wrap="square" lIns="0" tIns="0" rIns="0" bIns="0" rtlCol="0" anchor="ctr"/>
          <a:lstStyle/>
          <a:p>
            <a:pPr algn="ctr" indent="0" marL="0">
              <a:buNone/>
            </a:pPr>
            <a:r>
              <a:rPr lang="en-US" sz="1050" b="1" dirty="0">
                <a:solidFill>
                  <a:srgbClr val="DCE8F2"/>
                </a:solidFill>
                <a:latin typeface="Calibri" pitchFamily="34" charset="0"/>
                <a:ea typeface="Calibri" pitchFamily="34" charset="-122"/>
                <a:cs typeface="Calibri" pitchFamily="34" charset="-120"/>
              </a:rPr>
              <a:t>Incident Playbook</a:t>
            </a:r>
            <a:endParaRPr lang="en-US" sz="1050" dirty="0"/>
          </a:p>
        </p:txBody>
      </p:sp>
      <p:sp>
        <p:nvSpPr>
          <p:cNvPr id="17" name="Text 15"/>
          <p:cNvSpPr txBox="1"/>
          <p:nvPr/>
        </p:nvSpPr>
        <p:spPr>
          <a:xfrm>
            <a:off x="822960" y="5897880"/>
            <a:ext cx="9601200" cy="274320"/>
          </a:xfrm>
          <a:prstGeom prst="rect">
            <a:avLst/>
          </a:prstGeom>
          <a:noFill/>
          <a:ln/>
        </p:spPr>
        <p:txBody>
          <a:bodyPr wrap="square" lIns="0" tIns="0" rIns="0" bIns="0" rtlCol="0" anchor="ctr"/>
          <a:lstStyle/>
          <a:p>
            <a:pPr indent="0" marL="0">
              <a:buNone/>
            </a:pPr>
            <a:r>
              <a:rPr lang="en-US" sz="1050" dirty="0">
                <a:solidFill>
                  <a:srgbClr val="8FA6BA"/>
                </a:solidFill>
                <a:latin typeface="Calibri" pitchFamily="34" charset="0"/>
                <a:ea typeface="Calibri" pitchFamily="34" charset="-122"/>
                <a:cs typeface="Calibri" pitchFamily="34" charset="-120"/>
              </a:rPr>
              <a:t>Prepared by: [Your Name]  •  Submitted: [Date]  •  Beginner portfolio project — no hacking tools used</a:t>
            </a:r>
            <a:endParaRPr lang="en-US" sz="1050" dirty="0"/>
          </a:p>
        </p:txBody>
      </p:sp>
      <p:sp>
        <p:nvSpPr>
          <p:cNvPr id="19" name="Text 16"/>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How I Approached This Project</a:t>
            </a:r>
            <a:endParaRPr lang="en-US" sz="3000" dirty="0"/>
          </a:p>
        </p:txBody>
      </p:sp>
      <p:sp>
        <p:nvSpPr>
          <p:cNvPr id="4" name="Text 2"/>
          <p:cNvSpPr txBox="1"/>
          <p:nvPr/>
        </p:nvSpPr>
        <p:spPr>
          <a:xfrm>
            <a:off x="566928" y="1298448"/>
            <a:ext cx="11064240" cy="457200"/>
          </a:xfrm>
          <a:prstGeom prst="rect">
            <a:avLst/>
          </a:prstGeom>
          <a:noFill/>
          <a:ln/>
        </p:spPr>
        <p:txBody>
          <a:bodyPr wrap="square" lIns="0" tIns="0" rIns="0" bIns="0" rtlCol="0" anchor="ctr"/>
          <a:lstStyle/>
          <a:p>
            <a:pPr indent="0" marL="0">
              <a:buNone/>
            </a:pPr>
            <a:r>
              <a:rPr lang="en-US" sz="1350" dirty="0">
                <a:solidFill>
                  <a:srgbClr val="5E7183"/>
                </a:solidFill>
                <a:latin typeface="Calibri" pitchFamily="34" charset="0"/>
                <a:ea typeface="Calibri" pitchFamily="34" charset="-122"/>
                <a:cs typeface="Calibri" pitchFamily="34" charset="-120"/>
              </a:rPr>
              <a:t>The project follows one simple loop, repeated over four weeks: understand what CalebTech has, find what could go wrong, fix the cheapest high-impact things first, and write it down as evidence.</a:t>
            </a:r>
            <a:endParaRPr lang="en-US" sz="1350" dirty="0"/>
          </a:p>
        </p:txBody>
      </p:sp>
      <p:sp>
        <p:nvSpPr>
          <p:cNvPr id="5" name="Shape 3"/>
          <p:cNvSpPr/>
          <p:nvPr/>
        </p:nvSpPr>
        <p:spPr>
          <a:xfrm>
            <a:off x="566928" y="1920240"/>
            <a:ext cx="11064240" cy="676656"/>
          </a:xfrm>
          <a:prstGeom prst="roundRect">
            <a:avLst>
              <a:gd name="adj" fmla="val 1081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6" name="Shape 4"/>
          <p:cNvSpPr/>
          <p:nvPr/>
        </p:nvSpPr>
        <p:spPr>
          <a:xfrm>
            <a:off x="749808" y="2048256"/>
            <a:ext cx="420624" cy="420624"/>
          </a:xfrm>
          <a:prstGeom prst="ellipse">
            <a:avLst/>
          </a:prstGeom>
          <a:solidFill>
            <a:srgbClr val="12304F"/>
          </a:solidFill>
          <a:ln w="12700">
            <a:solidFill>
              <a:srgbClr val="12304F"/>
            </a:solidFill>
            <a:prstDash val="solid"/>
          </a:ln>
        </p:spPr>
      </p:sp>
      <p:sp>
        <p:nvSpPr>
          <p:cNvPr id="7" name="Text 5"/>
          <p:cNvSpPr txBox="1"/>
          <p:nvPr/>
        </p:nvSpPr>
        <p:spPr>
          <a:xfrm>
            <a:off x="749808" y="20482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25880" y="1984248"/>
            <a:ext cx="2926080" cy="54864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Pick the organisation</a:t>
            </a:r>
            <a:endParaRPr lang="en-US" sz="1400" dirty="0"/>
          </a:p>
        </p:txBody>
      </p:sp>
      <p:sp>
        <p:nvSpPr>
          <p:cNvPr id="9" name="Text 7"/>
          <p:cNvSpPr txBox="1"/>
          <p:nvPr/>
        </p:nvSpPr>
        <p:spPr>
          <a:xfrm>
            <a:off x="4297680" y="1984248"/>
            <a:ext cx="7178040" cy="548640"/>
          </a:xfrm>
          <a:prstGeom prst="rect">
            <a:avLst/>
          </a:prstGeom>
          <a:noFill/>
          <a:ln/>
        </p:spPr>
        <p:txBody>
          <a:bodyPr wrap="square" lIns="0" tIns="0" rIns="0" bIns="0" rtlCol="0" anchor="ctr"/>
          <a:lstStyle/>
          <a:p>
            <a:pPr indent="0" marL="0">
              <a:buNone/>
            </a:pPr>
            <a:r>
              <a:rPr lang="en-US" sz="1200" dirty="0">
                <a:solidFill>
                  <a:srgbClr val="5E7183"/>
                </a:solidFill>
                <a:latin typeface="Calibri" pitchFamily="34" charset="0"/>
                <a:ea typeface="Calibri" pitchFamily="34" charset="-122"/>
                <a:cs typeface="Calibri" pitchFamily="34" charset="-120"/>
              </a:rPr>
              <a:t>Choose a small, realistic business you can describe in detail — here, CalebTech Computer Services.</a:t>
            </a:r>
            <a:endParaRPr lang="en-US" sz="1200" dirty="0"/>
          </a:p>
        </p:txBody>
      </p:sp>
      <p:sp>
        <p:nvSpPr>
          <p:cNvPr id="10" name="Shape 8"/>
          <p:cNvSpPr/>
          <p:nvPr/>
        </p:nvSpPr>
        <p:spPr>
          <a:xfrm>
            <a:off x="566928" y="2724912"/>
            <a:ext cx="11064240" cy="676656"/>
          </a:xfrm>
          <a:prstGeom prst="roundRect">
            <a:avLst>
              <a:gd name="adj" fmla="val 1081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1" name="Shape 9"/>
          <p:cNvSpPr/>
          <p:nvPr/>
        </p:nvSpPr>
        <p:spPr>
          <a:xfrm>
            <a:off x="749808" y="2852928"/>
            <a:ext cx="420624" cy="420624"/>
          </a:xfrm>
          <a:prstGeom prst="ellipse">
            <a:avLst/>
          </a:prstGeom>
          <a:solidFill>
            <a:srgbClr val="12304F"/>
          </a:solidFill>
          <a:ln w="12700">
            <a:solidFill>
              <a:srgbClr val="12304F"/>
            </a:solidFill>
            <a:prstDash val="solid"/>
          </a:ln>
        </p:spPr>
      </p:sp>
      <p:sp>
        <p:nvSpPr>
          <p:cNvPr id="12" name="Text 10"/>
          <p:cNvSpPr txBox="1"/>
          <p:nvPr/>
        </p:nvSpPr>
        <p:spPr>
          <a:xfrm>
            <a:off x="749808" y="28529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325880" y="2788920"/>
            <a:ext cx="2926080" cy="54864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Inventory first</a:t>
            </a:r>
            <a:endParaRPr lang="en-US" sz="1400" dirty="0"/>
          </a:p>
        </p:txBody>
      </p:sp>
      <p:sp>
        <p:nvSpPr>
          <p:cNvPr id="14" name="Text 12"/>
          <p:cNvSpPr txBox="1"/>
          <p:nvPr/>
        </p:nvSpPr>
        <p:spPr>
          <a:xfrm>
            <a:off x="4297680" y="2788920"/>
            <a:ext cx="7178040" cy="548640"/>
          </a:xfrm>
          <a:prstGeom prst="rect">
            <a:avLst/>
          </a:prstGeom>
          <a:noFill/>
          <a:ln/>
        </p:spPr>
        <p:txBody>
          <a:bodyPr wrap="square" lIns="0" tIns="0" rIns="0" bIns="0" rtlCol="0" anchor="ctr"/>
          <a:lstStyle/>
          <a:p>
            <a:pPr indent="0" marL="0">
              <a:buNone/>
            </a:pPr>
            <a:r>
              <a:rPr lang="en-US" sz="1200" dirty="0">
                <a:solidFill>
                  <a:srgbClr val="5E7183"/>
                </a:solidFill>
                <a:latin typeface="Calibri" pitchFamily="34" charset="0"/>
                <a:ea typeface="Calibri" pitchFamily="34" charset="-122"/>
                <a:cs typeface="Calibri" pitchFamily="34" charset="-120"/>
              </a:rPr>
              <a:t>You cannot protect what you have not listed. Week 1 builds the asset register.</a:t>
            </a:r>
            <a:endParaRPr lang="en-US" sz="1200" dirty="0"/>
          </a:p>
        </p:txBody>
      </p:sp>
      <p:sp>
        <p:nvSpPr>
          <p:cNvPr id="15" name="Shape 13"/>
          <p:cNvSpPr/>
          <p:nvPr/>
        </p:nvSpPr>
        <p:spPr>
          <a:xfrm>
            <a:off x="566928" y="3529584"/>
            <a:ext cx="11064240" cy="676656"/>
          </a:xfrm>
          <a:prstGeom prst="roundRect">
            <a:avLst>
              <a:gd name="adj" fmla="val 1081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6" name="Shape 14"/>
          <p:cNvSpPr/>
          <p:nvPr/>
        </p:nvSpPr>
        <p:spPr>
          <a:xfrm>
            <a:off x="749808" y="3657600"/>
            <a:ext cx="420624" cy="420624"/>
          </a:xfrm>
          <a:prstGeom prst="ellipse">
            <a:avLst/>
          </a:prstGeom>
          <a:solidFill>
            <a:srgbClr val="2E5266"/>
          </a:solidFill>
          <a:ln w="12700">
            <a:solidFill>
              <a:srgbClr val="2E5266"/>
            </a:solidFill>
            <a:prstDash val="solid"/>
          </a:ln>
        </p:spPr>
      </p:sp>
      <p:sp>
        <p:nvSpPr>
          <p:cNvPr id="17" name="Text 15"/>
          <p:cNvSpPr txBox="1"/>
          <p:nvPr/>
        </p:nvSpPr>
        <p:spPr>
          <a:xfrm>
            <a:off x="749808" y="36576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325880" y="3593592"/>
            <a:ext cx="2926080" cy="54864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Score, don't guess</a:t>
            </a:r>
            <a:endParaRPr lang="en-US" sz="1400" dirty="0"/>
          </a:p>
        </p:txBody>
      </p:sp>
      <p:sp>
        <p:nvSpPr>
          <p:cNvPr id="19" name="Text 17"/>
          <p:cNvSpPr txBox="1"/>
          <p:nvPr/>
        </p:nvSpPr>
        <p:spPr>
          <a:xfrm>
            <a:off x="4297680" y="3593592"/>
            <a:ext cx="7178040" cy="548640"/>
          </a:xfrm>
          <a:prstGeom prst="rect">
            <a:avLst/>
          </a:prstGeom>
          <a:noFill/>
          <a:ln/>
        </p:spPr>
        <p:txBody>
          <a:bodyPr wrap="square" lIns="0" tIns="0" rIns="0" bIns="0" rtlCol="0" anchor="ctr"/>
          <a:lstStyle/>
          <a:p>
            <a:pPr indent="0" marL="0">
              <a:buNone/>
            </a:pPr>
            <a:r>
              <a:rPr lang="en-US" sz="1200" dirty="0">
                <a:solidFill>
                  <a:srgbClr val="5E7183"/>
                </a:solidFill>
                <a:latin typeface="Calibri" pitchFamily="34" charset="0"/>
                <a:ea typeface="Calibri" pitchFamily="34" charset="-122"/>
                <a:cs typeface="Calibri" pitchFamily="34" charset="-120"/>
              </a:rPr>
              <a:t>Rate every risk as Likelihood × Impact (1–5) so priorities are defensible, not opinions.</a:t>
            </a:r>
            <a:endParaRPr lang="en-US" sz="1200" dirty="0"/>
          </a:p>
        </p:txBody>
      </p:sp>
      <p:sp>
        <p:nvSpPr>
          <p:cNvPr id="20" name="Shape 18"/>
          <p:cNvSpPr/>
          <p:nvPr/>
        </p:nvSpPr>
        <p:spPr>
          <a:xfrm>
            <a:off x="566928" y="4334256"/>
            <a:ext cx="11064240" cy="676656"/>
          </a:xfrm>
          <a:prstGeom prst="roundRect">
            <a:avLst>
              <a:gd name="adj" fmla="val 1081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1" name="Shape 19"/>
          <p:cNvSpPr/>
          <p:nvPr/>
        </p:nvSpPr>
        <p:spPr>
          <a:xfrm>
            <a:off x="749808" y="4462272"/>
            <a:ext cx="420624" cy="420624"/>
          </a:xfrm>
          <a:prstGeom prst="ellipse">
            <a:avLst/>
          </a:prstGeom>
          <a:solidFill>
            <a:srgbClr val="2E5266"/>
          </a:solidFill>
          <a:ln w="12700">
            <a:solidFill>
              <a:srgbClr val="2E5266"/>
            </a:solidFill>
            <a:prstDash val="solid"/>
          </a:ln>
        </p:spPr>
      </p:sp>
      <p:sp>
        <p:nvSpPr>
          <p:cNvPr id="22" name="Text 20"/>
          <p:cNvSpPr txBox="1"/>
          <p:nvPr/>
        </p:nvSpPr>
        <p:spPr>
          <a:xfrm>
            <a:off x="749808" y="44622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325880" y="4398264"/>
            <a:ext cx="2926080" cy="54864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Fix the top risks</a:t>
            </a:r>
            <a:endParaRPr lang="en-US" sz="1400" dirty="0"/>
          </a:p>
        </p:txBody>
      </p:sp>
      <p:sp>
        <p:nvSpPr>
          <p:cNvPr id="24" name="Text 22"/>
          <p:cNvSpPr txBox="1"/>
          <p:nvPr/>
        </p:nvSpPr>
        <p:spPr>
          <a:xfrm>
            <a:off x="4297680" y="4398264"/>
            <a:ext cx="7178040" cy="548640"/>
          </a:xfrm>
          <a:prstGeom prst="rect">
            <a:avLst/>
          </a:prstGeom>
          <a:noFill/>
          <a:ln/>
        </p:spPr>
        <p:txBody>
          <a:bodyPr wrap="square" lIns="0" tIns="0" rIns="0" bIns="0" rtlCol="0" anchor="ctr"/>
          <a:lstStyle/>
          <a:p>
            <a:pPr indent="0" marL="0">
              <a:buNone/>
            </a:pPr>
            <a:r>
              <a:rPr lang="en-US" sz="1200" dirty="0">
                <a:solidFill>
                  <a:srgbClr val="5E7183"/>
                </a:solidFill>
                <a:latin typeface="Calibri" pitchFamily="34" charset="0"/>
                <a:ea typeface="Calibri" pitchFamily="34" charset="-122"/>
                <a:cs typeface="Calibri" pitchFamily="34" charset="-120"/>
              </a:rPr>
              <a:t>Weeks 2–4 treat the highest-scoring risks: weak accounts, phishing, poor incident response.</a:t>
            </a:r>
            <a:endParaRPr lang="en-US" sz="1200" dirty="0"/>
          </a:p>
        </p:txBody>
      </p:sp>
      <p:sp>
        <p:nvSpPr>
          <p:cNvPr id="25" name="Shape 23"/>
          <p:cNvSpPr/>
          <p:nvPr/>
        </p:nvSpPr>
        <p:spPr>
          <a:xfrm>
            <a:off x="566928" y="5138928"/>
            <a:ext cx="11064240" cy="676656"/>
          </a:xfrm>
          <a:prstGeom prst="roundRect">
            <a:avLst>
              <a:gd name="adj" fmla="val 1081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6" name="Shape 24"/>
          <p:cNvSpPr/>
          <p:nvPr/>
        </p:nvSpPr>
        <p:spPr>
          <a:xfrm>
            <a:off x="749808" y="5266944"/>
            <a:ext cx="420624" cy="420624"/>
          </a:xfrm>
          <a:prstGeom prst="ellipse">
            <a:avLst/>
          </a:prstGeom>
          <a:solidFill>
            <a:srgbClr val="E8A33D"/>
          </a:solidFill>
          <a:ln w="12700">
            <a:solidFill>
              <a:srgbClr val="E8A33D"/>
            </a:solidFill>
            <a:prstDash val="solid"/>
          </a:ln>
        </p:spPr>
      </p:sp>
      <p:sp>
        <p:nvSpPr>
          <p:cNvPr id="27" name="Text 25"/>
          <p:cNvSpPr txBox="1"/>
          <p:nvPr/>
        </p:nvSpPr>
        <p:spPr>
          <a:xfrm>
            <a:off x="749808" y="52669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325880" y="5202936"/>
            <a:ext cx="2926080" cy="54864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Produce evidence</a:t>
            </a:r>
            <a:endParaRPr lang="en-US" sz="1400" dirty="0"/>
          </a:p>
        </p:txBody>
      </p:sp>
      <p:sp>
        <p:nvSpPr>
          <p:cNvPr id="29" name="Text 27"/>
          <p:cNvSpPr txBox="1"/>
          <p:nvPr/>
        </p:nvSpPr>
        <p:spPr>
          <a:xfrm>
            <a:off x="4297680" y="5202936"/>
            <a:ext cx="7178040" cy="548640"/>
          </a:xfrm>
          <a:prstGeom prst="rect">
            <a:avLst/>
          </a:prstGeom>
          <a:noFill/>
          <a:ln/>
        </p:spPr>
        <p:txBody>
          <a:bodyPr wrap="square" lIns="0" tIns="0" rIns="0" bIns="0" rtlCol="0" anchor="ctr"/>
          <a:lstStyle/>
          <a:p>
            <a:pPr indent="0" marL="0">
              <a:buNone/>
            </a:pPr>
            <a:r>
              <a:rPr lang="en-US" sz="1200" dirty="0">
                <a:solidFill>
                  <a:srgbClr val="5E7183"/>
                </a:solidFill>
                <a:latin typeface="Calibri" pitchFamily="34" charset="0"/>
                <a:ea typeface="Calibri" pitchFamily="34" charset="-122"/>
                <a:cs typeface="Calibri" pitchFamily="34" charset="-120"/>
              </a:rPr>
              <a:t>Every week ends with a named document. Eight documents = the final portfolio pack.</a:t>
            </a:r>
            <a:endParaRPr lang="en-US" sz="1200" dirty="0"/>
          </a:p>
        </p:txBody>
      </p:sp>
      <p:sp>
        <p:nvSpPr>
          <p:cNvPr id="30" name="Text 28"/>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Golden rule applied throughout: only systems owned by the business are reviewed, and no exploitation or scanning tools are used.</a:t>
            </a:r>
            <a:endParaRPr lang="en-US" sz="1150" dirty="0"/>
          </a:p>
        </p:txBody>
      </p:sp>
      <p:sp>
        <p:nvSpPr>
          <p:cNvPr id="32" name="Text 2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THE ORGANISATION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Meet CalebTech Computer Services</a:t>
            </a:r>
            <a:endParaRPr lang="en-US" sz="3000" dirty="0"/>
          </a:p>
        </p:txBody>
      </p:sp>
      <p:sp>
        <p:nvSpPr>
          <p:cNvPr id="4" name="Shape 2"/>
          <p:cNvSpPr/>
          <p:nvPr/>
        </p:nvSpPr>
        <p:spPr>
          <a:xfrm>
            <a:off x="566928" y="1371600"/>
            <a:ext cx="5029200" cy="2834640"/>
          </a:xfrm>
          <a:prstGeom prst="roundRect">
            <a:avLst>
              <a:gd name="adj" fmla="val 258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Text 3"/>
          <p:cNvSpPr txBox="1"/>
          <p:nvPr/>
        </p:nvSpPr>
        <p:spPr>
          <a:xfrm>
            <a:off x="822960" y="1554480"/>
            <a:ext cx="4572000" cy="274320"/>
          </a:xfrm>
          <a:prstGeom prst="rect">
            <a:avLst/>
          </a:prstGeom>
          <a:noFill/>
          <a:ln/>
        </p:spPr>
        <p:txBody>
          <a:bodyPr wrap="square" lIns="0" tIns="0" rIns="0" bIns="0" rtlCol="0" anchor="ctr"/>
          <a:lstStyle/>
          <a:p>
            <a:pPr indent="0" marL="0">
              <a:buNone/>
            </a:pPr>
            <a:r>
              <a:rPr lang="en-US" sz="1500" b="1" dirty="0">
                <a:solidFill>
                  <a:srgbClr val="16232E"/>
                </a:solidFill>
                <a:latin typeface="Cambria" pitchFamily="34" charset="0"/>
                <a:ea typeface="Cambria" pitchFamily="34" charset="-122"/>
                <a:cs typeface="Cambria" pitchFamily="34" charset="-120"/>
              </a:rPr>
              <a:t>Business profile</a:t>
            </a:r>
            <a:endParaRPr lang="en-US" sz="1500" dirty="0"/>
          </a:p>
        </p:txBody>
      </p:sp>
      <p:sp>
        <p:nvSpPr>
          <p:cNvPr id="6" name="Text 4"/>
          <p:cNvSpPr txBox="1"/>
          <p:nvPr/>
        </p:nvSpPr>
        <p:spPr>
          <a:xfrm>
            <a:off x="822960" y="1901952"/>
            <a:ext cx="4572000" cy="21945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5E7183"/>
                </a:solidFill>
                <a:latin typeface="Calibri" pitchFamily="34" charset="0"/>
                <a:ea typeface="Calibri" pitchFamily="34" charset="-122"/>
                <a:cs typeface="Calibri" pitchFamily="34" charset="-120"/>
              </a:rPr>
              <a:t>Owner: Caleb Adeyemi (MD)</a:t>
            </a:r>
            <a:endParaRPr lang="en-US" sz="1200" dirty="0"/>
          </a:p>
          <a:p>
            <a:pPr marL="342900" indent="-342900">
              <a:spcAft>
                <a:spcPts val="700"/>
              </a:spcAft>
              <a:buSzPct val="100000"/>
              <a:buChar char="•"/>
            </a:pPr>
            <a:r>
              <a:rPr lang="en-US" sz="1200" dirty="0">
                <a:solidFill>
                  <a:srgbClr val="5E7183"/>
                </a:solidFill>
                <a:latin typeface="Calibri" pitchFamily="34" charset="0"/>
                <a:ea typeface="Calibri" pitchFamily="34" charset="-122"/>
                <a:cs typeface="Calibri" pitchFamily="34" charset="-120"/>
              </a:rPr>
              <a:t>Location: shop + back office, Wuse Zone 5, Abuja</a:t>
            </a:r>
            <a:endParaRPr lang="en-US" sz="1200" dirty="0"/>
          </a:p>
          <a:p>
            <a:pPr marL="342900" indent="-342900">
              <a:spcAft>
                <a:spcPts val="700"/>
              </a:spcAft>
              <a:buSzPct val="100000"/>
              <a:buChar char="•"/>
            </a:pPr>
            <a:r>
              <a:rPr lang="en-US" sz="1200" dirty="0">
                <a:solidFill>
                  <a:srgbClr val="5E7183"/>
                </a:solidFill>
                <a:latin typeface="Calibri" pitchFamily="34" charset="0"/>
                <a:ea typeface="Calibri" pitchFamily="34" charset="-122"/>
                <a:cs typeface="Calibri" pitchFamily="34" charset="-120"/>
              </a:rPr>
              <a:t>Staff: 9 (2 technicians, cashier, café attendant, admin/social media, part-time accountant, intern, manager, MD)</a:t>
            </a:r>
            <a:endParaRPr lang="en-US" sz="1200" dirty="0"/>
          </a:p>
          <a:p>
            <a:pPr marL="342900" indent="-342900">
              <a:spcAft>
                <a:spcPts val="700"/>
              </a:spcAft>
              <a:buSzPct val="100000"/>
              <a:buChar char="•"/>
            </a:pPr>
            <a:r>
              <a:rPr lang="en-US" sz="1200" dirty="0">
                <a:solidFill>
                  <a:srgbClr val="5E7183"/>
                </a:solidFill>
                <a:latin typeface="Calibri" pitchFamily="34" charset="0"/>
                <a:ea typeface="Calibri" pitchFamily="34" charset="-122"/>
                <a:cs typeface="Calibri" pitchFamily="34" charset="-120"/>
              </a:rPr>
              <a:t>Open: Mon–Sat, 8am–8pm</a:t>
            </a:r>
            <a:endParaRPr lang="en-US" sz="1200" dirty="0"/>
          </a:p>
          <a:p>
            <a:pPr marL="342900" indent="-342900">
              <a:spcAft>
                <a:spcPts val="700"/>
              </a:spcAft>
              <a:buSzPct val="100000"/>
              <a:buChar char="•"/>
            </a:pPr>
            <a:r>
              <a:rPr lang="en-US" sz="1200" dirty="0">
                <a:solidFill>
                  <a:srgbClr val="5E7183"/>
                </a:solidFill>
                <a:latin typeface="Calibri" pitchFamily="34" charset="0"/>
                <a:ea typeface="Calibri" pitchFamily="34" charset="-122"/>
                <a:cs typeface="Calibri" pitchFamily="34" charset="-120"/>
              </a:rPr>
              <a:t>Six small offices on monthly IT support retainers</a:t>
            </a:r>
            <a:endParaRPr lang="en-US" sz="1200" dirty="0"/>
          </a:p>
        </p:txBody>
      </p:sp>
      <p:sp>
        <p:nvSpPr>
          <p:cNvPr id="7" name="Shape 5"/>
          <p:cNvSpPr/>
          <p:nvPr/>
        </p:nvSpPr>
        <p:spPr>
          <a:xfrm>
            <a:off x="5852160" y="1371600"/>
            <a:ext cx="5779008" cy="2834640"/>
          </a:xfrm>
          <a:prstGeom prst="roundRect">
            <a:avLst>
              <a:gd name="adj" fmla="val 2581"/>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8" name="Text 6"/>
          <p:cNvSpPr txBox="1"/>
          <p:nvPr/>
        </p:nvSpPr>
        <p:spPr>
          <a:xfrm>
            <a:off x="6108192" y="1554480"/>
            <a:ext cx="5303520" cy="274320"/>
          </a:xfrm>
          <a:prstGeom prst="rect">
            <a:avLst/>
          </a:prstGeom>
          <a:noFill/>
          <a:ln/>
        </p:spPr>
        <p:txBody>
          <a:bodyPr wrap="square" lIns="0" tIns="0" rIns="0" bIns="0" rtlCol="0" anchor="ctr"/>
          <a:lstStyle/>
          <a:p>
            <a:pPr indent="0" marL="0">
              <a:buNone/>
            </a:pPr>
            <a:r>
              <a:rPr lang="en-US" sz="1500" b="1" dirty="0">
                <a:solidFill>
                  <a:srgbClr val="16232E"/>
                </a:solidFill>
                <a:latin typeface="Cambria" pitchFamily="34" charset="0"/>
                <a:ea typeface="Cambria" pitchFamily="34" charset="-122"/>
                <a:cs typeface="Cambria" pitchFamily="34" charset="-120"/>
              </a:rPr>
              <a:t>What the business does</a:t>
            </a:r>
            <a:endParaRPr lang="en-US" sz="1500" dirty="0"/>
          </a:p>
        </p:txBody>
      </p:sp>
      <p:sp>
        <p:nvSpPr>
          <p:cNvPr id="9" name="Shape 7"/>
          <p:cNvSpPr/>
          <p:nvPr/>
        </p:nvSpPr>
        <p:spPr>
          <a:xfrm>
            <a:off x="6126480" y="1938528"/>
            <a:ext cx="310896" cy="310896"/>
          </a:xfrm>
          <a:prstGeom prst="ellipse">
            <a:avLst/>
          </a:prstGeom>
          <a:solidFill>
            <a:srgbClr val="2E5266"/>
          </a:solidFill>
          <a:ln w="12700">
            <a:solidFill>
              <a:srgbClr val="2E5266"/>
            </a:solidFill>
            <a:prstDash val="solid"/>
          </a:ln>
        </p:spPr>
      </p:sp>
      <p:sp>
        <p:nvSpPr>
          <p:cNvPr id="10" name="Text 8"/>
          <p:cNvSpPr txBox="1"/>
          <p:nvPr/>
        </p:nvSpPr>
        <p:spPr>
          <a:xfrm>
            <a:off x="6126480" y="19385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11" name="Text 9"/>
          <p:cNvSpPr txBox="1"/>
          <p:nvPr/>
        </p:nvSpPr>
        <p:spPr>
          <a:xfrm>
            <a:off x="6537960" y="1920240"/>
            <a:ext cx="1371600" cy="34747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Sales</a:t>
            </a:r>
            <a:endParaRPr lang="en-US" sz="1200" dirty="0"/>
          </a:p>
        </p:txBody>
      </p:sp>
      <p:sp>
        <p:nvSpPr>
          <p:cNvPr id="12" name="Text 10"/>
          <p:cNvSpPr txBox="1"/>
          <p:nvPr/>
        </p:nvSpPr>
        <p:spPr>
          <a:xfrm>
            <a:off x="7863840" y="1920240"/>
            <a:ext cx="3611880" cy="347472"/>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New and refurbished laptops, printers, accessories</a:t>
            </a:r>
            <a:endParaRPr lang="en-US" sz="1100" dirty="0"/>
          </a:p>
        </p:txBody>
      </p:sp>
      <p:sp>
        <p:nvSpPr>
          <p:cNvPr id="13" name="Shape 11"/>
          <p:cNvSpPr/>
          <p:nvPr/>
        </p:nvSpPr>
        <p:spPr>
          <a:xfrm>
            <a:off x="6126480" y="2368296"/>
            <a:ext cx="310896" cy="310896"/>
          </a:xfrm>
          <a:prstGeom prst="ellipse">
            <a:avLst/>
          </a:prstGeom>
          <a:solidFill>
            <a:srgbClr val="2E5266"/>
          </a:solidFill>
          <a:ln w="12700">
            <a:solidFill>
              <a:srgbClr val="2E5266"/>
            </a:solidFill>
            <a:prstDash val="solid"/>
          </a:ln>
        </p:spPr>
      </p:sp>
      <p:sp>
        <p:nvSpPr>
          <p:cNvPr id="14" name="Text 12"/>
          <p:cNvSpPr txBox="1"/>
          <p:nvPr/>
        </p:nvSpPr>
        <p:spPr>
          <a:xfrm>
            <a:off x="6126480" y="23682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15" name="Text 13"/>
          <p:cNvSpPr txBox="1"/>
          <p:nvPr/>
        </p:nvSpPr>
        <p:spPr>
          <a:xfrm>
            <a:off x="6537960" y="2350008"/>
            <a:ext cx="1371600" cy="34747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Repairs</a:t>
            </a:r>
            <a:endParaRPr lang="en-US" sz="1200" dirty="0"/>
          </a:p>
        </p:txBody>
      </p:sp>
      <p:sp>
        <p:nvSpPr>
          <p:cNvPr id="16" name="Text 14"/>
          <p:cNvSpPr txBox="1"/>
          <p:nvPr/>
        </p:nvSpPr>
        <p:spPr>
          <a:xfrm>
            <a:off x="7863840" y="2350008"/>
            <a:ext cx="3611880" cy="347472"/>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Customer devices held on site, data on bench drives</a:t>
            </a:r>
            <a:endParaRPr lang="en-US" sz="1100" dirty="0"/>
          </a:p>
        </p:txBody>
      </p:sp>
      <p:sp>
        <p:nvSpPr>
          <p:cNvPr id="17" name="Shape 15"/>
          <p:cNvSpPr/>
          <p:nvPr/>
        </p:nvSpPr>
        <p:spPr>
          <a:xfrm>
            <a:off x="6126480" y="2798064"/>
            <a:ext cx="310896" cy="310896"/>
          </a:xfrm>
          <a:prstGeom prst="ellipse">
            <a:avLst/>
          </a:prstGeom>
          <a:solidFill>
            <a:srgbClr val="2E5266"/>
          </a:solidFill>
          <a:ln w="12700">
            <a:solidFill>
              <a:srgbClr val="2E5266"/>
            </a:solidFill>
            <a:prstDash val="solid"/>
          </a:ln>
        </p:spPr>
      </p:sp>
      <p:sp>
        <p:nvSpPr>
          <p:cNvPr id="18" name="Text 16"/>
          <p:cNvSpPr txBox="1"/>
          <p:nvPr/>
        </p:nvSpPr>
        <p:spPr>
          <a:xfrm>
            <a:off x="6126480" y="27980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9" name="Text 17"/>
          <p:cNvSpPr txBox="1"/>
          <p:nvPr/>
        </p:nvSpPr>
        <p:spPr>
          <a:xfrm>
            <a:off x="6537960" y="2779776"/>
            <a:ext cx="1371600" cy="34747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CCTV</a:t>
            </a:r>
            <a:endParaRPr lang="en-US" sz="1200" dirty="0"/>
          </a:p>
        </p:txBody>
      </p:sp>
      <p:sp>
        <p:nvSpPr>
          <p:cNvPr id="20" name="Text 18"/>
          <p:cNvSpPr txBox="1"/>
          <p:nvPr/>
        </p:nvSpPr>
        <p:spPr>
          <a:xfrm>
            <a:off x="7863840" y="2779776"/>
            <a:ext cx="3611880" cy="347472"/>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Camera supply and installation for shops and homes</a:t>
            </a:r>
            <a:endParaRPr lang="en-US" sz="1100" dirty="0"/>
          </a:p>
        </p:txBody>
      </p:sp>
      <p:sp>
        <p:nvSpPr>
          <p:cNvPr id="21" name="Shape 19"/>
          <p:cNvSpPr/>
          <p:nvPr/>
        </p:nvSpPr>
        <p:spPr>
          <a:xfrm>
            <a:off x="6126480" y="3227832"/>
            <a:ext cx="310896" cy="310896"/>
          </a:xfrm>
          <a:prstGeom prst="ellipse">
            <a:avLst/>
          </a:prstGeom>
          <a:solidFill>
            <a:srgbClr val="2E5266"/>
          </a:solidFill>
          <a:ln w="12700">
            <a:solidFill>
              <a:srgbClr val="2E5266"/>
            </a:solidFill>
            <a:prstDash val="solid"/>
          </a:ln>
        </p:spPr>
      </p:sp>
      <p:sp>
        <p:nvSpPr>
          <p:cNvPr id="22" name="Text 20"/>
          <p:cNvSpPr txBox="1"/>
          <p:nvPr/>
        </p:nvSpPr>
        <p:spPr>
          <a:xfrm>
            <a:off x="6126480" y="3227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23" name="Text 21"/>
          <p:cNvSpPr txBox="1"/>
          <p:nvPr/>
        </p:nvSpPr>
        <p:spPr>
          <a:xfrm>
            <a:off x="6537960" y="3209544"/>
            <a:ext cx="1371600" cy="34747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Cyber-café</a:t>
            </a:r>
            <a:endParaRPr lang="en-US" sz="1200" dirty="0"/>
          </a:p>
        </p:txBody>
      </p:sp>
      <p:sp>
        <p:nvSpPr>
          <p:cNvPr id="24" name="Text 22"/>
          <p:cNvSpPr txBox="1"/>
          <p:nvPr/>
        </p:nvSpPr>
        <p:spPr>
          <a:xfrm>
            <a:off x="7863840" y="3209544"/>
            <a:ext cx="3611880" cy="347472"/>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8 public PCs, printing, scanning, form filling</a:t>
            </a:r>
            <a:endParaRPr lang="en-US" sz="1100" dirty="0"/>
          </a:p>
        </p:txBody>
      </p:sp>
      <p:sp>
        <p:nvSpPr>
          <p:cNvPr id="25" name="Shape 23"/>
          <p:cNvSpPr/>
          <p:nvPr/>
        </p:nvSpPr>
        <p:spPr>
          <a:xfrm>
            <a:off x="6126480" y="3657600"/>
            <a:ext cx="310896" cy="310896"/>
          </a:xfrm>
          <a:prstGeom prst="ellipse">
            <a:avLst/>
          </a:prstGeom>
          <a:solidFill>
            <a:srgbClr val="2E5266"/>
          </a:solidFill>
          <a:ln w="12700">
            <a:solidFill>
              <a:srgbClr val="2E5266"/>
            </a:solidFill>
            <a:prstDash val="solid"/>
          </a:ln>
        </p:spPr>
      </p:sp>
      <p:sp>
        <p:nvSpPr>
          <p:cNvPr id="26" name="Text 24"/>
          <p:cNvSpPr txBox="1"/>
          <p:nvPr/>
        </p:nvSpPr>
        <p:spPr>
          <a:xfrm>
            <a:off x="6126480"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27" name="Text 25"/>
          <p:cNvSpPr txBox="1"/>
          <p:nvPr/>
        </p:nvSpPr>
        <p:spPr>
          <a:xfrm>
            <a:off x="6537960" y="3639312"/>
            <a:ext cx="1371600" cy="34747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IT support</a:t>
            </a:r>
            <a:endParaRPr lang="en-US" sz="1200" dirty="0"/>
          </a:p>
        </p:txBody>
      </p:sp>
      <p:sp>
        <p:nvSpPr>
          <p:cNvPr id="28" name="Text 26"/>
          <p:cNvSpPr txBox="1"/>
          <p:nvPr/>
        </p:nvSpPr>
        <p:spPr>
          <a:xfrm>
            <a:off x="7863840" y="3639312"/>
            <a:ext cx="3611880" cy="347472"/>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Monthly retainers for six small client offices</a:t>
            </a:r>
            <a:endParaRPr lang="en-US" sz="1100" dirty="0"/>
          </a:p>
        </p:txBody>
      </p:sp>
      <p:sp>
        <p:nvSpPr>
          <p:cNvPr id="29" name="Shape 27"/>
          <p:cNvSpPr/>
          <p:nvPr/>
        </p:nvSpPr>
        <p:spPr>
          <a:xfrm>
            <a:off x="566928" y="4434840"/>
            <a:ext cx="2642616" cy="1417320"/>
          </a:xfrm>
          <a:prstGeom prst="roundRect">
            <a:avLst>
              <a:gd name="adj" fmla="val 5161"/>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0" name="Text 28"/>
          <p:cNvSpPr txBox="1"/>
          <p:nvPr/>
        </p:nvSpPr>
        <p:spPr>
          <a:xfrm>
            <a:off x="566928" y="4572000"/>
            <a:ext cx="2642616" cy="658368"/>
          </a:xfrm>
          <a:prstGeom prst="rect">
            <a:avLst/>
          </a:prstGeom>
          <a:noFill/>
          <a:ln/>
        </p:spPr>
        <p:txBody>
          <a:bodyPr wrap="square" lIns="0" tIns="0" rIns="0" bIns="0" rtlCol="0" anchor="ctr"/>
          <a:lstStyle/>
          <a:p>
            <a:pPr algn="ctr" indent="0" marL="0">
              <a:buNone/>
            </a:pPr>
            <a:r>
              <a:rPr lang="en-US" sz="3400" b="1" dirty="0">
                <a:solidFill>
                  <a:srgbClr val="E8A33D"/>
                </a:solidFill>
                <a:latin typeface="Cambria" pitchFamily="34" charset="0"/>
                <a:ea typeface="Cambria" pitchFamily="34" charset="-122"/>
                <a:cs typeface="Cambria" pitchFamily="34" charset="-120"/>
              </a:rPr>
              <a:t>18</a:t>
            </a:r>
            <a:endParaRPr lang="en-US" sz="3400" dirty="0"/>
          </a:p>
        </p:txBody>
      </p:sp>
      <p:sp>
        <p:nvSpPr>
          <p:cNvPr id="31" name="Text 29"/>
          <p:cNvSpPr txBox="1"/>
          <p:nvPr/>
        </p:nvSpPr>
        <p:spPr>
          <a:xfrm>
            <a:off x="566928" y="5230368"/>
            <a:ext cx="2642616" cy="365760"/>
          </a:xfrm>
          <a:prstGeom prst="rect">
            <a:avLst/>
          </a:prstGeom>
          <a:noFill/>
          <a:ln/>
        </p:spPr>
        <p:txBody>
          <a:bodyPr wrap="square" lIns="0" tIns="0" rIns="0" bIns="0" rtlCol="0" anchor="ctr"/>
          <a:lstStyle/>
          <a:p>
            <a:pPr algn="ctr" indent="0" marL="0">
              <a:buNone/>
            </a:pPr>
            <a:r>
              <a:rPr lang="en-US" sz="1150" dirty="0">
                <a:solidFill>
                  <a:srgbClr val="C6D6E4"/>
                </a:solidFill>
                <a:latin typeface="Calibri" pitchFamily="34" charset="0"/>
                <a:ea typeface="Calibri" pitchFamily="34" charset="-122"/>
                <a:cs typeface="Calibri" pitchFamily="34" charset="-120"/>
              </a:rPr>
              <a:t>assets identified</a:t>
            </a:r>
            <a:endParaRPr lang="en-US" sz="1150" dirty="0"/>
          </a:p>
        </p:txBody>
      </p:sp>
      <p:sp>
        <p:nvSpPr>
          <p:cNvPr id="32" name="Shape 30"/>
          <p:cNvSpPr/>
          <p:nvPr/>
        </p:nvSpPr>
        <p:spPr>
          <a:xfrm>
            <a:off x="3392424" y="4434840"/>
            <a:ext cx="2642616" cy="1417320"/>
          </a:xfrm>
          <a:prstGeom prst="roundRect">
            <a:avLst>
              <a:gd name="adj" fmla="val 5161"/>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3" name="Text 31"/>
          <p:cNvSpPr txBox="1"/>
          <p:nvPr/>
        </p:nvSpPr>
        <p:spPr>
          <a:xfrm>
            <a:off x="3392424" y="4572000"/>
            <a:ext cx="2642616" cy="658368"/>
          </a:xfrm>
          <a:prstGeom prst="rect">
            <a:avLst/>
          </a:prstGeom>
          <a:noFill/>
          <a:ln/>
        </p:spPr>
        <p:txBody>
          <a:bodyPr wrap="square" lIns="0" tIns="0" rIns="0" bIns="0" rtlCol="0" anchor="ctr"/>
          <a:lstStyle/>
          <a:p>
            <a:pPr algn="ctr" indent="0" marL="0">
              <a:buNone/>
            </a:pPr>
            <a:r>
              <a:rPr lang="en-US" sz="3400" b="1" dirty="0">
                <a:solidFill>
                  <a:srgbClr val="E8A33D"/>
                </a:solidFill>
                <a:latin typeface="Cambria" pitchFamily="34" charset="0"/>
                <a:ea typeface="Cambria" pitchFamily="34" charset="-122"/>
                <a:cs typeface="Cambria" pitchFamily="34" charset="-120"/>
              </a:rPr>
              <a:t>9</a:t>
            </a:r>
            <a:endParaRPr lang="en-US" sz="3400" dirty="0"/>
          </a:p>
        </p:txBody>
      </p:sp>
      <p:sp>
        <p:nvSpPr>
          <p:cNvPr id="34" name="Text 32"/>
          <p:cNvSpPr txBox="1"/>
          <p:nvPr/>
        </p:nvSpPr>
        <p:spPr>
          <a:xfrm>
            <a:off x="3392424" y="5230368"/>
            <a:ext cx="2642616" cy="365760"/>
          </a:xfrm>
          <a:prstGeom prst="rect">
            <a:avLst/>
          </a:prstGeom>
          <a:noFill/>
          <a:ln/>
        </p:spPr>
        <p:txBody>
          <a:bodyPr wrap="square" lIns="0" tIns="0" rIns="0" bIns="0" rtlCol="0" anchor="ctr"/>
          <a:lstStyle/>
          <a:p>
            <a:pPr algn="ctr" indent="0" marL="0">
              <a:buNone/>
            </a:pPr>
            <a:r>
              <a:rPr lang="en-US" sz="1150" dirty="0">
                <a:solidFill>
                  <a:srgbClr val="C6D6E4"/>
                </a:solidFill>
                <a:latin typeface="Calibri" pitchFamily="34" charset="0"/>
                <a:ea typeface="Calibri" pitchFamily="34" charset="-122"/>
                <a:cs typeface="Calibri" pitchFamily="34" charset="-120"/>
              </a:rPr>
              <a:t>staff accounts</a:t>
            </a:r>
            <a:endParaRPr lang="en-US" sz="1150" dirty="0"/>
          </a:p>
        </p:txBody>
      </p:sp>
      <p:sp>
        <p:nvSpPr>
          <p:cNvPr id="35" name="Shape 33"/>
          <p:cNvSpPr/>
          <p:nvPr/>
        </p:nvSpPr>
        <p:spPr>
          <a:xfrm>
            <a:off x="6217920" y="4434840"/>
            <a:ext cx="2642616" cy="1417320"/>
          </a:xfrm>
          <a:prstGeom prst="roundRect">
            <a:avLst>
              <a:gd name="adj" fmla="val 5161"/>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6" name="Text 34"/>
          <p:cNvSpPr txBox="1"/>
          <p:nvPr/>
        </p:nvSpPr>
        <p:spPr>
          <a:xfrm>
            <a:off x="6217920" y="4572000"/>
            <a:ext cx="2642616" cy="658368"/>
          </a:xfrm>
          <a:prstGeom prst="rect">
            <a:avLst/>
          </a:prstGeom>
          <a:noFill/>
          <a:ln/>
        </p:spPr>
        <p:txBody>
          <a:bodyPr wrap="square" lIns="0" tIns="0" rIns="0" bIns="0" rtlCol="0" anchor="ctr"/>
          <a:lstStyle/>
          <a:p>
            <a:pPr algn="ctr" indent="0" marL="0">
              <a:buNone/>
            </a:pPr>
            <a:r>
              <a:rPr lang="en-US" sz="3400" b="1" dirty="0">
                <a:solidFill>
                  <a:srgbClr val="E8A33D"/>
                </a:solidFill>
                <a:latin typeface="Cambria" pitchFamily="34" charset="0"/>
                <a:ea typeface="Cambria" pitchFamily="34" charset="-122"/>
                <a:cs typeface="Cambria" pitchFamily="34" charset="-120"/>
              </a:rPr>
              <a:t>₦1.4m</a:t>
            </a:r>
            <a:endParaRPr lang="en-US" sz="3400" dirty="0"/>
          </a:p>
        </p:txBody>
      </p:sp>
      <p:sp>
        <p:nvSpPr>
          <p:cNvPr id="37" name="Text 35"/>
          <p:cNvSpPr txBox="1"/>
          <p:nvPr/>
        </p:nvSpPr>
        <p:spPr>
          <a:xfrm>
            <a:off x="6217920" y="5230368"/>
            <a:ext cx="2642616" cy="365760"/>
          </a:xfrm>
          <a:prstGeom prst="rect">
            <a:avLst/>
          </a:prstGeom>
          <a:noFill/>
          <a:ln/>
        </p:spPr>
        <p:txBody>
          <a:bodyPr wrap="square" lIns="0" tIns="0" rIns="0" bIns="0" rtlCol="0" anchor="ctr"/>
          <a:lstStyle/>
          <a:p>
            <a:pPr algn="ctr" indent="0" marL="0">
              <a:buNone/>
            </a:pPr>
            <a:r>
              <a:rPr lang="en-US" sz="1150" dirty="0">
                <a:solidFill>
                  <a:srgbClr val="C6D6E4"/>
                </a:solidFill>
                <a:latin typeface="Calibri" pitchFamily="34" charset="0"/>
                <a:ea typeface="Calibri" pitchFamily="34" charset="-122"/>
                <a:cs typeface="Calibri" pitchFamily="34" charset="-120"/>
              </a:rPr>
              <a:t>average stock on site</a:t>
            </a:r>
            <a:endParaRPr lang="en-US" sz="1150" dirty="0"/>
          </a:p>
        </p:txBody>
      </p:sp>
      <p:sp>
        <p:nvSpPr>
          <p:cNvPr id="38" name="Shape 36"/>
          <p:cNvSpPr/>
          <p:nvPr/>
        </p:nvSpPr>
        <p:spPr>
          <a:xfrm>
            <a:off x="9043416" y="4434840"/>
            <a:ext cx="2642616" cy="1417320"/>
          </a:xfrm>
          <a:prstGeom prst="roundRect">
            <a:avLst>
              <a:gd name="adj" fmla="val 5161"/>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9" name="Text 37"/>
          <p:cNvSpPr txBox="1"/>
          <p:nvPr/>
        </p:nvSpPr>
        <p:spPr>
          <a:xfrm>
            <a:off x="9043416" y="4572000"/>
            <a:ext cx="2642616" cy="658368"/>
          </a:xfrm>
          <a:prstGeom prst="rect">
            <a:avLst/>
          </a:prstGeom>
          <a:noFill/>
          <a:ln/>
        </p:spPr>
        <p:txBody>
          <a:bodyPr wrap="square" lIns="0" tIns="0" rIns="0" bIns="0" rtlCol="0" anchor="ctr"/>
          <a:lstStyle/>
          <a:p>
            <a:pPr algn="ctr" indent="0" marL="0">
              <a:buNone/>
            </a:pPr>
            <a:r>
              <a:rPr lang="en-US" sz="3400" b="1" dirty="0">
                <a:solidFill>
                  <a:srgbClr val="E8A33D"/>
                </a:solidFill>
                <a:latin typeface="Cambria" pitchFamily="34" charset="0"/>
                <a:ea typeface="Cambria" pitchFamily="34" charset="-122"/>
                <a:cs typeface="Cambria" pitchFamily="34" charset="-120"/>
              </a:rPr>
              <a:t>6</a:t>
            </a:r>
            <a:endParaRPr lang="en-US" sz="3400" dirty="0"/>
          </a:p>
        </p:txBody>
      </p:sp>
      <p:sp>
        <p:nvSpPr>
          <p:cNvPr id="40" name="Text 38"/>
          <p:cNvSpPr txBox="1"/>
          <p:nvPr/>
        </p:nvSpPr>
        <p:spPr>
          <a:xfrm>
            <a:off x="9043416" y="5230368"/>
            <a:ext cx="2642616" cy="365760"/>
          </a:xfrm>
          <a:prstGeom prst="rect">
            <a:avLst/>
          </a:prstGeom>
          <a:noFill/>
          <a:ln/>
        </p:spPr>
        <p:txBody>
          <a:bodyPr wrap="square" lIns="0" tIns="0" rIns="0" bIns="0" rtlCol="0" anchor="ctr"/>
          <a:lstStyle/>
          <a:p>
            <a:pPr algn="ctr" indent="0" marL="0">
              <a:buNone/>
            </a:pPr>
            <a:r>
              <a:rPr lang="en-US" sz="1150" dirty="0">
                <a:solidFill>
                  <a:srgbClr val="C6D6E4"/>
                </a:solidFill>
                <a:latin typeface="Calibri" pitchFamily="34" charset="0"/>
                <a:ea typeface="Calibri" pitchFamily="34" charset="-122"/>
                <a:cs typeface="Calibri" pitchFamily="34" charset="-120"/>
              </a:rPr>
              <a:t>client offices served</a:t>
            </a:r>
            <a:endParaRPr lang="en-US" sz="1150" dirty="0"/>
          </a:p>
        </p:txBody>
      </p:sp>
      <p:sp>
        <p:nvSpPr>
          <p:cNvPr id="42" name="Text 3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SCOPE &amp; GROUND RULES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What This Project Covers</a:t>
            </a:r>
            <a:endParaRPr lang="en-US" sz="3000" dirty="0"/>
          </a:p>
        </p:txBody>
      </p:sp>
      <p:sp>
        <p:nvSpPr>
          <p:cNvPr id="4" name="Shape 2"/>
          <p:cNvSpPr/>
          <p:nvPr/>
        </p:nvSpPr>
        <p:spPr>
          <a:xfrm>
            <a:off x="566928" y="1371600"/>
            <a:ext cx="5577840" cy="2743200"/>
          </a:xfrm>
          <a:prstGeom prst="roundRect">
            <a:avLst>
              <a:gd name="adj" fmla="val 2667"/>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822960" y="1572768"/>
            <a:ext cx="1737360" cy="329184"/>
          </a:xfrm>
          <a:prstGeom prst="roundRect">
            <a:avLst>
              <a:gd name="adj" fmla="val 50000"/>
            </a:avLst>
          </a:prstGeom>
          <a:solidFill>
            <a:srgbClr val="2E6B4F"/>
          </a:solidFill>
          <a:ln w="12700">
            <a:solidFill>
              <a:srgbClr val="2E6B4F"/>
            </a:solidFill>
            <a:prstDash val="solid"/>
          </a:ln>
        </p:spPr>
      </p:sp>
      <p:sp>
        <p:nvSpPr>
          <p:cNvPr id="6" name="Text 4"/>
          <p:cNvSpPr txBox="1"/>
          <p:nvPr/>
        </p:nvSpPr>
        <p:spPr>
          <a:xfrm>
            <a:off x="822960" y="1572768"/>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 SCOPE</a:t>
            </a:r>
            <a:endParaRPr lang="en-US" sz="1050" dirty="0"/>
          </a:p>
        </p:txBody>
      </p:sp>
      <p:sp>
        <p:nvSpPr>
          <p:cNvPr id="7" name="Text 5"/>
          <p:cNvSpPr txBox="1"/>
          <p:nvPr/>
        </p:nvSpPr>
        <p:spPr>
          <a:xfrm>
            <a:off x="822960" y="2029968"/>
            <a:ext cx="507492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Business-owned devices, accounts and data</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Staff access rights and password practices</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Customer records held for repairs and sales</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Social media, website and payment accounts</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Written policies, checklists and playbooks</a:t>
            </a:r>
            <a:endParaRPr lang="en-US" sz="1200" dirty="0"/>
          </a:p>
        </p:txBody>
      </p:sp>
      <p:sp>
        <p:nvSpPr>
          <p:cNvPr id="8" name="Shape 6"/>
          <p:cNvSpPr/>
          <p:nvPr/>
        </p:nvSpPr>
        <p:spPr>
          <a:xfrm>
            <a:off x="6345936" y="1371600"/>
            <a:ext cx="5577840" cy="2743200"/>
          </a:xfrm>
          <a:prstGeom prst="roundRect">
            <a:avLst>
              <a:gd name="adj" fmla="val 2667"/>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9" name="Shape 7"/>
          <p:cNvSpPr/>
          <p:nvPr/>
        </p:nvSpPr>
        <p:spPr>
          <a:xfrm>
            <a:off x="6601968" y="1572768"/>
            <a:ext cx="1737360" cy="329184"/>
          </a:xfrm>
          <a:prstGeom prst="roundRect">
            <a:avLst>
              <a:gd name="adj" fmla="val 50000"/>
            </a:avLst>
          </a:prstGeom>
          <a:solidFill>
            <a:srgbClr val="A62B22"/>
          </a:solidFill>
          <a:ln w="12700">
            <a:solidFill>
              <a:srgbClr val="A62B22"/>
            </a:solidFill>
            <a:prstDash val="solid"/>
          </a:ln>
        </p:spPr>
      </p:sp>
      <p:sp>
        <p:nvSpPr>
          <p:cNvPr id="10" name="Text 8"/>
          <p:cNvSpPr txBox="1"/>
          <p:nvPr/>
        </p:nvSpPr>
        <p:spPr>
          <a:xfrm>
            <a:off x="6601968" y="1572768"/>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 OF SCOPE</a:t>
            </a:r>
            <a:endParaRPr lang="en-US" sz="1050" dirty="0"/>
          </a:p>
        </p:txBody>
      </p:sp>
      <p:sp>
        <p:nvSpPr>
          <p:cNvPr id="11" name="Text 9"/>
          <p:cNvSpPr txBox="1"/>
          <p:nvPr/>
        </p:nvSpPr>
        <p:spPr>
          <a:xfrm>
            <a:off x="6601968" y="2029968"/>
            <a:ext cx="507492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Any scanning, exploitation or hacking tools</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Customer-owned devices beyond repair records</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Client office networks (separate agreement)</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Buying new security software or hardware</a:t>
            </a:r>
            <a:endParaRPr lang="en-US" sz="1200" dirty="0"/>
          </a:p>
          <a:p>
            <a:pPr marL="342900" indent="-342900">
              <a:spcAft>
                <a:spcPts val="800"/>
              </a:spcAft>
              <a:buSzPct val="100000"/>
              <a:buChar char="•"/>
            </a:pPr>
            <a:r>
              <a:rPr lang="en-US" sz="1200" dirty="0">
                <a:solidFill>
                  <a:srgbClr val="5E7183"/>
                </a:solidFill>
                <a:latin typeface="Calibri" pitchFamily="34" charset="0"/>
                <a:ea typeface="Calibri" pitchFamily="34" charset="-122"/>
                <a:cs typeface="Calibri" pitchFamily="34" charset="-120"/>
              </a:rPr>
              <a:t>Anything requiring programming knowledge</a:t>
            </a:r>
            <a:endParaRPr lang="en-US" sz="1200" dirty="0"/>
          </a:p>
        </p:txBody>
      </p:sp>
      <p:sp>
        <p:nvSpPr>
          <p:cNvPr id="12" name="Shape 10"/>
          <p:cNvSpPr/>
          <p:nvPr/>
        </p:nvSpPr>
        <p:spPr>
          <a:xfrm>
            <a:off x="566928" y="4343400"/>
            <a:ext cx="11064240" cy="1463040"/>
          </a:xfrm>
          <a:prstGeom prst="roundRect">
            <a:avLst>
              <a:gd name="adj" fmla="val 5000"/>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3" name="Text 11"/>
          <p:cNvSpPr txBox="1"/>
          <p:nvPr/>
        </p:nvSpPr>
        <p:spPr>
          <a:xfrm>
            <a:off x="868680" y="4526280"/>
            <a:ext cx="4572000" cy="292608"/>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Authorisation statement</a:t>
            </a:r>
            <a:endParaRPr lang="en-US" sz="1500" dirty="0"/>
          </a:p>
        </p:txBody>
      </p:sp>
      <p:sp>
        <p:nvSpPr>
          <p:cNvPr id="14" name="Text 12"/>
          <p:cNvSpPr txBox="1"/>
          <p:nvPr/>
        </p:nvSpPr>
        <p:spPr>
          <a:xfrm>
            <a:off x="868680" y="4864608"/>
            <a:ext cx="10424160" cy="822960"/>
          </a:xfrm>
          <a:prstGeom prst="rect">
            <a:avLst/>
          </a:prstGeom>
          <a:noFill/>
          <a:ln/>
        </p:spPr>
        <p:txBody>
          <a:bodyPr wrap="square" lIns="0" tIns="0" rIns="0" bIns="0" rtlCol="0" anchor="ctr"/>
          <a:lstStyle/>
          <a:p>
            <a:pPr indent="0" marL="0">
              <a:buNone/>
            </a:pPr>
            <a:r>
              <a:rPr lang="en-US" sz="1250" dirty="0">
                <a:solidFill>
                  <a:srgbClr val="D6E4F0"/>
                </a:solidFill>
                <a:latin typeface="Calibri" pitchFamily="34" charset="0"/>
                <a:ea typeface="Calibri" pitchFamily="34" charset="-122"/>
                <a:cs typeface="Calibri" pitchFamily="34" charset="-120"/>
              </a:rPr>
              <a:t>All reviews in this project were carried out with the written permission of the business owner, using only settings and information the business already controls. No system was tested, scanned or attacked. Where a weakness is described, it is described to be fixed — not exploited.</a:t>
            </a:r>
            <a:endParaRPr lang="en-US" sz="1250" dirty="0"/>
          </a:p>
        </p:txBody>
      </p:sp>
      <p:sp>
        <p:nvSpPr>
          <p:cNvPr id="16" name="Text 1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9509760" y="822960"/>
            <a:ext cx="5120640" cy="5120640"/>
          </a:xfrm>
          <a:prstGeom prst="ellipse">
            <a:avLst/>
          </a:prstGeom>
          <a:solidFill>
            <a:srgbClr val="12304F"/>
          </a:solidFill>
          <a:ln w="12700">
            <a:solidFill>
              <a:srgbClr val="12304F"/>
            </a:solidFill>
            <a:prstDash val="solid"/>
          </a:ln>
        </p:spPr>
      </p:sp>
      <p:sp>
        <p:nvSpPr>
          <p:cNvPr id="3" name="Text 1"/>
          <p:cNvSpPr txBox="1"/>
          <p:nvPr/>
        </p:nvSpPr>
        <p:spPr>
          <a:xfrm>
            <a:off x="822960" y="1828800"/>
            <a:ext cx="54864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WEEK 1</a:t>
            </a:r>
            <a:endParaRPr lang="en-US" sz="1300" dirty="0"/>
          </a:p>
        </p:txBody>
      </p:sp>
      <p:sp>
        <p:nvSpPr>
          <p:cNvPr id="4" name="Text 2"/>
          <p:cNvSpPr txBox="1"/>
          <p:nvPr/>
        </p:nvSpPr>
        <p:spPr>
          <a:xfrm>
            <a:off x="786384" y="2212848"/>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Asset &amp; Risk Map</a:t>
            </a:r>
            <a:endParaRPr lang="en-US" sz="4000" dirty="0"/>
          </a:p>
        </p:txBody>
      </p:sp>
      <p:sp>
        <p:nvSpPr>
          <p:cNvPr id="5" name="Text 3"/>
          <p:cNvSpPr txBox="1"/>
          <p:nvPr/>
        </p:nvSpPr>
        <p:spPr>
          <a:xfrm>
            <a:off x="822960" y="3246120"/>
            <a:ext cx="7498080" cy="731520"/>
          </a:xfrm>
          <a:prstGeom prst="rect">
            <a:avLst/>
          </a:prstGeom>
          <a:noFill/>
          <a:ln/>
        </p:spPr>
        <p:txBody>
          <a:bodyPr wrap="square" lIns="0" tIns="0" rIns="0" bIns="0" rtlCol="0" anchor="ctr"/>
          <a:lstStyle/>
          <a:p>
            <a:pPr indent="0" marL="0">
              <a:buNone/>
            </a:pPr>
            <a:r>
              <a:rPr lang="en-US" sz="1500" dirty="0">
                <a:solidFill>
                  <a:srgbClr val="C6D6E4"/>
                </a:solidFill>
                <a:latin typeface="Calibri" pitchFamily="34" charset="0"/>
                <a:ea typeface="Calibri" pitchFamily="34" charset="-122"/>
                <a:cs typeface="Calibri" pitchFamily="34" charset="-120"/>
              </a:rPr>
              <a:t>Understand what CalebTech needs to protect, then identify and rank the risks that matter most.</a:t>
            </a:r>
            <a:endParaRPr lang="en-US" sz="1500" dirty="0"/>
          </a:p>
        </p:txBody>
      </p:sp>
      <p:sp>
        <p:nvSpPr>
          <p:cNvPr id="6" name="Text 4"/>
          <p:cNvSpPr txBox="1"/>
          <p:nvPr/>
        </p:nvSpPr>
        <p:spPr>
          <a:xfrm>
            <a:off x="822960" y="4160520"/>
            <a:ext cx="2743200" cy="256032"/>
          </a:xfrm>
          <a:prstGeom prst="rect">
            <a:avLst/>
          </a:prstGeom>
          <a:noFill/>
          <a:ln/>
        </p:spPr>
        <p:txBody>
          <a:bodyPr wrap="square" lIns="0" tIns="0" rIns="0" bIns="0" rtlCol="0" anchor="ctr"/>
          <a:lstStyle/>
          <a:p>
            <a:pPr indent="0" marL="0">
              <a:buNone/>
            </a:pPr>
            <a:r>
              <a:rPr lang="en-US" sz="1050" b="1" spc="200" kern="0" dirty="0">
                <a:solidFill>
                  <a:srgbClr val="7E99B2"/>
                </a:solidFill>
                <a:latin typeface="Calibri" pitchFamily="34" charset="0"/>
                <a:ea typeface="Calibri" pitchFamily="34" charset="-122"/>
                <a:cs typeface="Calibri" pitchFamily="34" charset="-120"/>
              </a:rPr>
              <a:t>OUTPUT</a:t>
            </a:r>
            <a:endParaRPr lang="en-US" sz="1050" dirty="0"/>
          </a:p>
        </p:txBody>
      </p:sp>
      <p:sp>
        <p:nvSpPr>
          <p:cNvPr id="7" name="Shape 5"/>
          <p:cNvSpPr/>
          <p:nvPr/>
        </p:nvSpPr>
        <p:spPr>
          <a:xfrm>
            <a:off x="822960" y="4480560"/>
            <a:ext cx="2834640" cy="475488"/>
          </a:xfrm>
          <a:prstGeom prst="roundRect">
            <a:avLst>
              <a:gd name="adj" fmla="val 19231"/>
            </a:avLst>
          </a:prstGeom>
          <a:solidFill>
            <a:srgbClr val="16395C"/>
          </a:solidFill>
          <a:ln w="12700">
            <a:solidFill>
              <a:srgbClr val="2A5580"/>
            </a:solidFill>
            <a:prstDash val="solid"/>
          </a:ln>
        </p:spPr>
      </p:sp>
      <p:sp>
        <p:nvSpPr>
          <p:cNvPr id="8" name="Text 6"/>
          <p:cNvSpPr txBox="1"/>
          <p:nvPr/>
        </p:nvSpPr>
        <p:spPr>
          <a:xfrm>
            <a:off x="82296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Asset Register</a:t>
            </a:r>
            <a:endParaRPr lang="en-US" sz="1150" dirty="0"/>
          </a:p>
        </p:txBody>
      </p:sp>
      <p:sp>
        <p:nvSpPr>
          <p:cNvPr id="9" name="Shape 7"/>
          <p:cNvSpPr/>
          <p:nvPr/>
        </p:nvSpPr>
        <p:spPr>
          <a:xfrm>
            <a:off x="3840480" y="4480560"/>
            <a:ext cx="2834640" cy="475488"/>
          </a:xfrm>
          <a:prstGeom prst="roundRect">
            <a:avLst>
              <a:gd name="adj" fmla="val 19231"/>
            </a:avLst>
          </a:prstGeom>
          <a:solidFill>
            <a:srgbClr val="16395C"/>
          </a:solidFill>
          <a:ln w="12700">
            <a:solidFill>
              <a:srgbClr val="2A5580"/>
            </a:solidFill>
            <a:prstDash val="solid"/>
          </a:ln>
        </p:spPr>
      </p:sp>
      <p:sp>
        <p:nvSpPr>
          <p:cNvPr id="10" name="Text 8"/>
          <p:cNvSpPr txBox="1"/>
          <p:nvPr/>
        </p:nvSpPr>
        <p:spPr>
          <a:xfrm>
            <a:off x="384048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Risk Register</a:t>
            </a:r>
            <a:endParaRPr lang="en-US" sz="1150" dirty="0"/>
          </a:p>
        </p:txBody>
      </p:sp>
      <p:sp>
        <p:nvSpPr>
          <p:cNvPr id="12" name="Text 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1 — TASK 1</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Asset Register (1 of 2): People &amp; Devices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640080"/>
                <a:gridCol w="2651760"/>
                <a:gridCol w="914400"/>
                <a:gridCol w="1280160"/>
                <a:gridCol w="4480560"/>
                <a:gridCol w="1097280"/>
              </a:tblGrid>
              <a:tr h="4206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Asset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Importance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A01</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MD's laptop (Caleb)</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Holds accounts, invoices, supplier contacts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Shop POS / sales desktop</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Records every sale and customer detail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2 repair bench workstations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Technicians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Customer devices and data pass through them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8 cyber-café public PCs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Café attendant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Used by strangers daily; malware entry point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Staff phones used for work</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All staff</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WhatsApp orders, payment alerts, photos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Wi-Fi router + CCTV recorder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Default passwords give shop-wide access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A07</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Backup external hard drive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Only copy of repair and sales records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A08</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Shop printer / scanner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Cashier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Scans of customer IDs may remain stored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A09</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Staff (9 people)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People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Human decisions cause or prevent most incidents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Tip: list assets in five buckets — people, devices, accounts, data, services. That is how you reach 18 items without inventing anything.</a:t>
            </a:r>
            <a:endParaRPr lang="en-US" sz="1150" dirty="0"/>
          </a:p>
        </p:txBody>
      </p:sp>
      <p:sp>
        <p:nvSpPr>
          <p:cNvPr id="7" name="Text 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1 — TASK 1</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Asset Register (2 of 2): Accounts, Data &amp; Services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640080"/>
                <a:gridCol w="2651760"/>
                <a:gridCol w="914400"/>
                <a:gridCol w="1280160"/>
                <a:gridCol w="4480560"/>
                <a:gridCol w="1097280"/>
              </a:tblGrid>
              <a:tr h="4206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Asset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Importance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Business Gmail 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Password reset point for everything else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A11</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WhatsApp Business line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Main channel for customer orders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Facebook &amp; Instagram pages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Admin officer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Brand reputation; scam posts if hijacked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Bank + payment gateway</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Direct financial loss if compromised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Customer repair records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Names, phone numbers, device passwords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Sales, stock &amp; accounts files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Accountant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Business cannot trade or file tax without them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Supplier price lists &amp; quotes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Commercially sensitive margins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A17</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calebtech website (WordPress)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Service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Admin officer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Public face; defacement damages trust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A18</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Shop internet connection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Service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Café income and POS stop without 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Summary: 18 assets — 12 rated High, 6 rated Medium. The business Gmail account (A10) is the single most critical asset because it can reset the others.</a:t>
            </a:r>
            <a:endParaRPr lang="en-US" sz="1150" dirty="0"/>
          </a:p>
        </p:txBody>
      </p:sp>
      <p:sp>
        <p:nvSpPr>
          <p:cNvPr id="7" name="Text 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1 — TASK 3</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Threats &amp; Weaknesses Found at CalebTech</a:t>
            </a:r>
            <a:endParaRPr lang="en-US" sz="3000" dirty="0"/>
          </a:p>
        </p:txBody>
      </p:sp>
      <p:sp>
        <p:nvSpPr>
          <p:cNvPr id="4" name="Shape 2"/>
          <p:cNvSpPr/>
          <p:nvPr/>
        </p:nvSpPr>
        <p:spPr>
          <a:xfrm>
            <a:off x="566928" y="141732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804672" y="1636776"/>
            <a:ext cx="457200" cy="457200"/>
          </a:xfrm>
          <a:prstGeom prst="ellipse">
            <a:avLst/>
          </a:prstGeom>
          <a:solidFill>
            <a:srgbClr val="A62B22"/>
          </a:solidFill>
          <a:ln w="12700">
            <a:solidFill>
              <a:srgbClr val="A62B22"/>
            </a:solidFill>
            <a:prstDash val="solid"/>
          </a:ln>
        </p:spPr>
      </p:sp>
      <p:sp>
        <p:nvSpPr>
          <p:cNvPr id="6" name="Text 4"/>
          <p:cNvSpPr txBox="1"/>
          <p:nvPr/>
        </p:nvSpPr>
        <p:spPr>
          <a:xfrm>
            <a:off x="804672" y="163677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7" name="Text 5"/>
          <p:cNvSpPr txBox="1"/>
          <p:nvPr/>
        </p:nvSpPr>
        <p:spPr>
          <a:xfrm>
            <a:off x="804672" y="219456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Phishing &amp; fake supplier invoices</a:t>
            </a:r>
            <a:endParaRPr lang="en-US" sz="1400" dirty="0"/>
          </a:p>
        </p:txBody>
      </p:sp>
      <p:sp>
        <p:nvSpPr>
          <p:cNvPr id="8" name="Text 6"/>
          <p:cNvSpPr txBox="1"/>
          <p:nvPr/>
        </p:nvSpPr>
        <p:spPr>
          <a:xfrm>
            <a:off x="804672" y="271576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Emails claiming a supplier changed account details, aimed at the MD and accountant.</a:t>
            </a:r>
            <a:endParaRPr lang="en-US" sz="1150" dirty="0"/>
          </a:p>
        </p:txBody>
      </p:sp>
      <p:sp>
        <p:nvSpPr>
          <p:cNvPr id="9" name="Shape 7"/>
          <p:cNvSpPr/>
          <p:nvPr/>
        </p:nvSpPr>
        <p:spPr>
          <a:xfrm>
            <a:off x="4297680" y="141732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0" name="Shape 8"/>
          <p:cNvSpPr/>
          <p:nvPr/>
        </p:nvSpPr>
        <p:spPr>
          <a:xfrm>
            <a:off x="4535424" y="1636776"/>
            <a:ext cx="457200" cy="457200"/>
          </a:xfrm>
          <a:prstGeom prst="ellipse">
            <a:avLst/>
          </a:prstGeom>
          <a:solidFill>
            <a:srgbClr val="A62B22"/>
          </a:solidFill>
          <a:ln w="12700">
            <a:solidFill>
              <a:srgbClr val="A62B22"/>
            </a:solidFill>
            <a:prstDash val="solid"/>
          </a:ln>
        </p:spPr>
      </p:sp>
      <p:sp>
        <p:nvSpPr>
          <p:cNvPr id="11" name="Text 9"/>
          <p:cNvSpPr txBox="1"/>
          <p:nvPr/>
        </p:nvSpPr>
        <p:spPr>
          <a:xfrm>
            <a:off x="4535424" y="163677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12" name="Text 10"/>
          <p:cNvSpPr txBox="1"/>
          <p:nvPr/>
        </p:nvSpPr>
        <p:spPr>
          <a:xfrm>
            <a:off x="4535424" y="219456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Malware from café &amp; repair USBs</a:t>
            </a:r>
            <a:endParaRPr lang="en-US" sz="1400" dirty="0"/>
          </a:p>
        </p:txBody>
      </p:sp>
      <p:sp>
        <p:nvSpPr>
          <p:cNvPr id="13" name="Text 11"/>
          <p:cNvSpPr txBox="1"/>
          <p:nvPr/>
        </p:nvSpPr>
        <p:spPr>
          <a:xfrm>
            <a:off x="4535424" y="271576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Public PCs and customer devices share the same flash drives as the office machines.</a:t>
            </a:r>
            <a:endParaRPr lang="en-US" sz="1150" dirty="0"/>
          </a:p>
        </p:txBody>
      </p:sp>
      <p:sp>
        <p:nvSpPr>
          <p:cNvPr id="14" name="Shape 12"/>
          <p:cNvSpPr/>
          <p:nvPr/>
        </p:nvSpPr>
        <p:spPr>
          <a:xfrm>
            <a:off x="8028432" y="141732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5" name="Shape 13"/>
          <p:cNvSpPr/>
          <p:nvPr/>
        </p:nvSpPr>
        <p:spPr>
          <a:xfrm>
            <a:off x="8266176" y="1636776"/>
            <a:ext cx="457200" cy="457200"/>
          </a:xfrm>
          <a:prstGeom prst="ellipse">
            <a:avLst/>
          </a:prstGeom>
          <a:solidFill>
            <a:srgbClr val="A62B22"/>
          </a:solidFill>
          <a:ln w="12700">
            <a:solidFill>
              <a:srgbClr val="A62B22"/>
            </a:solidFill>
            <a:prstDash val="solid"/>
          </a:ln>
        </p:spPr>
      </p:sp>
      <p:sp>
        <p:nvSpPr>
          <p:cNvPr id="16" name="Text 14"/>
          <p:cNvSpPr txBox="1"/>
          <p:nvPr/>
        </p:nvSpPr>
        <p:spPr>
          <a:xfrm>
            <a:off x="8266176" y="163677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17" name="Text 15"/>
          <p:cNvSpPr txBox="1"/>
          <p:nvPr/>
        </p:nvSpPr>
        <p:spPr>
          <a:xfrm>
            <a:off x="8266176" y="219456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Shared and reused passwords</a:t>
            </a:r>
            <a:endParaRPr lang="en-US" sz="1400" dirty="0"/>
          </a:p>
        </p:txBody>
      </p:sp>
      <p:sp>
        <p:nvSpPr>
          <p:cNvPr id="18" name="Text 16"/>
          <p:cNvSpPr txBox="1"/>
          <p:nvPr/>
        </p:nvSpPr>
        <p:spPr>
          <a:xfrm>
            <a:off x="8266176" y="271576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One password is used for the Gmail, the router and the Facebook page.</a:t>
            </a:r>
            <a:endParaRPr lang="en-US" sz="1150" dirty="0"/>
          </a:p>
        </p:txBody>
      </p:sp>
      <p:sp>
        <p:nvSpPr>
          <p:cNvPr id="19" name="Shape 17"/>
          <p:cNvSpPr/>
          <p:nvPr/>
        </p:nvSpPr>
        <p:spPr>
          <a:xfrm>
            <a:off x="566928" y="365760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0" name="Shape 18"/>
          <p:cNvSpPr/>
          <p:nvPr/>
        </p:nvSpPr>
        <p:spPr>
          <a:xfrm>
            <a:off x="804672" y="3877056"/>
            <a:ext cx="457200" cy="457200"/>
          </a:xfrm>
          <a:prstGeom prst="ellipse">
            <a:avLst/>
          </a:prstGeom>
          <a:solidFill>
            <a:srgbClr val="C07A16"/>
          </a:solidFill>
          <a:ln w="12700">
            <a:solidFill>
              <a:srgbClr val="C07A16"/>
            </a:solidFill>
            <a:prstDash val="solid"/>
          </a:ln>
        </p:spPr>
      </p:sp>
      <p:sp>
        <p:nvSpPr>
          <p:cNvPr id="21" name="Text 19"/>
          <p:cNvSpPr txBox="1"/>
          <p:nvPr/>
        </p:nvSpPr>
        <p:spPr>
          <a:xfrm>
            <a:off x="804672" y="38770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2" name="Text 20"/>
          <p:cNvSpPr txBox="1"/>
          <p:nvPr/>
        </p:nvSpPr>
        <p:spPr>
          <a:xfrm>
            <a:off x="804672" y="443484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Default device passwords</a:t>
            </a:r>
            <a:endParaRPr lang="en-US" sz="1400" dirty="0"/>
          </a:p>
        </p:txBody>
      </p:sp>
      <p:sp>
        <p:nvSpPr>
          <p:cNvPr id="23" name="Text 21"/>
          <p:cNvSpPr txBox="1"/>
          <p:nvPr/>
        </p:nvSpPr>
        <p:spPr>
          <a:xfrm>
            <a:off x="804672" y="495604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Router and CCTV recorder still use admin/admin from installation day.</a:t>
            </a:r>
            <a:endParaRPr lang="en-US" sz="1150" dirty="0"/>
          </a:p>
        </p:txBody>
      </p:sp>
      <p:sp>
        <p:nvSpPr>
          <p:cNvPr id="24" name="Shape 22"/>
          <p:cNvSpPr/>
          <p:nvPr/>
        </p:nvSpPr>
        <p:spPr>
          <a:xfrm>
            <a:off x="4297680" y="365760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5" name="Shape 23"/>
          <p:cNvSpPr/>
          <p:nvPr/>
        </p:nvSpPr>
        <p:spPr>
          <a:xfrm>
            <a:off x="4535424" y="3877056"/>
            <a:ext cx="457200" cy="457200"/>
          </a:xfrm>
          <a:prstGeom prst="ellipse">
            <a:avLst/>
          </a:prstGeom>
          <a:solidFill>
            <a:srgbClr val="C07A16"/>
          </a:solidFill>
          <a:ln w="12700">
            <a:solidFill>
              <a:srgbClr val="C07A16"/>
            </a:solidFill>
            <a:prstDash val="solid"/>
          </a:ln>
        </p:spPr>
      </p:sp>
      <p:sp>
        <p:nvSpPr>
          <p:cNvPr id="26" name="Text 24"/>
          <p:cNvSpPr txBox="1"/>
          <p:nvPr/>
        </p:nvSpPr>
        <p:spPr>
          <a:xfrm>
            <a:off x="4535424" y="38770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7" name="Text 25"/>
          <p:cNvSpPr txBox="1"/>
          <p:nvPr/>
        </p:nvSpPr>
        <p:spPr>
          <a:xfrm>
            <a:off x="4535424" y="443484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No tested backup</a:t>
            </a:r>
            <a:endParaRPr lang="en-US" sz="1400" dirty="0"/>
          </a:p>
        </p:txBody>
      </p:sp>
      <p:sp>
        <p:nvSpPr>
          <p:cNvPr id="28" name="Text 26"/>
          <p:cNvSpPr txBox="1"/>
          <p:nvPr/>
        </p:nvSpPr>
        <p:spPr>
          <a:xfrm>
            <a:off x="4535424" y="495604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Records copied to one external drive kept in the same shop, never tested.</a:t>
            </a:r>
            <a:endParaRPr lang="en-US" sz="1150" dirty="0"/>
          </a:p>
        </p:txBody>
      </p:sp>
      <p:sp>
        <p:nvSpPr>
          <p:cNvPr id="29" name="Shape 27"/>
          <p:cNvSpPr/>
          <p:nvPr/>
        </p:nvSpPr>
        <p:spPr>
          <a:xfrm>
            <a:off x="8028432" y="3657600"/>
            <a:ext cx="3529584" cy="2011680"/>
          </a:xfrm>
          <a:prstGeom prst="roundRect">
            <a:avLst>
              <a:gd name="adj" fmla="val 363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0" name="Shape 28"/>
          <p:cNvSpPr/>
          <p:nvPr/>
        </p:nvSpPr>
        <p:spPr>
          <a:xfrm>
            <a:off x="8266176" y="3877056"/>
            <a:ext cx="457200" cy="457200"/>
          </a:xfrm>
          <a:prstGeom prst="ellipse">
            <a:avLst/>
          </a:prstGeom>
          <a:solidFill>
            <a:srgbClr val="C07A16"/>
          </a:solidFill>
          <a:ln w="12700">
            <a:solidFill>
              <a:srgbClr val="C07A16"/>
            </a:solidFill>
            <a:prstDash val="solid"/>
          </a:ln>
        </p:spPr>
      </p:sp>
      <p:sp>
        <p:nvSpPr>
          <p:cNvPr id="31" name="Text 29"/>
          <p:cNvSpPr txBox="1"/>
          <p:nvPr/>
        </p:nvSpPr>
        <p:spPr>
          <a:xfrm>
            <a:off x="8266176" y="38770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32" name="Text 30"/>
          <p:cNvSpPr txBox="1"/>
          <p:nvPr/>
        </p:nvSpPr>
        <p:spPr>
          <a:xfrm>
            <a:off x="8266176" y="4434840"/>
            <a:ext cx="3063240" cy="502920"/>
          </a:xfrm>
          <a:prstGeom prst="rect">
            <a:avLst/>
          </a:prstGeom>
          <a:noFill/>
          <a:ln/>
        </p:spPr>
        <p:txBody>
          <a:bodyPr wrap="square" lIns="0" tIns="0" rIns="0" bIns="0" rtlCol="0" anchor="ctr"/>
          <a:lstStyle/>
          <a:p>
            <a:pPr indent="0" marL="0">
              <a:buNone/>
            </a:pPr>
            <a:r>
              <a:rPr lang="en-US" sz="1400" b="1" dirty="0">
                <a:solidFill>
                  <a:srgbClr val="16232E"/>
                </a:solidFill>
                <a:latin typeface="Cambria" pitchFamily="34" charset="0"/>
                <a:ea typeface="Cambria" pitchFamily="34" charset="-122"/>
                <a:cs typeface="Cambria" pitchFamily="34" charset="-120"/>
              </a:rPr>
              <a:t>Over-broad staff access</a:t>
            </a:r>
            <a:endParaRPr lang="en-US" sz="1400" dirty="0"/>
          </a:p>
        </p:txBody>
      </p:sp>
      <p:sp>
        <p:nvSpPr>
          <p:cNvPr id="33" name="Text 31"/>
          <p:cNvSpPr txBox="1"/>
          <p:nvPr/>
        </p:nvSpPr>
        <p:spPr>
          <a:xfrm>
            <a:off x="8266176" y="4956048"/>
            <a:ext cx="3063240" cy="603504"/>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The intern and café attendant can open customer records they do not need.</a:t>
            </a:r>
            <a:endParaRPr lang="en-US" sz="1150" dirty="0"/>
          </a:p>
        </p:txBody>
      </p:sp>
      <p:sp>
        <p:nvSpPr>
          <p:cNvPr id="34" name="Text 3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Each weakness above is written as something observed at the business — not a generic textbook threat. That is what earns marks for realism.</a:t>
            </a:r>
            <a:endParaRPr lang="en-US" sz="1150" dirty="0"/>
          </a:p>
        </p:txBody>
      </p:sp>
      <p:sp>
        <p:nvSpPr>
          <p:cNvPr id="36" name="Text 3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1 — TASK 4</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Risk Register — Scored Likelihood × Impact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566928"/>
                <a:gridCol w="5559552"/>
                <a:gridCol w="1188720"/>
                <a:gridCol w="566928"/>
                <a:gridCol w="566928"/>
                <a:gridCol w="1060704"/>
                <a:gridCol w="1554480"/>
              </a:tblGrid>
              <a:tr h="4206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Risk description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Asset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Score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Priority</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Business Gmail taken over through phishing, then used to reset every other 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A10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Critical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Ransomware from a café or repair USB encrypts sales and customer records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A14/A15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Critical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Shared password leaked; router, Gmail and Facebook fall together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A06/A10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Fake supplier invoice leads to payment into an attacker's account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A13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Backup drive stolen or fails; no second copy exists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A07</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CCTV recorder on default password is accessed remotely</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A06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R7</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Staff member leaves; accounts and WhatsApp access are never removed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A11</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R8</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Facebook page hijacked and used to post payment scams to customers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A12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R9</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Customer ID scans left on the shared printer are seen by others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A08</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Scoring key: 1 = very unlikely / minor, 5 = very likely / severe. Score 16–25 = Critical, 12–15 = High, 6–11 = Medium, 1–5 = Low.</a:t>
            </a:r>
            <a:endParaRPr lang="en-US" sz="1150" dirty="0"/>
          </a:p>
        </p:txBody>
      </p:sp>
      <p:sp>
        <p:nvSpPr>
          <p:cNvPr id="7" name="Text 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1 — TASK 5</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Top 3 Risks to Treat First</a:t>
            </a:r>
            <a:endParaRPr lang="en-US" sz="3000" dirty="0"/>
          </a:p>
        </p:txBody>
      </p:sp>
      <p:sp>
        <p:nvSpPr>
          <p:cNvPr id="4" name="Text 2"/>
          <p:cNvSpPr txBox="1"/>
          <p:nvPr/>
        </p:nvSpPr>
        <p:spPr>
          <a:xfrm>
            <a:off x="566928" y="1280160"/>
            <a:ext cx="11064240" cy="365760"/>
          </a:xfrm>
          <a:prstGeom prst="rect">
            <a:avLst/>
          </a:prstGeom>
          <a:noFill/>
          <a:ln/>
        </p:spPr>
        <p:txBody>
          <a:bodyPr wrap="square" lIns="0" tIns="0" rIns="0" bIns="0" rtlCol="0" anchor="ctr"/>
          <a:lstStyle/>
          <a:p>
            <a:pPr indent="0" marL="0">
              <a:buNone/>
            </a:pPr>
            <a:r>
              <a:rPr lang="en-US" sz="1300" dirty="0">
                <a:solidFill>
                  <a:srgbClr val="5E7183"/>
                </a:solidFill>
                <a:latin typeface="Calibri" pitchFamily="34" charset="0"/>
                <a:ea typeface="Calibri" pitchFamily="34" charset="-122"/>
                <a:cs typeface="Calibri" pitchFamily="34" charset="-120"/>
              </a:rPr>
              <a:t>These three account for the highest scores and, conveniently, can all be reduced without spending money. They set the agenda for Weeks 2, 3 and 4.</a:t>
            </a:r>
            <a:endParaRPr lang="en-US" sz="1300" dirty="0"/>
          </a:p>
        </p:txBody>
      </p:sp>
      <p:sp>
        <p:nvSpPr>
          <p:cNvPr id="5" name="Shape 3"/>
          <p:cNvSpPr/>
          <p:nvPr/>
        </p:nvSpPr>
        <p:spPr>
          <a:xfrm>
            <a:off x="566928" y="1828800"/>
            <a:ext cx="3529584" cy="3200400"/>
          </a:xfrm>
          <a:prstGeom prst="roundRect">
            <a:avLst>
              <a:gd name="adj" fmla="val 228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6" name="Shape 4"/>
          <p:cNvSpPr/>
          <p:nvPr/>
        </p:nvSpPr>
        <p:spPr>
          <a:xfrm>
            <a:off x="804672" y="2048256"/>
            <a:ext cx="713232" cy="329184"/>
          </a:xfrm>
          <a:prstGeom prst="roundRect">
            <a:avLst>
              <a:gd name="adj" fmla="val 50000"/>
            </a:avLst>
          </a:prstGeom>
          <a:solidFill>
            <a:srgbClr val="A62B22"/>
          </a:solidFill>
          <a:ln w="12700">
            <a:solidFill>
              <a:srgbClr val="A62B22"/>
            </a:solidFill>
            <a:prstDash val="solid"/>
          </a:ln>
        </p:spPr>
      </p:sp>
      <p:sp>
        <p:nvSpPr>
          <p:cNvPr id="7" name="Text 5"/>
          <p:cNvSpPr txBox="1"/>
          <p:nvPr/>
        </p:nvSpPr>
        <p:spPr>
          <a:xfrm>
            <a:off x="804672" y="2048256"/>
            <a:ext cx="7132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8" name="Text 6"/>
          <p:cNvSpPr txBox="1"/>
          <p:nvPr/>
        </p:nvSpPr>
        <p:spPr>
          <a:xfrm>
            <a:off x="2670048" y="1938528"/>
            <a:ext cx="1188720" cy="566928"/>
          </a:xfrm>
          <a:prstGeom prst="rect">
            <a:avLst/>
          </a:prstGeom>
          <a:noFill/>
          <a:ln/>
        </p:spPr>
        <p:txBody>
          <a:bodyPr wrap="square" lIns="0" tIns="0" rIns="0" bIns="0" rtlCol="0" anchor="ctr"/>
          <a:lstStyle/>
          <a:p>
            <a:pPr algn="r" indent="0" marL="0">
              <a:buNone/>
            </a:pPr>
            <a:r>
              <a:rPr lang="en-US" sz="3400" b="1" dirty="0">
                <a:solidFill>
                  <a:srgbClr val="A62B22"/>
                </a:solidFill>
                <a:latin typeface="Cambria" pitchFamily="34" charset="0"/>
                <a:ea typeface="Cambria" pitchFamily="34" charset="-122"/>
                <a:cs typeface="Cambria" pitchFamily="34" charset="-120"/>
              </a:rPr>
              <a:t>20</a:t>
            </a:r>
            <a:endParaRPr lang="en-US" sz="3400" dirty="0"/>
          </a:p>
        </p:txBody>
      </p:sp>
      <p:sp>
        <p:nvSpPr>
          <p:cNvPr id="9" name="Text 7"/>
          <p:cNvSpPr txBox="1"/>
          <p:nvPr/>
        </p:nvSpPr>
        <p:spPr>
          <a:xfrm>
            <a:off x="2670048" y="2450592"/>
            <a:ext cx="1188720" cy="219456"/>
          </a:xfrm>
          <a:prstGeom prst="rect">
            <a:avLst/>
          </a:prstGeom>
          <a:noFill/>
          <a:ln/>
        </p:spPr>
        <p:txBody>
          <a:bodyPr wrap="square" lIns="0" tIns="0" rIns="0" bIns="0" rtlCol="0" anchor="ctr"/>
          <a:lstStyle/>
          <a:p>
            <a:pPr algn="r" indent="0" marL="0">
              <a:buNone/>
            </a:pPr>
            <a:r>
              <a:rPr lang="en-US" sz="1000" dirty="0">
                <a:solidFill>
                  <a:srgbClr val="5E7183"/>
                </a:solidFill>
                <a:latin typeface="Calibri" pitchFamily="34" charset="0"/>
                <a:ea typeface="Calibri" pitchFamily="34" charset="-122"/>
                <a:cs typeface="Calibri" pitchFamily="34" charset="-120"/>
              </a:rPr>
              <a:t>score</a:t>
            </a:r>
            <a:endParaRPr lang="en-US" sz="1000" dirty="0"/>
          </a:p>
        </p:txBody>
      </p:sp>
      <p:sp>
        <p:nvSpPr>
          <p:cNvPr id="10" name="Text 8"/>
          <p:cNvSpPr txBox="1"/>
          <p:nvPr/>
        </p:nvSpPr>
        <p:spPr>
          <a:xfrm>
            <a:off x="804672" y="2788920"/>
            <a:ext cx="3063240" cy="60350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Email account takeover</a:t>
            </a:r>
            <a:endParaRPr lang="en-US" sz="1600" dirty="0"/>
          </a:p>
        </p:txBody>
      </p:sp>
      <p:sp>
        <p:nvSpPr>
          <p:cNvPr id="11" name="Text 9"/>
          <p:cNvSpPr txBox="1"/>
          <p:nvPr/>
        </p:nvSpPr>
        <p:spPr>
          <a:xfrm>
            <a:off x="804672" y="3456432"/>
            <a:ext cx="3063240" cy="914400"/>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Turn on MFA for Gmail, remove the shared password, set recovery options.</a:t>
            </a:r>
            <a:endParaRPr lang="en-US" sz="1150" dirty="0"/>
          </a:p>
        </p:txBody>
      </p:sp>
      <p:sp>
        <p:nvSpPr>
          <p:cNvPr id="12" name="Text 10"/>
          <p:cNvSpPr txBox="1"/>
          <p:nvPr/>
        </p:nvSpPr>
        <p:spPr>
          <a:xfrm>
            <a:off x="804672" y="4498848"/>
            <a:ext cx="3063240" cy="292608"/>
          </a:xfrm>
          <a:prstGeom prst="rect">
            <a:avLst/>
          </a:prstGeom>
          <a:noFill/>
          <a:ln/>
        </p:spPr>
        <p:txBody>
          <a:bodyPr wrap="square" lIns="0" tIns="0" rIns="0" bIns="0" rtlCol="0" anchor="ctr"/>
          <a:lstStyle/>
          <a:p>
            <a:pPr indent="0" marL="0">
              <a:buNone/>
            </a:pPr>
            <a:r>
              <a:rPr lang="en-US" sz="1100" b="1" dirty="0">
                <a:solidFill>
                  <a:srgbClr val="2E5266"/>
                </a:solidFill>
                <a:latin typeface="Calibri" pitchFamily="34" charset="0"/>
                <a:ea typeface="Calibri" pitchFamily="34" charset="-122"/>
                <a:cs typeface="Calibri" pitchFamily="34" charset="-120"/>
              </a:rPr>
              <a:t>Treated in Week 2</a:t>
            </a:r>
            <a:endParaRPr lang="en-US" sz="1100" dirty="0"/>
          </a:p>
        </p:txBody>
      </p:sp>
      <p:sp>
        <p:nvSpPr>
          <p:cNvPr id="13" name="Shape 11"/>
          <p:cNvSpPr/>
          <p:nvPr/>
        </p:nvSpPr>
        <p:spPr>
          <a:xfrm>
            <a:off x="4297680" y="1828800"/>
            <a:ext cx="3529584" cy="3200400"/>
          </a:xfrm>
          <a:prstGeom prst="roundRect">
            <a:avLst>
              <a:gd name="adj" fmla="val 228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4" name="Shape 12"/>
          <p:cNvSpPr/>
          <p:nvPr/>
        </p:nvSpPr>
        <p:spPr>
          <a:xfrm>
            <a:off x="4535424" y="2048256"/>
            <a:ext cx="713232" cy="329184"/>
          </a:xfrm>
          <a:prstGeom prst="roundRect">
            <a:avLst>
              <a:gd name="adj" fmla="val 50000"/>
            </a:avLst>
          </a:prstGeom>
          <a:solidFill>
            <a:srgbClr val="A62B22"/>
          </a:solidFill>
          <a:ln w="12700">
            <a:solidFill>
              <a:srgbClr val="A62B22"/>
            </a:solidFill>
            <a:prstDash val="solid"/>
          </a:ln>
        </p:spPr>
      </p:sp>
      <p:sp>
        <p:nvSpPr>
          <p:cNvPr id="15" name="Text 13"/>
          <p:cNvSpPr txBox="1"/>
          <p:nvPr/>
        </p:nvSpPr>
        <p:spPr>
          <a:xfrm>
            <a:off x="4535424" y="2048256"/>
            <a:ext cx="7132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16" name="Text 14"/>
          <p:cNvSpPr txBox="1"/>
          <p:nvPr/>
        </p:nvSpPr>
        <p:spPr>
          <a:xfrm>
            <a:off x="6400800" y="1938528"/>
            <a:ext cx="1188720" cy="566928"/>
          </a:xfrm>
          <a:prstGeom prst="rect">
            <a:avLst/>
          </a:prstGeom>
          <a:noFill/>
          <a:ln/>
        </p:spPr>
        <p:txBody>
          <a:bodyPr wrap="square" lIns="0" tIns="0" rIns="0" bIns="0" rtlCol="0" anchor="ctr"/>
          <a:lstStyle/>
          <a:p>
            <a:pPr algn="r" indent="0" marL="0">
              <a:buNone/>
            </a:pPr>
            <a:r>
              <a:rPr lang="en-US" sz="3400" b="1" dirty="0">
                <a:solidFill>
                  <a:srgbClr val="A62B22"/>
                </a:solidFill>
                <a:latin typeface="Cambria" pitchFamily="34" charset="0"/>
                <a:ea typeface="Cambria" pitchFamily="34" charset="-122"/>
                <a:cs typeface="Cambria" pitchFamily="34" charset="-120"/>
              </a:rPr>
              <a:t>20</a:t>
            </a:r>
            <a:endParaRPr lang="en-US" sz="3400" dirty="0"/>
          </a:p>
        </p:txBody>
      </p:sp>
      <p:sp>
        <p:nvSpPr>
          <p:cNvPr id="17" name="Text 15"/>
          <p:cNvSpPr txBox="1"/>
          <p:nvPr/>
        </p:nvSpPr>
        <p:spPr>
          <a:xfrm>
            <a:off x="6400800" y="2450592"/>
            <a:ext cx="1188720" cy="219456"/>
          </a:xfrm>
          <a:prstGeom prst="rect">
            <a:avLst/>
          </a:prstGeom>
          <a:noFill/>
          <a:ln/>
        </p:spPr>
        <p:txBody>
          <a:bodyPr wrap="square" lIns="0" tIns="0" rIns="0" bIns="0" rtlCol="0" anchor="ctr"/>
          <a:lstStyle/>
          <a:p>
            <a:pPr algn="r" indent="0" marL="0">
              <a:buNone/>
            </a:pPr>
            <a:r>
              <a:rPr lang="en-US" sz="1000" dirty="0">
                <a:solidFill>
                  <a:srgbClr val="5E7183"/>
                </a:solidFill>
                <a:latin typeface="Calibri" pitchFamily="34" charset="0"/>
                <a:ea typeface="Calibri" pitchFamily="34" charset="-122"/>
                <a:cs typeface="Calibri" pitchFamily="34" charset="-120"/>
              </a:rPr>
              <a:t>score</a:t>
            </a:r>
            <a:endParaRPr lang="en-US" sz="1000" dirty="0"/>
          </a:p>
        </p:txBody>
      </p:sp>
      <p:sp>
        <p:nvSpPr>
          <p:cNvPr id="18" name="Text 16"/>
          <p:cNvSpPr txBox="1"/>
          <p:nvPr/>
        </p:nvSpPr>
        <p:spPr>
          <a:xfrm>
            <a:off x="4535424" y="2788920"/>
            <a:ext cx="3063240" cy="60350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Ransomware via USB</a:t>
            </a:r>
            <a:endParaRPr lang="en-US" sz="1600" dirty="0"/>
          </a:p>
        </p:txBody>
      </p:sp>
      <p:sp>
        <p:nvSpPr>
          <p:cNvPr id="19" name="Text 17"/>
          <p:cNvSpPr txBox="1"/>
          <p:nvPr/>
        </p:nvSpPr>
        <p:spPr>
          <a:xfrm>
            <a:off x="4535424" y="3456432"/>
            <a:ext cx="3063240" cy="914400"/>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Second offsite backup copy, monthly restore test, no café USBs in office PCs.</a:t>
            </a:r>
            <a:endParaRPr lang="en-US" sz="1150" dirty="0"/>
          </a:p>
        </p:txBody>
      </p:sp>
      <p:sp>
        <p:nvSpPr>
          <p:cNvPr id="20" name="Text 18"/>
          <p:cNvSpPr txBox="1"/>
          <p:nvPr/>
        </p:nvSpPr>
        <p:spPr>
          <a:xfrm>
            <a:off x="4535424" y="4498848"/>
            <a:ext cx="3063240" cy="292608"/>
          </a:xfrm>
          <a:prstGeom prst="rect">
            <a:avLst/>
          </a:prstGeom>
          <a:noFill/>
          <a:ln/>
        </p:spPr>
        <p:txBody>
          <a:bodyPr wrap="square" lIns="0" tIns="0" rIns="0" bIns="0" rtlCol="0" anchor="ctr"/>
          <a:lstStyle/>
          <a:p>
            <a:pPr indent="0" marL="0">
              <a:buNone/>
            </a:pPr>
            <a:r>
              <a:rPr lang="en-US" sz="1100" b="1" dirty="0">
                <a:solidFill>
                  <a:srgbClr val="2E5266"/>
                </a:solidFill>
                <a:latin typeface="Calibri" pitchFamily="34" charset="0"/>
                <a:ea typeface="Calibri" pitchFamily="34" charset="-122"/>
                <a:cs typeface="Calibri" pitchFamily="34" charset="-120"/>
              </a:rPr>
              <a:t>Treated in Week 4</a:t>
            </a:r>
            <a:endParaRPr lang="en-US" sz="1100" dirty="0"/>
          </a:p>
        </p:txBody>
      </p:sp>
      <p:sp>
        <p:nvSpPr>
          <p:cNvPr id="21" name="Shape 19"/>
          <p:cNvSpPr/>
          <p:nvPr/>
        </p:nvSpPr>
        <p:spPr>
          <a:xfrm>
            <a:off x="8028432" y="1828800"/>
            <a:ext cx="3529584" cy="3200400"/>
          </a:xfrm>
          <a:prstGeom prst="roundRect">
            <a:avLst>
              <a:gd name="adj" fmla="val 228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2" name="Shape 20"/>
          <p:cNvSpPr/>
          <p:nvPr/>
        </p:nvSpPr>
        <p:spPr>
          <a:xfrm>
            <a:off x="8266176" y="2048256"/>
            <a:ext cx="713232" cy="329184"/>
          </a:xfrm>
          <a:prstGeom prst="roundRect">
            <a:avLst>
              <a:gd name="adj" fmla="val 50000"/>
            </a:avLst>
          </a:prstGeom>
          <a:solidFill>
            <a:srgbClr val="C07A16"/>
          </a:solidFill>
          <a:ln w="12700">
            <a:solidFill>
              <a:srgbClr val="C07A16"/>
            </a:solidFill>
            <a:prstDash val="solid"/>
          </a:ln>
        </p:spPr>
      </p:sp>
      <p:sp>
        <p:nvSpPr>
          <p:cNvPr id="23" name="Text 21"/>
          <p:cNvSpPr txBox="1"/>
          <p:nvPr/>
        </p:nvSpPr>
        <p:spPr>
          <a:xfrm>
            <a:off x="8266176" y="2048256"/>
            <a:ext cx="7132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R4</a:t>
            </a:r>
            <a:endParaRPr lang="en-US" sz="1100" dirty="0"/>
          </a:p>
        </p:txBody>
      </p:sp>
      <p:sp>
        <p:nvSpPr>
          <p:cNvPr id="24" name="Text 22"/>
          <p:cNvSpPr txBox="1"/>
          <p:nvPr/>
        </p:nvSpPr>
        <p:spPr>
          <a:xfrm>
            <a:off x="10131552" y="1938528"/>
            <a:ext cx="1188720" cy="566928"/>
          </a:xfrm>
          <a:prstGeom prst="rect">
            <a:avLst/>
          </a:prstGeom>
          <a:noFill/>
          <a:ln/>
        </p:spPr>
        <p:txBody>
          <a:bodyPr wrap="square" lIns="0" tIns="0" rIns="0" bIns="0" rtlCol="0" anchor="ctr"/>
          <a:lstStyle/>
          <a:p>
            <a:pPr algn="r" indent="0" marL="0">
              <a:buNone/>
            </a:pPr>
            <a:r>
              <a:rPr lang="en-US" sz="3400" b="1" dirty="0">
                <a:solidFill>
                  <a:srgbClr val="C07A16"/>
                </a:solidFill>
                <a:latin typeface="Cambria" pitchFamily="34" charset="0"/>
                <a:ea typeface="Cambria" pitchFamily="34" charset="-122"/>
                <a:cs typeface="Cambria" pitchFamily="34" charset="-120"/>
              </a:rPr>
              <a:t>15</a:t>
            </a:r>
            <a:endParaRPr lang="en-US" sz="3400" dirty="0"/>
          </a:p>
        </p:txBody>
      </p:sp>
      <p:sp>
        <p:nvSpPr>
          <p:cNvPr id="25" name="Text 23"/>
          <p:cNvSpPr txBox="1"/>
          <p:nvPr/>
        </p:nvSpPr>
        <p:spPr>
          <a:xfrm>
            <a:off x="10131552" y="2450592"/>
            <a:ext cx="1188720" cy="219456"/>
          </a:xfrm>
          <a:prstGeom prst="rect">
            <a:avLst/>
          </a:prstGeom>
          <a:noFill/>
          <a:ln/>
        </p:spPr>
        <p:txBody>
          <a:bodyPr wrap="square" lIns="0" tIns="0" rIns="0" bIns="0" rtlCol="0" anchor="ctr"/>
          <a:lstStyle/>
          <a:p>
            <a:pPr algn="r" indent="0" marL="0">
              <a:buNone/>
            </a:pPr>
            <a:r>
              <a:rPr lang="en-US" sz="1000" dirty="0">
                <a:solidFill>
                  <a:srgbClr val="5E7183"/>
                </a:solidFill>
                <a:latin typeface="Calibri" pitchFamily="34" charset="0"/>
                <a:ea typeface="Calibri" pitchFamily="34" charset="-122"/>
                <a:cs typeface="Calibri" pitchFamily="34" charset="-120"/>
              </a:rPr>
              <a:t>score</a:t>
            </a:r>
            <a:endParaRPr lang="en-US" sz="1000" dirty="0"/>
          </a:p>
        </p:txBody>
      </p:sp>
      <p:sp>
        <p:nvSpPr>
          <p:cNvPr id="26" name="Text 24"/>
          <p:cNvSpPr txBox="1"/>
          <p:nvPr/>
        </p:nvSpPr>
        <p:spPr>
          <a:xfrm>
            <a:off x="8266176" y="2788920"/>
            <a:ext cx="3063240" cy="60350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Fake supplier invoice</a:t>
            </a:r>
            <a:endParaRPr lang="en-US" sz="1600" dirty="0"/>
          </a:p>
        </p:txBody>
      </p:sp>
      <p:sp>
        <p:nvSpPr>
          <p:cNvPr id="27" name="Text 25"/>
          <p:cNvSpPr txBox="1"/>
          <p:nvPr/>
        </p:nvSpPr>
        <p:spPr>
          <a:xfrm>
            <a:off x="8266176" y="3456432"/>
            <a:ext cx="3063240" cy="914400"/>
          </a:xfrm>
          <a:prstGeom prst="rect">
            <a:avLst/>
          </a:prstGeom>
          <a:noFill/>
          <a:ln/>
        </p:spPr>
        <p:txBody>
          <a:bodyPr wrap="square" lIns="0" tIns="0" rIns="0" bIns="0" rtlCol="0" anchor="t"/>
          <a:lstStyle/>
          <a:p>
            <a:pPr indent="0" marL="0">
              <a:buNone/>
            </a:pPr>
            <a:r>
              <a:rPr lang="en-US" sz="1150" dirty="0">
                <a:solidFill>
                  <a:srgbClr val="5E7183"/>
                </a:solidFill>
                <a:latin typeface="Calibri" pitchFamily="34" charset="0"/>
                <a:ea typeface="Calibri" pitchFamily="34" charset="-122"/>
                <a:cs typeface="Calibri" pitchFamily="34" charset="-120"/>
              </a:rPr>
              <a:t>Phishing awareness kit and a call-back rule before any account-detail change.</a:t>
            </a:r>
            <a:endParaRPr lang="en-US" sz="1150" dirty="0"/>
          </a:p>
        </p:txBody>
      </p:sp>
      <p:sp>
        <p:nvSpPr>
          <p:cNvPr id="28" name="Text 26"/>
          <p:cNvSpPr txBox="1"/>
          <p:nvPr/>
        </p:nvSpPr>
        <p:spPr>
          <a:xfrm>
            <a:off x="8266176" y="4498848"/>
            <a:ext cx="3063240" cy="292608"/>
          </a:xfrm>
          <a:prstGeom prst="rect">
            <a:avLst/>
          </a:prstGeom>
          <a:noFill/>
          <a:ln/>
        </p:spPr>
        <p:txBody>
          <a:bodyPr wrap="square" lIns="0" tIns="0" rIns="0" bIns="0" rtlCol="0" anchor="ctr"/>
          <a:lstStyle/>
          <a:p>
            <a:pPr indent="0" marL="0">
              <a:buNone/>
            </a:pPr>
            <a:r>
              <a:rPr lang="en-US" sz="1100" b="1" dirty="0">
                <a:solidFill>
                  <a:srgbClr val="2E5266"/>
                </a:solidFill>
                <a:latin typeface="Calibri" pitchFamily="34" charset="0"/>
                <a:ea typeface="Calibri" pitchFamily="34" charset="-122"/>
                <a:cs typeface="Calibri" pitchFamily="34" charset="-120"/>
              </a:rPr>
              <a:t>Treated in Week 3</a:t>
            </a:r>
            <a:endParaRPr lang="en-US" sz="1100" dirty="0"/>
          </a:p>
        </p:txBody>
      </p:sp>
      <p:sp>
        <p:nvSpPr>
          <p:cNvPr id="29" name="Shape 27"/>
          <p:cNvSpPr/>
          <p:nvPr/>
        </p:nvSpPr>
        <p:spPr>
          <a:xfrm>
            <a:off x="566928" y="5257800"/>
            <a:ext cx="11064240" cy="777240"/>
          </a:xfrm>
          <a:prstGeom prst="roundRect">
            <a:avLst>
              <a:gd name="adj" fmla="val 9412"/>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0" name="Text 28"/>
          <p:cNvSpPr txBox="1"/>
          <p:nvPr/>
        </p:nvSpPr>
        <p:spPr>
          <a:xfrm>
            <a:off x="868680" y="5257800"/>
            <a:ext cx="10424160" cy="777240"/>
          </a:xfrm>
          <a:prstGeom prst="rect">
            <a:avLst/>
          </a:prstGeom>
          <a:noFill/>
          <a:ln/>
        </p:spPr>
        <p:txBody>
          <a:bodyPr wrap="square" lIns="0" tIns="0" rIns="0" bIns="0" rtlCol="0" anchor="ctr"/>
          <a:lstStyle/>
          <a:p>
            <a:pPr indent="0" marL="0">
              <a:buNone/>
            </a:pPr>
            <a:r>
              <a:rPr lang="en-US" sz="1250" dirty="0">
                <a:solidFill>
                  <a:srgbClr val="D6E4F0"/>
                </a:solidFill>
                <a:latin typeface="Calibri" pitchFamily="34" charset="0"/>
                <a:ea typeface="Calibri" pitchFamily="34" charset="-122"/>
                <a:cs typeface="Calibri" pitchFamily="34" charset="-120"/>
              </a:rPr>
              <a:t>Decision: CalebTech will treat R1, R2 and R4 in this project cycle. R5–R9 are recorded and scheduled for the next quarter — accepting a risk knowingly is a valid choice; ignoring it is not.</a:t>
            </a:r>
            <a:endParaRPr lang="en-US" sz="1250" dirty="0"/>
          </a:p>
        </p:txBody>
      </p:sp>
      <p:sp>
        <p:nvSpPr>
          <p:cNvPr id="32" name="Text 2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9509760" y="822960"/>
            <a:ext cx="5120640" cy="5120640"/>
          </a:xfrm>
          <a:prstGeom prst="ellipse">
            <a:avLst/>
          </a:prstGeom>
          <a:solidFill>
            <a:srgbClr val="12304F"/>
          </a:solidFill>
          <a:ln w="12700">
            <a:solidFill>
              <a:srgbClr val="12304F"/>
            </a:solidFill>
            <a:prstDash val="solid"/>
          </a:ln>
        </p:spPr>
      </p:sp>
      <p:sp>
        <p:nvSpPr>
          <p:cNvPr id="3" name="Text 1"/>
          <p:cNvSpPr txBox="1"/>
          <p:nvPr/>
        </p:nvSpPr>
        <p:spPr>
          <a:xfrm>
            <a:off x="822960" y="1828800"/>
            <a:ext cx="54864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WEEK 2</a:t>
            </a:r>
            <a:endParaRPr lang="en-US" sz="1300" dirty="0"/>
          </a:p>
        </p:txBody>
      </p:sp>
      <p:sp>
        <p:nvSpPr>
          <p:cNvPr id="4" name="Text 2"/>
          <p:cNvSpPr txBox="1"/>
          <p:nvPr/>
        </p:nvSpPr>
        <p:spPr>
          <a:xfrm>
            <a:off x="786384" y="2212848"/>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Account &amp; Access Review</a:t>
            </a:r>
            <a:endParaRPr lang="en-US" sz="4000" dirty="0"/>
          </a:p>
        </p:txBody>
      </p:sp>
      <p:sp>
        <p:nvSpPr>
          <p:cNvPr id="5" name="Text 3"/>
          <p:cNvSpPr txBox="1"/>
          <p:nvPr/>
        </p:nvSpPr>
        <p:spPr>
          <a:xfrm>
            <a:off x="822960" y="3246120"/>
            <a:ext cx="7498080" cy="731520"/>
          </a:xfrm>
          <a:prstGeom prst="rect">
            <a:avLst/>
          </a:prstGeom>
          <a:noFill/>
          <a:ln/>
        </p:spPr>
        <p:txBody>
          <a:bodyPr wrap="square" lIns="0" tIns="0" rIns="0" bIns="0" rtlCol="0" anchor="ctr"/>
          <a:lstStyle/>
          <a:p>
            <a:pPr indent="0" marL="0">
              <a:buNone/>
            </a:pPr>
            <a:r>
              <a:rPr lang="en-US" sz="1500" dirty="0">
                <a:solidFill>
                  <a:srgbClr val="C6D6E4"/>
                </a:solidFill>
                <a:latin typeface="Calibri" pitchFamily="34" charset="0"/>
                <a:ea typeface="Calibri" pitchFamily="34" charset="-122"/>
                <a:cs typeface="Calibri" pitchFamily="34" charset="-120"/>
              </a:rPr>
              <a:t>Improve account security using safer access-control habits — the cheapest, highest-value fix available.</a:t>
            </a:r>
            <a:endParaRPr lang="en-US" sz="1500" dirty="0"/>
          </a:p>
        </p:txBody>
      </p:sp>
      <p:sp>
        <p:nvSpPr>
          <p:cNvPr id="6" name="Text 4"/>
          <p:cNvSpPr txBox="1"/>
          <p:nvPr/>
        </p:nvSpPr>
        <p:spPr>
          <a:xfrm>
            <a:off x="822960" y="4160520"/>
            <a:ext cx="2743200" cy="256032"/>
          </a:xfrm>
          <a:prstGeom prst="rect">
            <a:avLst/>
          </a:prstGeom>
          <a:noFill/>
          <a:ln/>
        </p:spPr>
        <p:txBody>
          <a:bodyPr wrap="square" lIns="0" tIns="0" rIns="0" bIns="0" rtlCol="0" anchor="ctr"/>
          <a:lstStyle/>
          <a:p>
            <a:pPr indent="0" marL="0">
              <a:buNone/>
            </a:pPr>
            <a:r>
              <a:rPr lang="en-US" sz="1050" b="1" spc="200" kern="0" dirty="0">
                <a:solidFill>
                  <a:srgbClr val="7E99B2"/>
                </a:solidFill>
                <a:latin typeface="Calibri" pitchFamily="34" charset="0"/>
                <a:ea typeface="Calibri" pitchFamily="34" charset="-122"/>
                <a:cs typeface="Calibri" pitchFamily="34" charset="-120"/>
              </a:rPr>
              <a:t>OUTPUT</a:t>
            </a:r>
            <a:endParaRPr lang="en-US" sz="1050" dirty="0"/>
          </a:p>
        </p:txBody>
      </p:sp>
      <p:sp>
        <p:nvSpPr>
          <p:cNvPr id="7" name="Shape 5"/>
          <p:cNvSpPr/>
          <p:nvPr/>
        </p:nvSpPr>
        <p:spPr>
          <a:xfrm>
            <a:off x="822960" y="4480560"/>
            <a:ext cx="2834640" cy="475488"/>
          </a:xfrm>
          <a:prstGeom prst="roundRect">
            <a:avLst>
              <a:gd name="adj" fmla="val 19231"/>
            </a:avLst>
          </a:prstGeom>
          <a:solidFill>
            <a:srgbClr val="16395C"/>
          </a:solidFill>
          <a:ln w="12700">
            <a:solidFill>
              <a:srgbClr val="2A5580"/>
            </a:solidFill>
            <a:prstDash val="solid"/>
          </a:ln>
        </p:spPr>
      </p:sp>
      <p:sp>
        <p:nvSpPr>
          <p:cNvPr id="8" name="Text 6"/>
          <p:cNvSpPr txBox="1"/>
          <p:nvPr/>
        </p:nvSpPr>
        <p:spPr>
          <a:xfrm>
            <a:off x="82296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Access Matrix</a:t>
            </a:r>
            <a:endParaRPr lang="en-US" sz="1150" dirty="0"/>
          </a:p>
        </p:txBody>
      </p:sp>
      <p:sp>
        <p:nvSpPr>
          <p:cNvPr id="9" name="Shape 7"/>
          <p:cNvSpPr/>
          <p:nvPr/>
        </p:nvSpPr>
        <p:spPr>
          <a:xfrm>
            <a:off x="3840480" y="4480560"/>
            <a:ext cx="2834640" cy="475488"/>
          </a:xfrm>
          <a:prstGeom prst="roundRect">
            <a:avLst>
              <a:gd name="adj" fmla="val 19231"/>
            </a:avLst>
          </a:prstGeom>
          <a:solidFill>
            <a:srgbClr val="16395C"/>
          </a:solidFill>
          <a:ln w="12700">
            <a:solidFill>
              <a:srgbClr val="2A5580"/>
            </a:solidFill>
            <a:prstDash val="solid"/>
          </a:ln>
        </p:spPr>
      </p:sp>
      <p:sp>
        <p:nvSpPr>
          <p:cNvPr id="10" name="Text 8"/>
          <p:cNvSpPr txBox="1"/>
          <p:nvPr/>
        </p:nvSpPr>
        <p:spPr>
          <a:xfrm>
            <a:off x="384048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Account Security Checklist</a:t>
            </a:r>
            <a:endParaRPr lang="en-US" sz="1150" dirty="0"/>
          </a:p>
        </p:txBody>
      </p:sp>
      <p:sp>
        <p:nvSpPr>
          <p:cNvPr id="12" name="Text 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2 — TASKS 1 &amp; 4</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Access Matrix — Who Should Reach What</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2834640"/>
                <a:gridCol w="969264"/>
                <a:gridCol w="1133856"/>
                <a:gridCol w="1298448"/>
                <a:gridCol w="969264"/>
                <a:gridCol w="1024128"/>
                <a:gridCol w="969264"/>
                <a:gridCol w="1243584"/>
                <a:gridCol w="621792"/>
              </a:tblGrid>
              <a:tr h="32918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Account / system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Technicians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Cashier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Café att.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Admin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Accountant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Intern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Business Gmail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Bank &amp; payment gateway</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WhatsApp Business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Facebook / Instagram</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Customer repair records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Sales &amp; stock file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Accounts &amp; payroll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Wi-Fi router admin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CCTV recorder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Café PCs (guest use)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62B22"/>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7A16"/>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AFBAC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526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5440680"/>
            <a:ext cx="11064240" cy="274320"/>
          </a:xfrm>
          <a:prstGeom prst="rect">
            <a:avLst/>
          </a:prstGeom>
          <a:noFill/>
          <a:ln/>
        </p:spPr>
        <p:txBody>
          <a:bodyPr wrap="square" lIns="0" tIns="0" rIns="0" bIns="0" rtlCol="0" anchor="ctr"/>
          <a:lstStyle/>
          <a:p>
            <a:pPr indent="0" marL="0">
              <a:buNone/>
            </a:pPr>
            <a:r>
              <a:rPr lang="en-US" sz="1100" dirty="0">
                <a:solidFill>
                  <a:srgbClr val="5E7183"/>
                </a:solidFill>
                <a:latin typeface="Calibri" pitchFamily="34" charset="0"/>
                <a:ea typeface="Calibri" pitchFamily="34" charset="-122"/>
                <a:cs typeface="Calibri" pitchFamily="34" charset="-120"/>
              </a:rPr>
              <a:t>Full = owner / can change settings    •    Edit = can add and change records    •    View = read only    •    — = no access</a:t>
            </a:r>
            <a:endParaRPr lang="en-US" sz="1100" dirty="0"/>
          </a:p>
        </p:txBody>
      </p:sp>
      <p:sp>
        <p:nvSpPr>
          <p:cNvPr id="6" name="Text 3"/>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Findings: the intern and café attendant previously had edit access to customer repair records. Removed — 3 unnecessary permissions withdrawn in total.</a:t>
            </a:r>
            <a:endParaRPr lang="en-US" sz="1150" dirty="0"/>
          </a:p>
        </p:txBody>
      </p:sp>
      <p:sp>
        <p:nvSpPr>
          <p:cNvPr id="8" name="Text 4"/>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2 — TASKS 2 &amp; 3</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MFA and Password Findings</a:t>
            </a:r>
            <a:endParaRPr lang="en-US" sz="3000" dirty="0"/>
          </a:p>
        </p:txBody>
      </p:sp>
      <p:graphicFrame>
        <p:nvGraphicFramePr>
          <p:cNvPr id="4" name="Chart 0" descr=""/>
          <p:cNvGraphicFramePr/>
          <p:nvPr/>
        </p:nvGraphicFramePr>
        <p:xfrm>
          <a:off x="566928" y="1417320"/>
          <a:ext cx="5486400" cy="3703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91072" y="1417320"/>
            <a:ext cx="5340096" cy="841248"/>
          </a:xfrm>
          <a:prstGeom prst="roundRect">
            <a:avLst>
              <a:gd name="adj" fmla="val 869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6" name="Shape 3"/>
          <p:cNvSpPr/>
          <p:nvPr/>
        </p:nvSpPr>
        <p:spPr>
          <a:xfrm>
            <a:off x="6473952" y="1627632"/>
            <a:ext cx="384048" cy="384048"/>
          </a:xfrm>
          <a:prstGeom prst="ellipse">
            <a:avLst/>
          </a:prstGeom>
          <a:solidFill>
            <a:srgbClr val="12304F"/>
          </a:solidFill>
          <a:ln w="12700">
            <a:solidFill>
              <a:srgbClr val="12304F"/>
            </a:solidFill>
            <a:prstDash val="solid"/>
          </a:ln>
        </p:spPr>
      </p:sp>
      <p:sp>
        <p:nvSpPr>
          <p:cNvPr id="7" name="Text 4"/>
          <p:cNvSpPr txBox="1"/>
          <p:nvPr/>
        </p:nvSpPr>
        <p:spPr>
          <a:xfrm>
            <a:off x="6473952" y="16276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6967728" y="1508760"/>
            <a:ext cx="452628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One password ruled everything</a:t>
            </a:r>
            <a:endParaRPr lang="en-US" sz="1250" dirty="0"/>
          </a:p>
        </p:txBody>
      </p:sp>
      <p:sp>
        <p:nvSpPr>
          <p:cNvPr id="9" name="Text 6"/>
          <p:cNvSpPr txBox="1"/>
          <p:nvPr/>
        </p:nvSpPr>
        <p:spPr>
          <a:xfrm>
            <a:off x="6967728" y="1764792"/>
            <a:ext cx="4526280" cy="438912"/>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The same password protected Gmail, the router and the Facebook page. It was changed and separated first.</a:t>
            </a:r>
            <a:endParaRPr lang="en-US" sz="1050" dirty="0"/>
          </a:p>
        </p:txBody>
      </p:sp>
      <p:sp>
        <p:nvSpPr>
          <p:cNvPr id="10" name="Shape 7"/>
          <p:cNvSpPr/>
          <p:nvPr/>
        </p:nvSpPr>
        <p:spPr>
          <a:xfrm>
            <a:off x="6291072" y="2368296"/>
            <a:ext cx="5340096" cy="841248"/>
          </a:xfrm>
          <a:prstGeom prst="roundRect">
            <a:avLst>
              <a:gd name="adj" fmla="val 869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1" name="Shape 8"/>
          <p:cNvSpPr/>
          <p:nvPr/>
        </p:nvSpPr>
        <p:spPr>
          <a:xfrm>
            <a:off x="6473952" y="2578608"/>
            <a:ext cx="384048" cy="384048"/>
          </a:xfrm>
          <a:prstGeom prst="ellipse">
            <a:avLst/>
          </a:prstGeom>
          <a:solidFill>
            <a:srgbClr val="12304F"/>
          </a:solidFill>
          <a:ln w="12700">
            <a:solidFill>
              <a:srgbClr val="12304F"/>
            </a:solidFill>
            <a:prstDash val="solid"/>
          </a:ln>
        </p:spPr>
      </p:sp>
      <p:sp>
        <p:nvSpPr>
          <p:cNvPr id="12" name="Text 9"/>
          <p:cNvSpPr txBox="1"/>
          <p:nvPr/>
        </p:nvSpPr>
        <p:spPr>
          <a:xfrm>
            <a:off x="6473952" y="2578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6967728" y="2459736"/>
            <a:ext cx="452628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MFA was available and unused</a:t>
            </a:r>
            <a:endParaRPr lang="en-US" sz="1250" dirty="0"/>
          </a:p>
        </p:txBody>
      </p:sp>
      <p:sp>
        <p:nvSpPr>
          <p:cNvPr id="14" name="Text 11"/>
          <p:cNvSpPr txBox="1"/>
          <p:nvPr/>
        </p:nvSpPr>
        <p:spPr>
          <a:xfrm>
            <a:off x="6967728" y="2715768"/>
            <a:ext cx="4526280" cy="438912"/>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Gmail, Facebook, WhatsApp and the bank all offer free MFA. It was switched on for eight accounts in one afternoon.</a:t>
            </a:r>
            <a:endParaRPr lang="en-US" sz="1050" dirty="0"/>
          </a:p>
        </p:txBody>
      </p:sp>
      <p:sp>
        <p:nvSpPr>
          <p:cNvPr id="15" name="Shape 12"/>
          <p:cNvSpPr/>
          <p:nvPr/>
        </p:nvSpPr>
        <p:spPr>
          <a:xfrm>
            <a:off x="6291072" y="3319272"/>
            <a:ext cx="5340096" cy="841248"/>
          </a:xfrm>
          <a:prstGeom prst="roundRect">
            <a:avLst>
              <a:gd name="adj" fmla="val 869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6" name="Shape 13"/>
          <p:cNvSpPr/>
          <p:nvPr/>
        </p:nvSpPr>
        <p:spPr>
          <a:xfrm>
            <a:off x="6473952" y="3529584"/>
            <a:ext cx="384048" cy="384048"/>
          </a:xfrm>
          <a:prstGeom prst="ellipse">
            <a:avLst/>
          </a:prstGeom>
          <a:solidFill>
            <a:srgbClr val="12304F"/>
          </a:solidFill>
          <a:ln w="12700">
            <a:solidFill>
              <a:srgbClr val="12304F"/>
            </a:solidFill>
            <a:prstDash val="solid"/>
          </a:ln>
        </p:spPr>
      </p:sp>
      <p:sp>
        <p:nvSpPr>
          <p:cNvPr id="17" name="Text 14"/>
          <p:cNvSpPr txBox="1"/>
          <p:nvPr/>
        </p:nvSpPr>
        <p:spPr>
          <a:xfrm>
            <a:off x="6473952" y="35295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txBox="1"/>
          <p:nvPr/>
        </p:nvSpPr>
        <p:spPr>
          <a:xfrm>
            <a:off x="6967728" y="3410712"/>
            <a:ext cx="452628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Recovery details were stale</a:t>
            </a:r>
            <a:endParaRPr lang="en-US" sz="1250" dirty="0"/>
          </a:p>
        </p:txBody>
      </p:sp>
      <p:sp>
        <p:nvSpPr>
          <p:cNvPr id="19" name="Text 16"/>
          <p:cNvSpPr txBox="1"/>
          <p:nvPr/>
        </p:nvSpPr>
        <p:spPr>
          <a:xfrm>
            <a:off x="6967728" y="3666744"/>
            <a:ext cx="4526280" cy="438912"/>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Gmail recovery pointed to a phone number the MD no longer uses — an account takeover waiting to happen.</a:t>
            </a:r>
            <a:endParaRPr lang="en-US" sz="1050" dirty="0"/>
          </a:p>
        </p:txBody>
      </p:sp>
      <p:sp>
        <p:nvSpPr>
          <p:cNvPr id="20" name="Shape 17"/>
          <p:cNvSpPr/>
          <p:nvPr/>
        </p:nvSpPr>
        <p:spPr>
          <a:xfrm>
            <a:off x="6291072" y="4270248"/>
            <a:ext cx="5340096" cy="841248"/>
          </a:xfrm>
          <a:prstGeom prst="roundRect">
            <a:avLst>
              <a:gd name="adj" fmla="val 869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1" name="Shape 18"/>
          <p:cNvSpPr/>
          <p:nvPr/>
        </p:nvSpPr>
        <p:spPr>
          <a:xfrm>
            <a:off x="6473952" y="4480560"/>
            <a:ext cx="384048" cy="384048"/>
          </a:xfrm>
          <a:prstGeom prst="ellipse">
            <a:avLst/>
          </a:prstGeom>
          <a:solidFill>
            <a:srgbClr val="12304F"/>
          </a:solidFill>
          <a:ln w="12700">
            <a:solidFill>
              <a:srgbClr val="12304F"/>
            </a:solidFill>
            <a:prstDash val="solid"/>
          </a:ln>
        </p:spPr>
      </p:sp>
      <p:sp>
        <p:nvSpPr>
          <p:cNvPr id="22" name="Text 19"/>
          <p:cNvSpPr txBox="1"/>
          <p:nvPr/>
        </p:nvSpPr>
        <p:spPr>
          <a:xfrm>
            <a:off x="6473952" y="44805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0"/>
          <p:cNvSpPr txBox="1"/>
          <p:nvPr/>
        </p:nvSpPr>
        <p:spPr>
          <a:xfrm>
            <a:off x="6967728" y="4361688"/>
            <a:ext cx="452628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No password manager</a:t>
            </a:r>
            <a:endParaRPr lang="en-US" sz="1250" dirty="0"/>
          </a:p>
        </p:txBody>
      </p:sp>
      <p:sp>
        <p:nvSpPr>
          <p:cNvPr id="24" name="Text 21"/>
          <p:cNvSpPr txBox="1"/>
          <p:nvPr/>
        </p:nvSpPr>
        <p:spPr>
          <a:xfrm>
            <a:off x="6967728" y="4617720"/>
            <a:ext cx="4526280" cy="438912"/>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Passwords were kept in a notebook under the counter. A free password manager was installed for the MD and manager.</a:t>
            </a:r>
            <a:endParaRPr lang="en-US" sz="1050" dirty="0"/>
          </a:p>
        </p:txBody>
      </p:sp>
      <p:sp>
        <p:nvSpPr>
          <p:cNvPr id="25" name="Text 2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Cost of every fix on this slide: ₦0. Time taken: one afternoon. This is the single best value/effort ratio in the whole project.</a:t>
            </a:r>
            <a:endParaRPr lang="en-US" sz="1150" dirty="0"/>
          </a:p>
        </p:txBody>
      </p:sp>
      <p:sp>
        <p:nvSpPr>
          <p:cNvPr id="27" name="Text 2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2 — TASK 5</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CalebTech Account Security Standard</a:t>
            </a:r>
            <a:endParaRPr lang="en-US" sz="3000" dirty="0"/>
          </a:p>
        </p:txBody>
      </p:sp>
      <p:sp>
        <p:nvSpPr>
          <p:cNvPr id="4" name="Text 2"/>
          <p:cNvSpPr txBox="1"/>
          <p:nvPr/>
        </p:nvSpPr>
        <p:spPr>
          <a:xfrm>
            <a:off x="566928" y="1261872"/>
            <a:ext cx="11064240" cy="329184"/>
          </a:xfrm>
          <a:prstGeom prst="rect">
            <a:avLst/>
          </a:prstGeom>
          <a:noFill/>
          <a:ln/>
        </p:spPr>
        <p:txBody>
          <a:bodyPr wrap="square" lIns="0" tIns="0" rIns="0" bIns="0" rtlCol="0" anchor="ctr"/>
          <a:lstStyle/>
          <a:p>
            <a:pPr indent="0" marL="0">
              <a:buNone/>
            </a:pPr>
            <a:r>
              <a:rPr lang="en-US" sz="1300" dirty="0">
                <a:solidFill>
                  <a:srgbClr val="5E7183"/>
                </a:solidFill>
                <a:latin typeface="Calibri" pitchFamily="34" charset="0"/>
                <a:ea typeface="Calibri" pitchFamily="34" charset="-122"/>
                <a:cs typeface="Calibri" pitchFamily="34" charset="-120"/>
              </a:rPr>
              <a:t>A one-page rule sheet, written in plain language, signed by every member of staff and pinned in the back office.</a:t>
            </a:r>
            <a:endParaRPr lang="en-US" sz="1300" dirty="0"/>
          </a:p>
        </p:txBody>
      </p:sp>
      <p:sp>
        <p:nvSpPr>
          <p:cNvPr id="5" name="Shape 3"/>
          <p:cNvSpPr/>
          <p:nvPr/>
        </p:nvSpPr>
        <p:spPr>
          <a:xfrm>
            <a:off x="566928" y="1719072"/>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6" name="Shape 4"/>
          <p:cNvSpPr/>
          <p:nvPr/>
        </p:nvSpPr>
        <p:spPr>
          <a:xfrm>
            <a:off x="786384" y="1984248"/>
            <a:ext cx="402336" cy="402336"/>
          </a:xfrm>
          <a:prstGeom prst="ellipse">
            <a:avLst/>
          </a:prstGeom>
          <a:solidFill>
            <a:srgbClr val="12304F"/>
          </a:solidFill>
          <a:ln w="12700">
            <a:solidFill>
              <a:srgbClr val="12304F"/>
            </a:solidFill>
            <a:prstDash val="solid"/>
          </a:ln>
        </p:spPr>
      </p:sp>
      <p:sp>
        <p:nvSpPr>
          <p:cNvPr id="7" name="Text 5"/>
          <p:cNvSpPr txBox="1"/>
          <p:nvPr/>
        </p:nvSpPr>
        <p:spPr>
          <a:xfrm>
            <a:off x="786384" y="19842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98448" y="1828800"/>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Every account has one owner</a:t>
            </a:r>
            <a:endParaRPr lang="en-US" sz="1250" dirty="0"/>
          </a:p>
        </p:txBody>
      </p:sp>
      <p:sp>
        <p:nvSpPr>
          <p:cNvPr id="9" name="Text 7"/>
          <p:cNvSpPr txBox="1"/>
          <p:nvPr/>
        </p:nvSpPr>
        <p:spPr>
          <a:xfrm>
            <a:off x="1298448" y="2103120"/>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Each system has one named person responsible for it. No account belongs to 'the shop'.</a:t>
            </a:r>
            <a:endParaRPr lang="en-US" sz="1050" dirty="0"/>
          </a:p>
        </p:txBody>
      </p:sp>
      <p:sp>
        <p:nvSpPr>
          <p:cNvPr id="10" name="Shape 8"/>
          <p:cNvSpPr/>
          <p:nvPr/>
        </p:nvSpPr>
        <p:spPr>
          <a:xfrm>
            <a:off x="6345936" y="1719072"/>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1" name="Shape 9"/>
          <p:cNvSpPr/>
          <p:nvPr/>
        </p:nvSpPr>
        <p:spPr>
          <a:xfrm>
            <a:off x="6565392" y="1984248"/>
            <a:ext cx="402336" cy="402336"/>
          </a:xfrm>
          <a:prstGeom prst="ellipse">
            <a:avLst/>
          </a:prstGeom>
          <a:solidFill>
            <a:srgbClr val="2E5266"/>
          </a:solidFill>
          <a:ln w="12700">
            <a:solidFill>
              <a:srgbClr val="2E5266"/>
            </a:solidFill>
            <a:prstDash val="solid"/>
          </a:ln>
        </p:spPr>
      </p:sp>
      <p:sp>
        <p:nvSpPr>
          <p:cNvPr id="12" name="Text 10"/>
          <p:cNvSpPr txBox="1"/>
          <p:nvPr/>
        </p:nvSpPr>
        <p:spPr>
          <a:xfrm>
            <a:off x="6565392" y="198424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077456" y="1828800"/>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One password, one account</a:t>
            </a:r>
            <a:endParaRPr lang="en-US" sz="1250" dirty="0"/>
          </a:p>
        </p:txBody>
      </p:sp>
      <p:sp>
        <p:nvSpPr>
          <p:cNvPr id="14" name="Text 12"/>
          <p:cNvSpPr txBox="1"/>
          <p:nvPr/>
        </p:nvSpPr>
        <p:spPr>
          <a:xfrm>
            <a:off x="7077456" y="2103120"/>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Passwords are never reused across systems, and never shared by WhatsApp or written on the counter notebook.</a:t>
            </a:r>
            <a:endParaRPr lang="en-US" sz="1050" dirty="0"/>
          </a:p>
        </p:txBody>
      </p:sp>
      <p:sp>
        <p:nvSpPr>
          <p:cNvPr id="15" name="Shape 13"/>
          <p:cNvSpPr/>
          <p:nvPr/>
        </p:nvSpPr>
        <p:spPr>
          <a:xfrm>
            <a:off x="566928" y="2779776"/>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6" name="Shape 14"/>
          <p:cNvSpPr/>
          <p:nvPr/>
        </p:nvSpPr>
        <p:spPr>
          <a:xfrm>
            <a:off x="786384" y="3044952"/>
            <a:ext cx="402336" cy="402336"/>
          </a:xfrm>
          <a:prstGeom prst="ellipse">
            <a:avLst/>
          </a:prstGeom>
          <a:solidFill>
            <a:srgbClr val="12304F"/>
          </a:solidFill>
          <a:ln w="12700">
            <a:solidFill>
              <a:srgbClr val="12304F"/>
            </a:solidFill>
            <a:prstDash val="solid"/>
          </a:ln>
        </p:spPr>
      </p:sp>
      <p:sp>
        <p:nvSpPr>
          <p:cNvPr id="17" name="Text 15"/>
          <p:cNvSpPr txBox="1"/>
          <p:nvPr/>
        </p:nvSpPr>
        <p:spPr>
          <a:xfrm>
            <a:off x="786384" y="304495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98448" y="2889504"/>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MFA on everything that offers it</a:t>
            </a:r>
            <a:endParaRPr lang="en-US" sz="1250" dirty="0"/>
          </a:p>
        </p:txBody>
      </p:sp>
      <p:sp>
        <p:nvSpPr>
          <p:cNvPr id="19" name="Text 17"/>
          <p:cNvSpPr txBox="1"/>
          <p:nvPr/>
        </p:nvSpPr>
        <p:spPr>
          <a:xfrm>
            <a:off x="1298448" y="3163824"/>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Email, banking, social media and WhatsApp must have multi-factor authentication switched on.</a:t>
            </a:r>
            <a:endParaRPr lang="en-US" sz="1050" dirty="0"/>
          </a:p>
        </p:txBody>
      </p:sp>
      <p:sp>
        <p:nvSpPr>
          <p:cNvPr id="20" name="Shape 18"/>
          <p:cNvSpPr/>
          <p:nvPr/>
        </p:nvSpPr>
        <p:spPr>
          <a:xfrm>
            <a:off x="6345936" y="2779776"/>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1" name="Shape 19"/>
          <p:cNvSpPr/>
          <p:nvPr/>
        </p:nvSpPr>
        <p:spPr>
          <a:xfrm>
            <a:off x="6565392" y="3044952"/>
            <a:ext cx="402336" cy="402336"/>
          </a:xfrm>
          <a:prstGeom prst="ellipse">
            <a:avLst/>
          </a:prstGeom>
          <a:solidFill>
            <a:srgbClr val="2E5266"/>
          </a:solidFill>
          <a:ln w="12700">
            <a:solidFill>
              <a:srgbClr val="2E5266"/>
            </a:solidFill>
            <a:prstDash val="solid"/>
          </a:ln>
        </p:spPr>
      </p:sp>
      <p:sp>
        <p:nvSpPr>
          <p:cNvPr id="22" name="Text 20"/>
          <p:cNvSpPr txBox="1"/>
          <p:nvPr/>
        </p:nvSpPr>
        <p:spPr>
          <a:xfrm>
            <a:off x="6565392" y="304495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7077456" y="2889504"/>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Passphrases, not passwords</a:t>
            </a:r>
            <a:endParaRPr lang="en-US" sz="1250" dirty="0"/>
          </a:p>
        </p:txBody>
      </p:sp>
      <p:sp>
        <p:nvSpPr>
          <p:cNvPr id="24" name="Text 22"/>
          <p:cNvSpPr txBox="1"/>
          <p:nvPr/>
        </p:nvSpPr>
        <p:spPr>
          <a:xfrm>
            <a:off x="7077456" y="3163824"/>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At least 12 characters — three unrelated words are easier to remember and harder to guess.</a:t>
            </a:r>
            <a:endParaRPr lang="en-US" sz="1050" dirty="0"/>
          </a:p>
        </p:txBody>
      </p:sp>
      <p:sp>
        <p:nvSpPr>
          <p:cNvPr id="25" name="Shape 23"/>
          <p:cNvSpPr/>
          <p:nvPr/>
        </p:nvSpPr>
        <p:spPr>
          <a:xfrm>
            <a:off x="566928" y="3840480"/>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6" name="Shape 24"/>
          <p:cNvSpPr/>
          <p:nvPr/>
        </p:nvSpPr>
        <p:spPr>
          <a:xfrm>
            <a:off x="786384" y="4105656"/>
            <a:ext cx="402336" cy="402336"/>
          </a:xfrm>
          <a:prstGeom prst="ellipse">
            <a:avLst/>
          </a:prstGeom>
          <a:solidFill>
            <a:srgbClr val="12304F"/>
          </a:solidFill>
          <a:ln w="12700">
            <a:solidFill>
              <a:srgbClr val="12304F"/>
            </a:solidFill>
            <a:prstDash val="solid"/>
          </a:ln>
        </p:spPr>
      </p:sp>
      <p:sp>
        <p:nvSpPr>
          <p:cNvPr id="27" name="Text 25"/>
          <p:cNvSpPr txBox="1"/>
          <p:nvPr/>
        </p:nvSpPr>
        <p:spPr>
          <a:xfrm>
            <a:off x="786384" y="41056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298448" y="3950208"/>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Least privilege by default</a:t>
            </a:r>
            <a:endParaRPr lang="en-US" sz="1250" dirty="0"/>
          </a:p>
        </p:txBody>
      </p:sp>
      <p:sp>
        <p:nvSpPr>
          <p:cNvPr id="29" name="Text 27"/>
          <p:cNvSpPr txBox="1"/>
          <p:nvPr/>
        </p:nvSpPr>
        <p:spPr>
          <a:xfrm>
            <a:off x="1298448" y="4224528"/>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Staff get the minimum access their job needs. Extra access is requested, approved and recorded.</a:t>
            </a:r>
            <a:endParaRPr lang="en-US" sz="1050" dirty="0"/>
          </a:p>
        </p:txBody>
      </p:sp>
      <p:sp>
        <p:nvSpPr>
          <p:cNvPr id="30" name="Shape 28"/>
          <p:cNvSpPr/>
          <p:nvPr/>
        </p:nvSpPr>
        <p:spPr>
          <a:xfrm>
            <a:off x="6345936" y="3840480"/>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1" name="Shape 29"/>
          <p:cNvSpPr/>
          <p:nvPr/>
        </p:nvSpPr>
        <p:spPr>
          <a:xfrm>
            <a:off x="6565392" y="4105656"/>
            <a:ext cx="402336" cy="402336"/>
          </a:xfrm>
          <a:prstGeom prst="ellipse">
            <a:avLst/>
          </a:prstGeom>
          <a:solidFill>
            <a:srgbClr val="2E5266"/>
          </a:solidFill>
          <a:ln w="12700">
            <a:solidFill>
              <a:srgbClr val="2E5266"/>
            </a:solidFill>
            <a:prstDash val="solid"/>
          </a:ln>
        </p:spPr>
      </p:sp>
      <p:sp>
        <p:nvSpPr>
          <p:cNvPr id="32" name="Text 30"/>
          <p:cNvSpPr txBox="1"/>
          <p:nvPr/>
        </p:nvSpPr>
        <p:spPr>
          <a:xfrm>
            <a:off x="6565392" y="41056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7077456" y="3950208"/>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Same-day leaver process</a:t>
            </a:r>
            <a:endParaRPr lang="en-US" sz="1250" dirty="0"/>
          </a:p>
        </p:txBody>
      </p:sp>
      <p:sp>
        <p:nvSpPr>
          <p:cNvPr id="34" name="Text 32"/>
          <p:cNvSpPr txBox="1"/>
          <p:nvPr/>
        </p:nvSpPr>
        <p:spPr>
          <a:xfrm>
            <a:off x="7077456" y="4224528"/>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When anyone leaves, their access is removed and shared passwords are changed before close of business.</a:t>
            </a:r>
            <a:endParaRPr lang="en-US" sz="1050" dirty="0"/>
          </a:p>
        </p:txBody>
      </p:sp>
      <p:sp>
        <p:nvSpPr>
          <p:cNvPr id="35" name="Shape 33"/>
          <p:cNvSpPr/>
          <p:nvPr/>
        </p:nvSpPr>
        <p:spPr>
          <a:xfrm>
            <a:off x="566928" y="4901184"/>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6" name="Shape 34"/>
          <p:cNvSpPr/>
          <p:nvPr/>
        </p:nvSpPr>
        <p:spPr>
          <a:xfrm>
            <a:off x="786384" y="5166360"/>
            <a:ext cx="402336" cy="402336"/>
          </a:xfrm>
          <a:prstGeom prst="ellipse">
            <a:avLst/>
          </a:prstGeom>
          <a:solidFill>
            <a:srgbClr val="12304F"/>
          </a:solidFill>
          <a:ln w="12700">
            <a:solidFill>
              <a:srgbClr val="12304F"/>
            </a:solidFill>
            <a:prstDash val="solid"/>
          </a:ln>
        </p:spPr>
      </p:sp>
      <p:sp>
        <p:nvSpPr>
          <p:cNvPr id="37" name="Text 35"/>
          <p:cNvSpPr txBox="1"/>
          <p:nvPr/>
        </p:nvSpPr>
        <p:spPr>
          <a:xfrm>
            <a:off x="786384" y="51663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1298448" y="5010912"/>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Recovery details stay current</a:t>
            </a:r>
            <a:endParaRPr lang="en-US" sz="1250" dirty="0"/>
          </a:p>
        </p:txBody>
      </p:sp>
      <p:sp>
        <p:nvSpPr>
          <p:cNvPr id="39" name="Text 37"/>
          <p:cNvSpPr txBox="1"/>
          <p:nvPr/>
        </p:nvSpPr>
        <p:spPr>
          <a:xfrm>
            <a:off x="1298448" y="5285232"/>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Recovery phone and email are checked every quarter by the MD.</a:t>
            </a:r>
            <a:endParaRPr lang="en-US" sz="1050" dirty="0"/>
          </a:p>
        </p:txBody>
      </p:sp>
      <p:sp>
        <p:nvSpPr>
          <p:cNvPr id="40" name="Shape 38"/>
          <p:cNvSpPr/>
          <p:nvPr/>
        </p:nvSpPr>
        <p:spPr>
          <a:xfrm>
            <a:off x="6345936" y="4901184"/>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41" name="Shape 39"/>
          <p:cNvSpPr/>
          <p:nvPr/>
        </p:nvSpPr>
        <p:spPr>
          <a:xfrm>
            <a:off x="6565392" y="5166360"/>
            <a:ext cx="402336" cy="402336"/>
          </a:xfrm>
          <a:prstGeom prst="ellipse">
            <a:avLst/>
          </a:prstGeom>
          <a:solidFill>
            <a:srgbClr val="2E5266"/>
          </a:solidFill>
          <a:ln w="12700">
            <a:solidFill>
              <a:srgbClr val="2E5266"/>
            </a:solidFill>
            <a:prstDash val="solid"/>
          </a:ln>
        </p:spPr>
      </p:sp>
      <p:sp>
        <p:nvSpPr>
          <p:cNvPr id="42" name="Text 40"/>
          <p:cNvSpPr txBox="1"/>
          <p:nvPr/>
        </p:nvSpPr>
        <p:spPr>
          <a:xfrm>
            <a:off x="6565392" y="51663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txBox="1"/>
          <p:nvPr/>
        </p:nvSpPr>
        <p:spPr>
          <a:xfrm>
            <a:off x="7077456" y="5010912"/>
            <a:ext cx="4709160" cy="292608"/>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Quarterly access review</a:t>
            </a:r>
            <a:endParaRPr lang="en-US" sz="1250" dirty="0"/>
          </a:p>
        </p:txBody>
      </p:sp>
      <p:sp>
        <p:nvSpPr>
          <p:cNvPr id="44" name="Text 42"/>
          <p:cNvSpPr txBox="1"/>
          <p:nvPr/>
        </p:nvSpPr>
        <p:spPr>
          <a:xfrm>
            <a:off x="7077456" y="5285232"/>
            <a:ext cx="4709160" cy="475488"/>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The manager and MD re-read this matrix every three months and remove what is no longer needed.</a:t>
            </a:r>
            <a:endParaRPr lang="en-US" sz="1050" dirty="0"/>
          </a:p>
        </p:txBody>
      </p:sp>
      <p:sp>
        <p:nvSpPr>
          <p:cNvPr id="46" name="Text 4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9509760" y="822960"/>
            <a:ext cx="5120640" cy="5120640"/>
          </a:xfrm>
          <a:prstGeom prst="ellipse">
            <a:avLst/>
          </a:prstGeom>
          <a:solidFill>
            <a:srgbClr val="12304F"/>
          </a:solidFill>
          <a:ln w="12700">
            <a:solidFill>
              <a:srgbClr val="12304F"/>
            </a:solidFill>
            <a:prstDash val="solid"/>
          </a:ln>
        </p:spPr>
      </p:sp>
      <p:sp>
        <p:nvSpPr>
          <p:cNvPr id="3" name="Text 1"/>
          <p:cNvSpPr txBox="1"/>
          <p:nvPr/>
        </p:nvSpPr>
        <p:spPr>
          <a:xfrm>
            <a:off x="822960" y="1828800"/>
            <a:ext cx="54864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WEEK 3</a:t>
            </a:r>
            <a:endParaRPr lang="en-US" sz="1300" dirty="0"/>
          </a:p>
        </p:txBody>
      </p:sp>
      <p:sp>
        <p:nvSpPr>
          <p:cNvPr id="4" name="Text 2"/>
          <p:cNvSpPr txBox="1"/>
          <p:nvPr/>
        </p:nvSpPr>
        <p:spPr>
          <a:xfrm>
            <a:off x="786384" y="2212848"/>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Phishing Awareness Kit</a:t>
            </a:r>
            <a:endParaRPr lang="en-US" sz="4000" dirty="0"/>
          </a:p>
        </p:txBody>
      </p:sp>
      <p:sp>
        <p:nvSpPr>
          <p:cNvPr id="5" name="Text 3"/>
          <p:cNvSpPr txBox="1"/>
          <p:nvPr/>
        </p:nvSpPr>
        <p:spPr>
          <a:xfrm>
            <a:off x="822960" y="3246120"/>
            <a:ext cx="7498080" cy="731520"/>
          </a:xfrm>
          <a:prstGeom prst="rect">
            <a:avLst/>
          </a:prstGeom>
          <a:noFill/>
          <a:ln/>
        </p:spPr>
        <p:txBody>
          <a:bodyPr wrap="square" lIns="0" tIns="0" rIns="0" bIns="0" rtlCol="0" anchor="ctr"/>
          <a:lstStyle/>
          <a:p>
            <a:pPr indent="0" marL="0">
              <a:buNone/>
            </a:pPr>
            <a:r>
              <a:rPr lang="en-US" sz="1500" dirty="0">
                <a:solidFill>
                  <a:srgbClr val="C6D6E4"/>
                </a:solidFill>
                <a:latin typeface="Calibri" pitchFamily="34" charset="0"/>
                <a:ea typeface="Calibri" pitchFamily="34" charset="-122"/>
                <a:cs typeface="Calibri" pitchFamily="34" charset="-120"/>
              </a:rPr>
              <a:t>Teach nine busy people to recognise and safely report suspicious messages — in under ten minutes of training.</a:t>
            </a:r>
            <a:endParaRPr lang="en-US" sz="1500" dirty="0"/>
          </a:p>
        </p:txBody>
      </p:sp>
      <p:sp>
        <p:nvSpPr>
          <p:cNvPr id="6" name="Text 4"/>
          <p:cNvSpPr txBox="1"/>
          <p:nvPr/>
        </p:nvSpPr>
        <p:spPr>
          <a:xfrm>
            <a:off x="822960" y="4160520"/>
            <a:ext cx="2743200" cy="256032"/>
          </a:xfrm>
          <a:prstGeom prst="rect">
            <a:avLst/>
          </a:prstGeom>
          <a:noFill/>
          <a:ln/>
        </p:spPr>
        <p:txBody>
          <a:bodyPr wrap="square" lIns="0" tIns="0" rIns="0" bIns="0" rtlCol="0" anchor="ctr"/>
          <a:lstStyle/>
          <a:p>
            <a:pPr indent="0" marL="0">
              <a:buNone/>
            </a:pPr>
            <a:r>
              <a:rPr lang="en-US" sz="1050" b="1" spc="200" kern="0" dirty="0">
                <a:solidFill>
                  <a:srgbClr val="7E99B2"/>
                </a:solidFill>
                <a:latin typeface="Calibri" pitchFamily="34" charset="0"/>
                <a:ea typeface="Calibri" pitchFamily="34" charset="-122"/>
                <a:cs typeface="Calibri" pitchFamily="34" charset="-120"/>
              </a:rPr>
              <a:t>OUTPUT</a:t>
            </a:r>
            <a:endParaRPr lang="en-US" sz="1050" dirty="0"/>
          </a:p>
        </p:txBody>
      </p:sp>
      <p:sp>
        <p:nvSpPr>
          <p:cNvPr id="7" name="Shape 5"/>
          <p:cNvSpPr/>
          <p:nvPr/>
        </p:nvSpPr>
        <p:spPr>
          <a:xfrm>
            <a:off x="822960" y="4480560"/>
            <a:ext cx="2834640" cy="475488"/>
          </a:xfrm>
          <a:prstGeom prst="roundRect">
            <a:avLst>
              <a:gd name="adj" fmla="val 19231"/>
            </a:avLst>
          </a:prstGeom>
          <a:solidFill>
            <a:srgbClr val="16395C"/>
          </a:solidFill>
          <a:ln w="12700">
            <a:solidFill>
              <a:srgbClr val="2A5580"/>
            </a:solidFill>
            <a:prstDash val="solid"/>
          </a:ln>
        </p:spPr>
      </p:sp>
      <p:sp>
        <p:nvSpPr>
          <p:cNvPr id="8" name="Text 6"/>
          <p:cNvSpPr txBox="1"/>
          <p:nvPr/>
        </p:nvSpPr>
        <p:spPr>
          <a:xfrm>
            <a:off x="82296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Awareness Poster</a:t>
            </a:r>
            <a:endParaRPr lang="en-US" sz="1150" dirty="0"/>
          </a:p>
        </p:txBody>
      </p:sp>
      <p:sp>
        <p:nvSpPr>
          <p:cNvPr id="9" name="Shape 7"/>
          <p:cNvSpPr/>
          <p:nvPr/>
        </p:nvSpPr>
        <p:spPr>
          <a:xfrm>
            <a:off x="3840480" y="4480560"/>
            <a:ext cx="2834640" cy="475488"/>
          </a:xfrm>
          <a:prstGeom prst="roundRect">
            <a:avLst>
              <a:gd name="adj" fmla="val 19231"/>
            </a:avLst>
          </a:prstGeom>
          <a:solidFill>
            <a:srgbClr val="16395C"/>
          </a:solidFill>
          <a:ln w="12700">
            <a:solidFill>
              <a:srgbClr val="2A5580"/>
            </a:solidFill>
            <a:prstDash val="solid"/>
          </a:ln>
        </p:spPr>
      </p:sp>
      <p:sp>
        <p:nvSpPr>
          <p:cNvPr id="10" name="Text 8"/>
          <p:cNvSpPr txBox="1"/>
          <p:nvPr/>
        </p:nvSpPr>
        <p:spPr>
          <a:xfrm>
            <a:off x="384048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Quiz</a:t>
            </a:r>
            <a:endParaRPr lang="en-US" sz="1150" dirty="0"/>
          </a:p>
        </p:txBody>
      </p:sp>
      <p:sp>
        <p:nvSpPr>
          <p:cNvPr id="11" name="Shape 9"/>
          <p:cNvSpPr/>
          <p:nvPr/>
        </p:nvSpPr>
        <p:spPr>
          <a:xfrm>
            <a:off x="6858000" y="4480560"/>
            <a:ext cx="2834640" cy="475488"/>
          </a:xfrm>
          <a:prstGeom prst="roundRect">
            <a:avLst>
              <a:gd name="adj" fmla="val 19231"/>
            </a:avLst>
          </a:prstGeom>
          <a:solidFill>
            <a:srgbClr val="16395C"/>
          </a:solidFill>
          <a:ln w="12700">
            <a:solidFill>
              <a:srgbClr val="2A5580"/>
            </a:solidFill>
            <a:prstDash val="solid"/>
          </a:ln>
        </p:spPr>
      </p:sp>
      <p:sp>
        <p:nvSpPr>
          <p:cNvPr id="12" name="Text 10"/>
          <p:cNvSpPr txBox="1"/>
          <p:nvPr/>
        </p:nvSpPr>
        <p:spPr>
          <a:xfrm>
            <a:off x="685800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Reporting Guide</a:t>
            </a:r>
            <a:endParaRPr lang="en-US" sz="1150" dirty="0"/>
          </a:p>
        </p:txBody>
      </p:sp>
      <p:sp>
        <p:nvSpPr>
          <p:cNvPr id="14" name="Text 11"/>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3 — TASK 1</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Three Harmless Sample Messages</a:t>
            </a:r>
            <a:endParaRPr lang="en-US" sz="3000" dirty="0"/>
          </a:p>
        </p:txBody>
      </p:sp>
      <p:sp>
        <p:nvSpPr>
          <p:cNvPr id="4" name="Shape 2"/>
          <p:cNvSpPr/>
          <p:nvPr/>
        </p:nvSpPr>
        <p:spPr>
          <a:xfrm>
            <a:off x="566928" y="1371600"/>
            <a:ext cx="3529584" cy="416052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804672" y="1591056"/>
            <a:ext cx="1417320" cy="329184"/>
          </a:xfrm>
          <a:prstGeom prst="roundRect">
            <a:avLst>
              <a:gd name="adj" fmla="val 50000"/>
            </a:avLst>
          </a:prstGeom>
          <a:solidFill>
            <a:srgbClr val="2E6B4F"/>
          </a:solidFill>
          <a:ln w="12700">
            <a:solidFill>
              <a:srgbClr val="2E6B4F"/>
            </a:solidFill>
            <a:prstDash val="solid"/>
          </a:ln>
        </p:spPr>
      </p:sp>
      <p:sp>
        <p:nvSpPr>
          <p:cNvPr id="6" name="Text 4"/>
          <p:cNvSpPr txBox="1"/>
          <p:nvPr/>
        </p:nvSpPr>
        <p:spPr>
          <a:xfrm>
            <a:off x="804672" y="1591056"/>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OBVIOUS</a:t>
            </a:r>
            <a:endParaRPr lang="en-US" sz="1050" dirty="0"/>
          </a:p>
        </p:txBody>
      </p:sp>
      <p:sp>
        <p:nvSpPr>
          <p:cNvPr id="7" name="Shape 5"/>
          <p:cNvSpPr/>
          <p:nvPr/>
        </p:nvSpPr>
        <p:spPr>
          <a:xfrm>
            <a:off x="804672" y="2084832"/>
            <a:ext cx="3063240" cy="1691640"/>
          </a:xfrm>
          <a:prstGeom prst="roundRect">
            <a:avLst>
              <a:gd name="adj" fmla="val 3243"/>
            </a:avLst>
          </a:prstGeom>
          <a:solidFill>
            <a:srgbClr val="EDF2F7"/>
          </a:solidFill>
          <a:ln w="12700">
            <a:solidFill>
              <a:srgbClr val="DDE5EC"/>
            </a:solidFill>
            <a:prstDash val="solid"/>
          </a:ln>
        </p:spPr>
      </p:sp>
      <p:sp>
        <p:nvSpPr>
          <p:cNvPr id="8" name="Text 6"/>
          <p:cNvSpPr txBox="1"/>
          <p:nvPr/>
        </p:nvSpPr>
        <p:spPr>
          <a:xfrm>
            <a:off x="950976" y="2176272"/>
            <a:ext cx="2770632" cy="1508760"/>
          </a:xfrm>
          <a:prstGeom prst="rect">
            <a:avLst/>
          </a:prstGeom>
          <a:noFill/>
          <a:ln/>
        </p:spPr>
        <p:txBody>
          <a:bodyPr wrap="square" lIns="0" tIns="0" rIns="0" bIns="0" rtlCol="0" anchor="ctr"/>
          <a:lstStyle/>
          <a:p>
            <a:pPr indent="0" marL="0">
              <a:buNone/>
            </a:pPr>
            <a:r>
              <a:rPr lang="en-US" sz="1100" i="1" dirty="0">
                <a:solidFill>
                  <a:srgbClr val="16232E"/>
                </a:solidFill>
                <a:latin typeface="Calibri" pitchFamily="34" charset="0"/>
                <a:ea typeface="Calibri" pitchFamily="34" charset="-122"/>
                <a:cs typeface="Calibri" pitchFamily="34" charset="-120"/>
              </a:rPr>
              <a:t>"CONGRATULATIONS! Your CalebTech line has won ₦2,000,000 in the MTN loyalty draw. Click bit.ly/claim-ngn now and enter your BVN to receive payment within 24hrs."</a:t>
            </a:r>
            <a:endParaRPr lang="en-US" sz="1100" dirty="0"/>
          </a:p>
        </p:txBody>
      </p:sp>
      <p:sp>
        <p:nvSpPr>
          <p:cNvPr id="9" name="Text 7"/>
          <p:cNvSpPr txBox="1"/>
          <p:nvPr/>
        </p:nvSpPr>
        <p:spPr>
          <a:xfrm>
            <a:off x="804672" y="3931920"/>
            <a:ext cx="3063240" cy="256032"/>
          </a:xfrm>
          <a:prstGeom prst="rect">
            <a:avLst/>
          </a:prstGeom>
          <a:noFill/>
          <a:ln/>
        </p:spPr>
        <p:txBody>
          <a:bodyPr wrap="square" lIns="0" tIns="0" rIns="0" bIns="0" rtlCol="0" anchor="ctr"/>
          <a:lstStyle/>
          <a:p>
            <a:pPr indent="0" marL="0">
              <a:buNone/>
            </a:pPr>
            <a:r>
              <a:rPr lang="en-US" sz="1050" b="1" spc="100" kern="0" dirty="0">
                <a:solidFill>
                  <a:srgbClr val="2E5266"/>
                </a:solidFill>
                <a:latin typeface="Calibri" pitchFamily="34" charset="0"/>
                <a:ea typeface="Calibri" pitchFamily="34" charset="-122"/>
                <a:cs typeface="Calibri" pitchFamily="34" charset="-120"/>
              </a:rPr>
              <a:t>Why it is a fake</a:t>
            </a:r>
            <a:endParaRPr lang="en-US" sz="1050" dirty="0"/>
          </a:p>
        </p:txBody>
      </p:sp>
      <p:sp>
        <p:nvSpPr>
          <p:cNvPr id="10" name="Text 8"/>
          <p:cNvSpPr txBox="1"/>
          <p:nvPr/>
        </p:nvSpPr>
        <p:spPr>
          <a:xfrm>
            <a:off x="804672" y="4206240"/>
            <a:ext cx="3063240" cy="109728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Unknown sender, prize you never entered, shortened link, asks for a BVN. Everything is wrong.</a:t>
            </a:r>
            <a:endParaRPr lang="en-US" sz="1100" dirty="0"/>
          </a:p>
        </p:txBody>
      </p:sp>
      <p:sp>
        <p:nvSpPr>
          <p:cNvPr id="11" name="Shape 9"/>
          <p:cNvSpPr/>
          <p:nvPr/>
        </p:nvSpPr>
        <p:spPr>
          <a:xfrm>
            <a:off x="4297680" y="1371600"/>
            <a:ext cx="3529584" cy="416052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2" name="Shape 10"/>
          <p:cNvSpPr/>
          <p:nvPr/>
        </p:nvSpPr>
        <p:spPr>
          <a:xfrm>
            <a:off x="4535424" y="1591056"/>
            <a:ext cx="1417320" cy="329184"/>
          </a:xfrm>
          <a:prstGeom prst="roundRect">
            <a:avLst>
              <a:gd name="adj" fmla="val 50000"/>
            </a:avLst>
          </a:prstGeom>
          <a:solidFill>
            <a:srgbClr val="C07A16"/>
          </a:solidFill>
          <a:ln w="12700">
            <a:solidFill>
              <a:srgbClr val="C07A16"/>
            </a:solidFill>
            <a:prstDash val="solid"/>
          </a:ln>
        </p:spPr>
      </p:sp>
      <p:sp>
        <p:nvSpPr>
          <p:cNvPr id="13" name="Text 11"/>
          <p:cNvSpPr txBox="1"/>
          <p:nvPr/>
        </p:nvSpPr>
        <p:spPr>
          <a:xfrm>
            <a:off x="4535424" y="1591056"/>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14" name="Shape 12"/>
          <p:cNvSpPr/>
          <p:nvPr/>
        </p:nvSpPr>
        <p:spPr>
          <a:xfrm>
            <a:off x="4535424" y="2084832"/>
            <a:ext cx="3063240" cy="1691640"/>
          </a:xfrm>
          <a:prstGeom prst="roundRect">
            <a:avLst>
              <a:gd name="adj" fmla="val 3243"/>
            </a:avLst>
          </a:prstGeom>
          <a:solidFill>
            <a:srgbClr val="EDF2F7"/>
          </a:solidFill>
          <a:ln w="12700">
            <a:solidFill>
              <a:srgbClr val="DDE5EC"/>
            </a:solidFill>
            <a:prstDash val="solid"/>
          </a:ln>
        </p:spPr>
      </p:sp>
      <p:sp>
        <p:nvSpPr>
          <p:cNvPr id="15" name="Text 13"/>
          <p:cNvSpPr txBox="1"/>
          <p:nvPr/>
        </p:nvSpPr>
        <p:spPr>
          <a:xfrm>
            <a:off x="4681728" y="2176272"/>
            <a:ext cx="2770632" cy="1508760"/>
          </a:xfrm>
          <a:prstGeom prst="rect">
            <a:avLst/>
          </a:prstGeom>
          <a:noFill/>
          <a:ln/>
        </p:spPr>
        <p:txBody>
          <a:bodyPr wrap="square" lIns="0" tIns="0" rIns="0" bIns="0" rtlCol="0" anchor="ctr"/>
          <a:lstStyle/>
          <a:p>
            <a:pPr indent="0" marL="0">
              <a:buNone/>
            </a:pPr>
            <a:r>
              <a:rPr lang="en-US" sz="1100" i="1" dirty="0">
                <a:solidFill>
                  <a:srgbClr val="16232E"/>
                </a:solidFill>
                <a:latin typeface="Calibri" pitchFamily="34" charset="0"/>
                <a:ea typeface="Calibri" pitchFamily="34" charset="-122"/>
                <a:cs typeface="Calibri" pitchFamily="34" charset="-120"/>
              </a:rPr>
              <a:t>"Dear Customer, your Google storage is full and your business email will be deleted in 48 hours. Sign in here to verify: google-verify-account.net"</a:t>
            </a:r>
            <a:endParaRPr lang="en-US" sz="1100" dirty="0"/>
          </a:p>
        </p:txBody>
      </p:sp>
      <p:sp>
        <p:nvSpPr>
          <p:cNvPr id="16" name="Text 14"/>
          <p:cNvSpPr txBox="1"/>
          <p:nvPr/>
        </p:nvSpPr>
        <p:spPr>
          <a:xfrm>
            <a:off x="4535424" y="3931920"/>
            <a:ext cx="3063240" cy="256032"/>
          </a:xfrm>
          <a:prstGeom prst="rect">
            <a:avLst/>
          </a:prstGeom>
          <a:noFill/>
          <a:ln/>
        </p:spPr>
        <p:txBody>
          <a:bodyPr wrap="square" lIns="0" tIns="0" rIns="0" bIns="0" rtlCol="0" anchor="ctr"/>
          <a:lstStyle/>
          <a:p>
            <a:pPr indent="0" marL="0">
              <a:buNone/>
            </a:pPr>
            <a:r>
              <a:rPr lang="en-US" sz="1050" b="1" spc="100" kern="0" dirty="0">
                <a:solidFill>
                  <a:srgbClr val="2E5266"/>
                </a:solidFill>
                <a:latin typeface="Calibri" pitchFamily="34" charset="0"/>
                <a:ea typeface="Calibri" pitchFamily="34" charset="-122"/>
                <a:cs typeface="Calibri" pitchFamily="34" charset="-120"/>
              </a:rPr>
              <a:t>Why it is a fake</a:t>
            </a:r>
            <a:endParaRPr lang="en-US" sz="1050" dirty="0"/>
          </a:p>
        </p:txBody>
      </p:sp>
      <p:sp>
        <p:nvSpPr>
          <p:cNvPr id="17" name="Text 15"/>
          <p:cNvSpPr txBox="1"/>
          <p:nvPr/>
        </p:nvSpPr>
        <p:spPr>
          <a:xfrm>
            <a:off x="4535424" y="4206240"/>
            <a:ext cx="3063240" cy="109728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Real-looking brand and believable story, but the deadline is artificial and the domain is not google.com.</a:t>
            </a:r>
            <a:endParaRPr lang="en-US" sz="1100" dirty="0"/>
          </a:p>
        </p:txBody>
      </p:sp>
      <p:sp>
        <p:nvSpPr>
          <p:cNvPr id="18" name="Shape 16"/>
          <p:cNvSpPr/>
          <p:nvPr/>
        </p:nvSpPr>
        <p:spPr>
          <a:xfrm>
            <a:off x="8028432" y="1371600"/>
            <a:ext cx="3529584" cy="416052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9" name="Shape 17"/>
          <p:cNvSpPr/>
          <p:nvPr/>
        </p:nvSpPr>
        <p:spPr>
          <a:xfrm>
            <a:off x="8266176" y="1591056"/>
            <a:ext cx="1417320" cy="329184"/>
          </a:xfrm>
          <a:prstGeom prst="roundRect">
            <a:avLst>
              <a:gd name="adj" fmla="val 50000"/>
            </a:avLst>
          </a:prstGeom>
          <a:solidFill>
            <a:srgbClr val="A62B22"/>
          </a:solidFill>
          <a:ln w="12700">
            <a:solidFill>
              <a:srgbClr val="A62B22"/>
            </a:solidFill>
            <a:prstDash val="solid"/>
          </a:ln>
        </p:spPr>
      </p:sp>
      <p:sp>
        <p:nvSpPr>
          <p:cNvPr id="20" name="Text 18"/>
          <p:cNvSpPr txBox="1"/>
          <p:nvPr/>
        </p:nvSpPr>
        <p:spPr>
          <a:xfrm>
            <a:off x="8266176" y="1591056"/>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DIFFICULT</a:t>
            </a:r>
            <a:endParaRPr lang="en-US" sz="1050" dirty="0"/>
          </a:p>
        </p:txBody>
      </p:sp>
      <p:sp>
        <p:nvSpPr>
          <p:cNvPr id="21" name="Shape 19"/>
          <p:cNvSpPr/>
          <p:nvPr/>
        </p:nvSpPr>
        <p:spPr>
          <a:xfrm>
            <a:off x="8266176" y="2084832"/>
            <a:ext cx="3063240" cy="1691640"/>
          </a:xfrm>
          <a:prstGeom prst="roundRect">
            <a:avLst>
              <a:gd name="adj" fmla="val 3243"/>
            </a:avLst>
          </a:prstGeom>
          <a:solidFill>
            <a:srgbClr val="EDF2F7"/>
          </a:solidFill>
          <a:ln w="12700">
            <a:solidFill>
              <a:srgbClr val="DDE5EC"/>
            </a:solidFill>
            <a:prstDash val="solid"/>
          </a:ln>
        </p:spPr>
      </p:sp>
      <p:sp>
        <p:nvSpPr>
          <p:cNvPr id="22" name="Text 20"/>
          <p:cNvSpPr txBox="1"/>
          <p:nvPr/>
        </p:nvSpPr>
        <p:spPr>
          <a:xfrm>
            <a:off x="8412480" y="2176272"/>
            <a:ext cx="2770632" cy="1508760"/>
          </a:xfrm>
          <a:prstGeom prst="rect">
            <a:avLst/>
          </a:prstGeom>
          <a:noFill/>
          <a:ln/>
        </p:spPr>
        <p:txBody>
          <a:bodyPr wrap="square" lIns="0" tIns="0" rIns="0" bIns="0" rtlCol="0" anchor="ctr"/>
          <a:lstStyle/>
          <a:p>
            <a:pPr indent="0" marL="0">
              <a:buNone/>
            </a:pPr>
            <a:r>
              <a:rPr lang="en-US" sz="1100" i="1" dirty="0">
                <a:solidFill>
                  <a:srgbClr val="16232E"/>
                </a:solidFill>
                <a:latin typeface="Calibri" pitchFamily="34" charset="0"/>
                <a:ea typeface="Calibri" pitchFamily="34" charset="-122"/>
                <a:cs typeface="Calibri" pitchFamily="34" charset="-120"/>
              </a:rPr>
              <a:t>"Hi Caleb, kindly note our bank details have changed for the outstanding invoice INV-4471. New account attached. Regards, Emeka — Zenith Computers."</a:t>
            </a:r>
            <a:endParaRPr lang="en-US" sz="1100" dirty="0"/>
          </a:p>
        </p:txBody>
      </p:sp>
      <p:sp>
        <p:nvSpPr>
          <p:cNvPr id="23" name="Text 21"/>
          <p:cNvSpPr txBox="1"/>
          <p:nvPr/>
        </p:nvSpPr>
        <p:spPr>
          <a:xfrm>
            <a:off x="8266176" y="3931920"/>
            <a:ext cx="3063240" cy="256032"/>
          </a:xfrm>
          <a:prstGeom prst="rect">
            <a:avLst/>
          </a:prstGeom>
          <a:noFill/>
          <a:ln/>
        </p:spPr>
        <p:txBody>
          <a:bodyPr wrap="square" lIns="0" tIns="0" rIns="0" bIns="0" rtlCol="0" anchor="ctr"/>
          <a:lstStyle/>
          <a:p>
            <a:pPr indent="0" marL="0">
              <a:buNone/>
            </a:pPr>
            <a:r>
              <a:rPr lang="en-US" sz="1050" b="1" spc="100" kern="0" dirty="0">
                <a:solidFill>
                  <a:srgbClr val="2E5266"/>
                </a:solidFill>
                <a:latin typeface="Calibri" pitchFamily="34" charset="0"/>
                <a:ea typeface="Calibri" pitchFamily="34" charset="-122"/>
                <a:cs typeface="Calibri" pitchFamily="34" charset="-120"/>
              </a:rPr>
              <a:t>Why it is a fake</a:t>
            </a:r>
            <a:endParaRPr lang="en-US" sz="1050" dirty="0"/>
          </a:p>
        </p:txBody>
      </p:sp>
      <p:sp>
        <p:nvSpPr>
          <p:cNvPr id="24" name="Text 22"/>
          <p:cNvSpPr txBox="1"/>
          <p:nvPr/>
        </p:nvSpPr>
        <p:spPr>
          <a:xfrm>
            <a:off x="8266176" y="4206240"/>
            <a:ext cx="3063240" cy="109728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Correct supplier, correct invoice number, no links, quiet tone. Only a call-back to a known number catches this one.</a:t>
            </a:r>
            <a:endParaRPr lang="en-US" sz="1100" dirty="0"/>
          </a:p>
        </p:txBody>
      </p:sp>
      <p:sp>
        <p:nvSpPr>
          <p:cNvPr id="25" name="Text 23"/>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All three samples were written by hand for training. No real malicious message, link or attachment was collected, stored or forwarded.</a:t>
            </a:r>
            <a:endParaRPr lang="en-US" sz="1150" dirty="0"/>
          </a:p>
        </p:txBody>
      </p:sp>
      <p:sp>
        <p:nvSpPr>
          <p:cNvPr id="27" name="Text 24"/>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3 — TASK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Six Red Flags Staff Are Trained to Spot</a:t>
            </a:r>
            <a:endParaRPr lang="en-US" sz="3000" dirty="0"/>
          </a:p>
        </p:txBody>
      </p:sp>
      <p:sp>
        <p:nvSpPr>
          <p:cNvPr id="4" name="Shape 2"/>
          <p:cNvSpPr/>
          <p:nvPr/>
        </p:nvSpPr>
        <p:spPr>
          <a:xfrm>
            <a:off x="566928" y="146304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804672" y="1700784"/>
            <a:ext cx="457200" cy="457200"/>
          </a:xfrm>
          <a:prstGeom prst="ellipse">
            <a:avLst/>
          </a:prstGeom>
          <a:solidFill>
            <a:srgbClr val="E8A33D"/>
          </a:solidFill>
          <a:ln w="12700">
            <a:solidFill>
              <a:srgbClr val="E8A33D"/>
            </a:solidFill>
            <a:prstDash val="solid"/>
          </a:ln>
        </p:spPr>
      </p:sp>
      <p:sp>
        <p:nvSpPr>
          <p:cNvPr id="6" name="Text 4"/>
          <p:cNvSpPr txBox="1"/>
          <p:nvPr/>
        </p:nvSpPr>
        <p:spPr>
          <a:xfrm>
            <a:off x="804672" y="17007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804672" y="224028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Urgency and threats</a:t>
            </a:r>
            <a:endParaRPr lang="en-US" sz="1450" dirty="0"/>
          </a:p>
        </p:txBody>
      </p:sp>
      <p:sp>
        <p:nvSpPr>
          <p:cNvPr id="8" name="Text 6"/>
          <p:cNvSpPr txBox="1"/>
          <p:nvPr/>
        </p:nvSpPr>
        <p:spPr>
          <a:xfrm>
            <a:off x="804672" y="254203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"Within 24 hours", "account will be closed", "final warning" — pressure stops people checking.</a:t>
            </a:r>
            <a:endParaRPr lang="en-US" sz="1100" dirty="0"/>
          </a:p>
        </p:txBody>
      </p:sp>
      <p:sp>
        <p:nvSpPr>
          <p:cNvPr id="9" name="Shape 7"/>
          <p:cNvSpPr/>
          <p:nvPr/>
        </p:nvSpPr>
        <p:spPr>
          <a:xfrm>
            <a:off x="4297680" y="146304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0" name="Shape 8"/>
          <p:cNvSpPr/>
          <p:nvPr/>
        </p:nvSpPr>
        <p:spPr>
          <a:xfrm>
            <a:off x="4535424" y="1700784"/>
            <a:ext cx="457200" cy="457200"/>
          </a:xfrm>
          <a:prstGeom prst="ellipse">
            <a:avLst/>
          </a:prstGeom>
          <a:solidFill>
            <a:srgbClr val="E8A33D"/>
          </a:solidFill>
          <a:ln w="12700">
            <a:solidFill>
              <a:srgbClr val="E8A33D"/>
            </a:solidFill>
            <a:prstDash val="solid"/>
          </a:ln>
        </p:spPr>
      </p:sp>
      <p:sp>
        <p:nvSpPr>
          <p:cNvPr id="11" name="Text 9"/>
          <p:cNvSpPr txBox="1"/>
          <p:nvPr/>
        </p:nvSpPr>
        <p:spPr>
          <a:xfrm>
            <a:off x="4535424" y="17007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4535424" y="224028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Sender mismatch</a:t>
            </a:r>
            <a:endParaRPr lang="en-US" sz="1450" dirty="0"/>
          </a:p>
        </p:txBody>
      </p:sp>
      <p:sp>
        <p:nvSpPr>
          <p:cNvPr id="13" name="Text 11"/>
          <p:cNvSpPr txBox="1"/>
          <p:nvPr/>
        </p:nvSpPr>
        <p:spPr>
          <a:xfrm>
            <a:off x="4535424" y="254203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The display name says Zenith Computers; the address is zenith.billing@gmail.com.</a:t>
            </a:r>
            <a:endParaRPr lang="en-US" sz="1100" dirty="0"/>
          </a:p>
        </p:txBody>
      </p:sp>
      <p:sp>
        <p:nvSpPr>
          <p:cNvPr id="14" name="Shape 12"/>
          <p:cNvSpPr/>
          <p:nvPr/>
        </p:nvSpPr>
        <p:spPr>
          <a:xfrm>
            <a:off x="8028432" y="146304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5" name="Shape 13"/>
          <p:cNvSpPr/>
          <p:nvPr/>
        </p:nvSpPr>
        <p:spPr>
          <a:xfrm>
            <a:off x="8266176" y="1700784"/>
            <a:ext cx="457200" cy="457200"/>
          </a:xfrm>
          <a:prstGeom prst="ellipse">
            <a:avLst/>
          </a:prstGeom>
          <a:solidFill>
            <a:srgbClr val="E8A33D"/>
          </a:solidFill>
          <a:ln w="12700">
            <a:solidFill>
              <a:srgbClr val="E8A33D"/>
            </a:solidFill>
            <a:prstDash val="solid"/>
          </a:ln>
        </p:spPr>
      </p:sp>
      <p:sp>
        <p:nvSpPr>
          <p:cNvPr id="16" name="Text 14"/>
          <p:cNvSpPr txBox="1"/>
          <p:nvPr/>
        </p:nvSpPr>
        <p:spPr>
          <a:xfrm>
            <a:off x="8266176" y="17007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8266176" y="224028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Strange links</a:t>
            </a:r>
            <a:endParaRPr lang="en-US" sz="1450" dirty="0"/>
          </a:p>
        </p:txBody>
      </p:sp>
      <p:sp>
        <p:nvSpPr>
          <p:cNvPr id="18" name="Text 16"/>
          <p:cNvSpPr txBox="1"/>
          <p:nvPr/>
        </p:nvSpPr>
        <p:spPr>
          <a:xfrm>
            <a:off x="8266176" y="254203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Hover before clicking. Shortened links and lookalike domains hide the real destination.</a:t>
            </a:r>
            <a:endParaRPr lang="en-US" sz="1100" dirty="0"/>
          </a:p>
        </p:txBody>
      </p:sp>
      <p:sp>
        <p:nvSpPr>
          <p:cNvPr id="19" name="Shape 17"/>
          <p:cNvSpPr/>
          <p:nvPr/>
        </p:nvSpPr>
        <p:spPr>
          <a:xfrm>
            <a:off x="566928" y="356616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0" name="Shape 18"/>
          <p:cNvSpPr/>
          <p:nvPr/>
        </p:nvSpPr>
        <p:spPr>
          <a:xfrm>
            <a:off x="804672" y="3803904"/>
            <a:ext cx="457200" cy="457200"/>
          </a:xfrm>
          <a:prstGeom prst="ellipse">
            <a:avLst/>
          </a:prstGeom>
          <a:solidFill>
            <a:srgbClr val="E8A33D"/>
          </a:solidFill>
          <a:ln w="12700">
            <a:solidFill>
              <a:srgbClr val="E8A33D"/>
            </a:solidFill>
            <a:prstDash val="solid"/>
          </a:ln>
        </p:spPr>
      </p:sp>
      <p:sp>
        <p:nvSpPr>
          <p:cNvPr id="21" name="Text 19"/>
          <p:cNvSpPr txBox="1"/>
          <p:nvPr/>
        </p:nvSpPr>
        <p:spPr>
          <a:xfrm>
            <a:off x="804672" y="3803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804672" y="434340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Money or detail changes</a:t>
            </a:r>
            <a:endParaRPr lang="en-US" sz="1450" dirty="0"/>
          </a:p>
        </p:txBody>
      </p:sp>
      <p:sp>
        <p:nvSpPr>
          <p:cNvPr id="23" name="Text 21"/>
          <p:cNvSpPr txBox="1"/>
          <p:nvPr/>
        </p:nvSpPr>
        <p:spPr>
          <a:xfrm>
            <a:off x="804672" y="464515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Any request to change bank details, pay urgently or buy vouchers is treated as fraud until proven otherwise.</a:t>
            </a:r>
            <a:endParaRPr lang="en-US" sz="1100" dirty="0"/>
          </a:p>
        </p:txBody>
      </p:sp>
      <p:sp>
        <p:nvSpPr>
          <p:cNvPr id="24" name="Shape 22"/>
          <p:cNvSpPr/>
          <p:nvPr/>
        </p:nvSpPr>
        <p:spPr>
          <a:xfrm>
            <a:off x="4297680" y="356616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5" name="Shape 23"/>
          <p:cNvSpPr/>
          <p:nvPr/>
        </p:nvSpPr>
        <p:spPr>
          <a:xfrm>
            <a:off x="4535424" y="3803904"/>
            <a:ext cx="457200" cy="457200"/>
          </a:xfrm>
          <a:prstGeom prst="ellipse">
            <a:avLst/>
          </a:prstGeom>
          <a:solidFill>
            <a:srgbClr val="E8A33D"/>
          </a:solidFill>
          <a:ln w="12700">
            <a:solidFill>
              <a:srgbClr val="E8A33D"/>
            </a:solidFill>
            <a:prstDash val="solid"/>
          </a:ln>
        </p:spPr>
      </p:sp>
      <p:sp>
        <p:nvSpPr>
          <p:cNvPr id="26" name="Text 24"/>
          <p:cNvSpPr txBox="1"/>
          <p:nvPr/>
        </p:nvSpPr>
        <p:spPr>
          <a:xfrm>
            <a:off x="4535424" y="3803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4535424" y="434340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Unexpected attachments</a:t>
            </a:r>
            <a:endParaRPr lang="en-US" sz="1450" dirty="0"/>
          </a:p>
        </p:txBody>
      </p:sp>
      <p:sp>
        <p:nvSpPr>
          <p:cNvPr id="28" name="Text 26"/>
          <p:cNvSpPr txBox="1"/>
          <p:nvPr/>
        </p:nvSpPr>
        <p:spPr>
          <a:xfrm>
            <a:off x="4535424" y="464515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Invoices or delivery notes you were not expecting, especially .zip, .html or files asking to enable macros.</a:t>
            </a:r>
            <a:endParaRPr lang="en-US" sz="1100" dirty="0"/>
          </a:p>
        </p:txBody>
      </p:sp>
      <p:sp>
        <p:nvSpPr>
          <p:cNvPr id="29" name="Shape 27"/>
          <p:cNvSpPr/>
          <p:nvPr/>
        </p:nvSpPr>
        <p:spPr>
          <a:xfrm>
            <a:off x="8028432" y="3566160"/>
            <a:ext cx="3529584" cy="1874520"/>
          </a:xfrm>
          <a:prstGeom prst="roundRect">
            <a:avLst>
              <a:gd name="adj" fmla="val 390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0" name="Shape 28"/>
          <p:cNvSpPr/>
          <p:nvPr/>
        </p:nvSpPr>
        <p:spPr>
          <a:xfrm>
            <a:off x="8266176" y="3803904"/>
            <a:ext cx="457200" cy="457200"/>
          </a:xfrm>
          <a:prstGeom prst="ellipse">
            <a:avLst/>
          </a:prstGeom>
          <a:solidFill>
            <a:srgbClr val="E8A33D"/>
          </a:solidFill>
          <a:ln w="12700">
            <a:solidFill>
              <a:srgbClr val="E8A33D"/>
            </a:solidFill>
            <a:prstDash val="solid"/>
          </a:ln>
        </p:spPr>
      </p:sp>
      <p:sp>
        <p:nvSpPr>
          <p:cNvPr id="31" name="Text 29"/>
          <p:cNvSpPr txBox="1"/>
          <p:nvPr/>
        </p:nvSpPr>
        <p:spPr>
          <a:xfrm>
            <a:off x="8266176" y="3803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&amp;</a:t>
            </a:r>
            <a:endParaRPr lang="en-US" sz="1200" dirty="0"/>
          </a:p>
        </p:txBody>
      </p:sp>
      <p:sp>
        <p:nvSpPr>
          <p:cNvPr id="32" name="Text 30"/>
          <p:cNvSpPr txBox="1"/>
          <p:nvPr/>
        </p:nvSpPr>
        <p:spPr>
          <a:xfrm>
            <a:off x="8266176" y="4343400"/>
            <a:ext cx="3063240" cy="292608"/>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Unusual requests from bosses</a:t>
            </a:r>
            <a:endParaRPr lang="en-US" sz="1450" dirty="0"/>
          </a:p>
        </p:txBody>
      </p:sp>
      <p:sp>
        <p:nvSpPr>
          <p:cNvPr id="33" name="Text 31"/>
          <p:cNvSpPr txBox="1"/>
          <p:nvPr/>
        </p:nvSpPr>
        <p:spPr>
          <a:xfrm>
            <a:off x="8266176" y="4645152"/>
            <a:ext cx="3063240" cy="685800"/>
          </a:xfrm>
          <a:prstGeom prst="rect">
            <a:avLst/>
          </a:prstGeom>
          <a:noFill/>
          <a:ln/>
        </p:spPr>
        <p:txBody>
          <a:bodyPr wrap="square" lIns="0" tIns="0" rIns="0" bIns="0" rtlCol="0" anchor="t"/>
          <a:lstStyle/>
          <a:p>
            <a:pPr indent="0" marL="0">
              <a:buNone/>
            </a:pPr>
            <a:r>
              <a:rPr lang="en-US" sz="1100" dirty="0">
                <a:solidFill>
                  <a:srgbClr val="5E7183"/>
                </a:solidFill>
                <a:latin typeface="Calibri" pitchFamily="34" charset="0"/>
                <a:ea typeface="Calibri" pitchFamily="34" charset="-122"/>
                <a:cs typeface="Calibri" pitchFamily="34" charset="-120"/>
              </a:rPr>
              <a:t>"I'm in a meeting, just transfer it and I'll explain later" — real managers accept a phone call.</a:t>
            </a:r>
            <a:endParaRPr lang="en-US" sz="1100" dirty="0"/>
          </a:p>
        </p:txBody>
      </p:sp>
      <p:sp>
        <p:nvSpPr>
          <p:cNvPr id="34" name="Text 32"/>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Staff are taught to look for combinations: one flag may be innocent, two flags together almost never are.</a:t>
            </a:r>
            <a:endParaRPr lang="en-US" sz="1150" dirty="0"/>
          </a:p>
        </p:txBody>
      </p:sp>
      <p:sp>
        <p:nvSpPr>
          <p:cNvPr id="36" name="Text 33"/>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3 — TASKS 3 &amp; 5</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The Poster and the Reporting Rule</a:t>
            </a:r>
            <a:endParaRPr lang="en-US" sz="3000" dirty="0"/>
          </a:p>
        </p:txBody>
      </p:sp>
      <p:sp>
        <p:nvSpPr>
          <p:cNvPr id="4" name="Shape 2"/>
          <p:cNvSpPr/>
          <p:nvPr/>
        </p:nvSpPr>
        <p:spPr>
          <a:xfrm>
            <a:off x="566928" y="1371600"/>
            <a:ext cx="5577840" cy="4480560"/>
          </a:xfrm>
          <a:prstGeom prst="roundRect">
            <a:avLst>
              <a:gd name="adj" fmla="val 1633"/>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Text 3"/>
          <p:cNvSpPr txBox="1"/>
          <p:nvPr/>
        </p:nvSpPr>
        <p:spPr>
          <a:xfrm>
            <a:off x="868680" y="1600200"/>
            <a:ext cx="4937760" cy="256032"/>
          </a:xfrm>
          <a:prstGeom prst="rect">
            <a:avLst/>
          </a:prstGeom>
          <a:noFill/>
          <a:ln/>
        </p:spPr>
        <p:txBody>
          <a:bodyPr wrap="square" lIns="0" tIns="0" rIns="0" bIns="0" rtlCol="0" anchor="ctr"/>
          <a:lstStyle/>
          <a:p>
            <a:pPr indent="0" marL="0">
              <a:buNone/>
            </a:pPr>
            <a:r>
              <a:rPr lang="en-US" sz="1000" b="1" spc="200" kern="0" dirty="0">
                <a:solidFill>
                  <a:srgbClr val="7E99B2"/>
                </a:solidFill>
                <a:latin typeface="Calibri" pitchFamily="34" charset="0"/>
                <a:ea typeface="Calibri" pitchFamily="34" charset="-122"/>
                <a:cs typeface="Calibri" pitchFamily="34" charset="-120"/>
              </a:rPr>
              <a:t>PINNED IN THE BACK OFFICE</a:t>
            </a:r>
            <a:endParaRPr lang="en-US" sz="1000" dirty="0"/>
          </a:p>
        </p:txBody>
      </p:sp>
      <p:sp>
        <p:nvSpPr>
          <p:cNvPr id="6" name="Text 4"/>
          <p:cNvSpPr txBox="1"/>
          <p:nvPr/>
        </p:nvSpPr>
        <p:spPr>
          <a:xfrm>
            <a:off x="868680" y="1901952"/>
            <a:ext cx="4937760" cy="457200"/>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PAUSE • CHECK • REPORT</a:t>
            </a:r>
            <a:endParaRPr lang="en-US" sz="2500" dirty="0"/>
          </a:p>
        </p:txBody>
      </p:sp>
      <p:sp>
        <p:nvSpPr>
          <p:cNvPr id="7" name="Shape 5"/>
          <p:cNvSpPr/>
          <p:nvPr/>
        </p:nvSpPr>
        <p:spPr>
          <a:xfrm>
            <a:off x="868680" y="2560320"/>
            <a:ext cx="4974336" cy="950976"/>
          </a:xfrm>
          <a:prstGeom prst="roundRect">
            <a:avLst>
              <a:gd name="adj" fmla="val 7692"/>
            </a:avLst>
          </a:prstGeom>
          <a:solidFill>
            <a:srgbClr val="16395C"/>
          </a:solidFill>
          <a:ln w="12700">
            <a:solidFill>
              <a:srgbClr val="2A5580"/>
            </a:solidFill>
            <a:prstDash val="solid"/>
          </a:ln>
        </p:spPr>
      </p:sp>
      <p:sp>
        <p:nvSpPr>
          <p:cNvPr id="8" name="Text 6"/>
          <p:cNvSpPr txBox="1"/>
          <p:nvPr/>
        </p:nvSpPr>
        <p:spPr>
          <a:xfrm>
            <a:off x="1051560" y="2633472"/>
            <a:ext cx="109728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PAUSE</a:t>
            </a:r>
            <a:endParaRPr lang="en-US" sz="1300" dirty="0"/>
          </a:p>
        </p:txBody>
      </p:sp>
      <p:sp>
        <p:nvSpPr>
          <p:cNvPr id="9" name="Text 7"/>
          <p:cNvSpPr txBox="1"/>
          <p:nvPr/>
        </p:nvSpPr>
        <p:spPr>
          <a:xfrm>
            <a:off x="1051560" y="2889504"/>
            <a:ext cx="4608576" cy="566928"/>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Suspicious message? Stop. Do not click, reply, download or pay. Nothing is so urgent that it cannot wait five minutes.</a:t>
            </a:r>
            <a:endParaRPr lang="en-US" sz="1100" dirty="0"/>
          </a:p>
        </p:txBody>
      </p:sp>
      <p:sp>
        <p:nvSpPr>
          <p:cNvPr id="10" name="Shape 8"/>
          <p:cNvSpPr/>
          <p:nvPr/>
        </p:nvSpPr>
        <p:spPr>
          <a:xfrm>
            <a:off x="868680" y="3639312"/>
            <a:ext cx="4974336" cy="950976"/>
          </a:xfrm>
          <a:prstGeom prst="roundRect">
            <a:avLst>
              <a:gd name="adj" fmla="val 7692"/>
            </a:avLst>
          </a:prstGeom>
          <a:solidFill>
            <a:srgbClr val="16395C"/>
          </a:solidFill>
          <a:ln w="12700">
            <a:solidFill>
              <a:srgbClr val="2A5580"/>
            </a:solidFill>
            <a:prstDash val="solid"/>
          </a:ln>
        </p:spPr>
      </p:sp>
      <p:sp>
        <p:nvSpPr>
          <p:cNvPr id="11" name="Text 9"/>
          <p:cNvSpPr txBox="1"/>
          <p:nvPr/>
        </p:nvSpPr>
        <p:spPr>
          <a:xfrm>
            <a:off x="1051560" y="3712464"/>
            <a:ext cx="109728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CHECK</a:t>
            </a:r>
            <a:endParaRPr lang="en-US" sz="1300" dirty="0"/>
          </a:p>
        </p:txBody>
      </p:sp>
      <p:sp>
        <p:nvSpPr>
          <p:cNvPr id="12" name="Text 10"/>
          <p:cNvSpPr txBox="1"/>
          <p:nvPr/>
        </p:nvSpPr>
        <p:spPr>
          <a:xfrm>
            <a:off x="1051560" y="3968496"/>
            <a:ext cx="4608576" cy="566928"/>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Look at the real sender address. Hover the link. Call the person on a number you already have — never the one in the message.</a:t>
            </a:r>
            <a:endParaRPr lang="en-US" sz="1100" dirty="0"/>
          </a:p>
        </p:txBody>
      </p:sp>
      <p:sp>
        <p:nvSpPr>
          <p:cNvPr id="13" name="Shape 11"/>
          <p:cNvSpPr/>
          <p:nvPr/>
        </p:nvSpPr>
        <p:spPr>
          <a:xfrm>
            <a:off x="868680" y="4718304"/>
            <a:ext cx="4974336" cy="950976"/>
          </a:xfrm>
          <a:prstGeom prst="roundRect">
            <a:avLst>
              <a:gd name="adj" fmla="val 7692"/>
            </a:avLst>
          </a:prstGeom>
          <a:solidFill>
            <a:srgbClr val="16395C"/>
          </a:solidFill>
          <a:ln w="12700">
            <a:solidFill>
              <a:srgbClr val="2A5580"/>
            </a:solidFill>
            <a:prstDash val="solid"/>
          </a:ln>
        </p:spPr>
      </p:sp>
      <p:sp>
        <p:nvSpPr>
          <p:cNvPr id="14" name="Text 12"/>
          <p:cNvSpPr txBox="1"/>
          <p:nvPr/>
        </p:nvSpPr>
        <p:spPr>
          <a:xfrm>
            <a:off x="1051560" y="4791456"/>
            <a:ext cx="109728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REPORT</a:t>
            </a:r>
            <a:endParaRPr lang="en-US" sz="1300" dirty="0"/>
          </a:p>
        </p:txBody>
      </p:sp>
      <p:sp>
        <p:nvSpPr>
          <p:cNvPr id="15" name="Text 13"/>
          <p:cNvSpPr txBox="1"/>
          <p:nvPr/>
        </p:nvSpPr>
        <p:spPr>
          <a:xfrm>
            <a:off x="1051560" y="5047488"/>
            <a:ext cx="4608576" cy="566928"/>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Forward it to the manager, or show it on your phone. You will never be blamed for reporting something harmless.</a:t>
            </a:r>
            <a:endParaRPr lang="en-US" sz="1100" dirty="0"/>
          </a:p>
        </p:txBody>
      </p:sp>
      <p:sp>
        <p:nvSpPr>
          <p:cNvPr id="16" name="Shape 14"/>
          <p:cNvSpPr/>
          <p:nvPr/>
        </p:nvSpPr>
        <p:spPr>
          <a:xfrm>
            <a:off x="6345936" y="1371600"/>
            <a:ext cx="5285232" cy="4480560"/>
          </a:xfrm>
          <a:prstGeom prst="roundRect">
            <a:avLst>
              <a:gd name="adj" fmla="val 163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7" name="Text 15"/>
          <p:cNvSpPr txBox="1"/>
          <p:nvPr/>
        </p:nvSpPr>
        <p:spPr>
          <a:xfrm>
            <a:off x="6583680" y="1572768"/>
            <a:ext cx="4754880" cy="310896"/>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Reporting procedure</a:t>
            </a:r>
            <a:endParaRPr lang="en-US" sz="1700" dirty="0"/>
          </a:p>
        </p:txBody>
      </p:sp>
      <p:sp>
        <p:nvSpPr>
          <p:cNvPr id="18" name="Shape 16"/>
          <p:cNvSpPr/>
          <p:nvPr/>
        </p:nvSpPr>
        <p:spPr>
          <a:xfrm>
            <a:off x="6583680" y="2011680"/>
            <a:ext cx="347472" cy="347472"/>
          </a:xfrm>
          <a:prstGeom prst="ellipse">
            <a:avLst/>
          </a:prstGeom>
          <a:solidFill>
            <a:srgbClr val="2E5266"/>
          </a:solidFill>
          <a:ln w="12700">
            <a:solidFill>
              <a:srgbClr val="2E5266"/>
            </a:solidFill>
            <a:prstDash val="solid"/>
          </a:ln>
        </p:spPr>
      </p:sp>
      <p:sp>
        <p:nvSpPr>
          <p:cNvPr id="19" name="Text 17"/>
          <p:cNvSpPr txBox="1"/>
          <p:nvPr/>
        </p:nvSpPr>
        <p:spPr>
          <a:xfrm>
            <a:off x="6583680" y="20116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txBox="1"/>
          <p:nvPr/>
        </p:nvSpPr>
        <p:spPr>
          <a:xfrm>
            <a:off x="7040880" y="1975104"/>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Do not delete it.</a:t>
            </a:r>
            <a:endParaRPr lang="en-US" sz="1200" dirty="0"/>
          </a:p>
        </p:txBody>
      </p:sp>
      <p:sp>
        <p:nvSpPr>
          <p:cNvPr id="21" name="Text 19"/>
          <p:cNvSpPr txBox="1"/>
          <p:nvPr/>
        </p:nvSpPr>
        <p:spPr>
          <a:xfrm>
            <a:off x="7040880" y="2212848"/>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The message is evidence. Leave it where it is.</a:t>
            </a:r>
            <a:endParaRPr lang="en-US" sz="1050" dirty="0"/>
          </a:p>
        </p:txBody>
      </p:sp>
      <p:sp>
        <p:nvSpPr>
          <p:cNvPr id="22" name="Shape 20"/>
          <p:cNvSpPr/>
          <p:nvPr/>
        </p:nvSpPr>
        <p:spPr>
          <a:xfrm>
            <a:off x="6583680" y="2633472"/>
            <a:ext cx="347472" cy="347472"/>
          </a:xfrm>
          <a:prstGeom prst="ellipse">
            <a:avLst/>
          </a:prstGeom>
          <a:solidFill>
            <a:srgbClr val="2E5266"/>
          </a:solidFill>
          <a:ln w="12700">
            <a:solidFill>
              <a:srgbClr val="2E5266"/>
            </a:solidFill>
            <a:prstDash val="solid"/>
          </a:ln>
        </p:spPr>
      </p:sp>
      <p:sp>
        <p:nvSpPr>
          <p:cNvPr id="23" name="Text 21"/>
          <p:cNvSpPr txBox="1"/>
          <p:nvPr/>
        </p:nvSpPr>
        <p:spPr>
          <a:xfrm>
            <a:off x="6583680" y="26334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txBox="1"/>
          <p:nvPr/>
        </p:nvSpPr>
        <p:spPr>
          <a:xfrm>
            <a:off x="7040880" y="2596896"/>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Tell the manager within the hour.</a:t>
            </a:r>
            <a:endParaRPr lang="en-US" sz="1200" dirty="0"/>
          </a:p>
        </p:txBody>
      </p:sp>
      <p:sp>
        <p:nvSpPr>
          <p:cNvPr id="25" name="Text 23"/>
          <p:cNvSpPr txBox="1"/>
          <p:nvPr/>
        </p:nvSpPr>
        <p:spPr>
          <a:xfrm>
            <a:off x="7040880" y="2834640"/>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By WhatsApp to the manager, or in person.</a:t>
            </a:r>
            <a:endParaRPr lang="en-US" sz="1050" dirty="0"/>
          </a:p>
        </p:txBody>
      </p:sp>
      <p:sp>
        <p:nvSpPr>
          <p:cNvPr id="26" name="Shape 24"/>
          <p:cNvSpPr/>
          <p:nvPr/>
        </p:nvSpPr>
        <p:spPr>
          <a:xfrm>
            <a:off x="6583680" y="3255264"/>
            <a:ext cx="347472" cy="347472"/>
          </a:xfrm>
          <a:prstGeom prst="ellipse">
            <a:avLst/>
          </a:prstGeom>
          <a:solidFill>
            <a:srgbClr val="2E5266"/>
          </a:solidFill>
          <a:ln w="12700">
            <a:solidFill>
              <a:srgbClr val="2E5266"/>
            </a:solidFill>
            <a:prstDash val="solid"/>
          </a:ln>
        </p:spPr>
      </p:sp>
      <p:sp>
        <p:nvSpPr>
          <p:cNvPr id="27" name="Text 25"/>
          <p:cNvSpPr txBox="1"/>
          <p:nvPr/>
        </p:nvSpPr>
        <p:spPr>
          <a:xfrm>
            <a:off x="6583680" y="32552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txBox="1"/>
          <p:nvPr/>
        </p:nvSpPr>
        <p:spPr>
          <a:xfrm>
            <a:off x="7040880" y="3218688"/>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Manager records it.</a:t>
            </a:r>
            <a:endParaRPr lang="en-US" sz="1200" dirty="0"/>
          </a:p>
        </p:txBody>
      </p:sp>
      <p:sp>
        <p:nvSpPr>
          <p:cNvPr id="29" name="Text 27"/>
          <p:cNvSpPr txBox="1"/>
          <p:nvPr/>
        </p:nvSpPr>
        <p:spPr>
          <a:xfrm>
            <a:off x="7040880" y="3456432"/>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Date, sender, what it asked for, who received it.</a:t>
            </a:r>
            <a:endParaRPr lang="en-US" sz="1050" dirty="0"/>
          </a:p>
        </p:txBody>
      </p:sp>
      <p:sp>
        <p:nvSpPr>
          <p:cNvPr id="30" name="Shape 28"/>
          <p:cNvSpPr/>
          <p:nvPr/>
        </p:nvSpPr>
        <p:spPr>
          <a:xfrm>
            <a:off x="6583680" y="3877056"/>
            <a:ext cx="347472" cy="347472"/>
          </a:xfrm>
          <a:prstGeom prst="ellipse">
            <a:avLst/>
          </a:prstGeom>
          <a:solidFill>
            <a:srgbClr val="2E5266"/>
          </a:solidFill>
          <a:ln w="12700">
            <a:solidFill>
              <a:srgbClr val="2E5266"/>
            </a:solidFill>
            <a:prstDash val="solid"/>
          </a:ln>
        </p:spPr>
      </p:sp>
      <p:sp>
        <p:nvSpPr>
          <p:cNvPr id="31" name="Text 29"/>
          <p:cNvSpPr txBox="1"/>
          <p:nvPr/>
        </p:nvSpPr>
        <p:spPr>
          <a:xfrm>
            <a:off x="6583680" y="3877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30"/>
          <p:cNvSpPr txBox="1"/>
          <p:nvPr/>
        </p:nvSpPr>
        <p:spPr>
          <a:xfrm>
            <a:off x="7040880" y="3840480"/>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If anyone clicked or paid:</a:t>
            </a:r>
            <a:endParaRPr lang="en-US" sz="1200" dirty="0"/>
          </a:p>
        </p:txBody>
      </p:sp>
      <p:sp>
        <p:nvSpPr>
          <p:cNvPr id="33" name="Text 31"/>
          <p:cNvSpPr txBox="1"/>
          <p:nvPr/>
        </p:nvSpPr>
        <p:spPr>
          <a:xfrm>
            <a:off x="7040880" y="4078224"/>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Escalate to the MD immediately — this becomes an incident (Week 4).</a:t>
            </a:r>
            <a:endParaRPr lang="en-US" sz="1050" dirty="0"/>
          </a:p>
        </p:txBody>
      </p:sp>
      <p:sp>
        <p:nvSpPr>
          <p:cNvPr id="34" name="Shape 32"/>
          <p:cNvSpPr/>
          <p:nvPr/>
        </p:nvSpPr>
        <p:spPr>
          <a:xfrm>
            <a:off x="6583680" y="4498848"/>
            <a:ext cx="347472" cy="347472"/>
          </a:xfrm>
          <a:prstGeom prst="ellipse">
            <a:avLst/>
          </a:prstGeom>
          <a:solidFill>
            <a:srgbClr val="2E5266"/>
          </a:solidFill>
          <a:ln w="12700">
            <a:solidFill>
              <a:srgbClr val="2E5266"/>
            </a:solidFill>
            <a:prstDash val="solid"/>
          </a:ln>
        </p:spPr>
      </p:sp>
      <p:sp>
        <p:nvSpPr>
          <p:cNvPr id="35" name="Text 33"/>
          <p:cNvSpPr txBox="1"/>
          <p:nvPr/>
        </p:nvSpPr>
        <p:spPr>
          <a:xfrm>
            <a:off x="658368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Text 34"/>
          <p:cNvSpPr txBox="1"/>
          <p:nvPr/>
        </p:nvSpPr>
        <p:spPr>
          <a:xfrm>
            <a:off x="7040880" y="4462272"/>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Warn the team.</a:t>
            </a:r>
            <a:endParaRPr lang="en-US" sz="1200" dirty="0"/>
          </a:p>
        </p:txBody>
      </p:sp>
      <p:sp>
        <p:nvSpPr>
          <p:cNvPr id="37" name="Text 35"/>
          <p:cNvSpPr txBox="1"/>
          <p:nvPr/>
        </p:nvSpPr>
        <p:spPr>
          <a:xfrm>
            <a:off x="7040880" y="4700016"/>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One short WhatsApp message so nine people are not caught by the same trick.</a:t>
            </a:r>
            <a:endParaRPr lang="en-US" sz="1050" dirty="0"/>
          </a:p>
        </p:txBody>
      </p:sp>
      <p:sp>
        <p:nvSpPr>
          <p:cNvPr id="38" name="Shape 36"/>
          <p:cNvSpPr/>
          <p:nvPr/>
        </p:nvSpPr>
        <p:spPr>
          <a:xfrm>
            <a:off x="6583680" y="5120640"/>
            <a:ext cx="347472" cy="347472"/>
          </a:xfrm>
          <a:prstGeom prst="ellipse">
            <a:avLst/>
          </a:prstGeom>
          <a:solidFill>
            <a:srgbClr val="E8A33D"/>
          </a:solidFill>
          <a:ln w="12700">
            <a:solidFill>
              <a:srgbClr val="E8A33D"/>
            </a:solidFill>
            <a:prstDash val="solid"/>
          </a:ln>
        </p:spPr>
      </p:sp>
      <p:sp>
        <p:nvSpPr>
          <p:cNvPr id="39" name="Text 37"/>
          <p:cNvSpPr txBox="1"/>
          <p:nvPr/>
        </p:nvSpPr>
        <p:spPr>
          <a:xfrm>
            <a:off x="6583680" y="51206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0" name="Text 38"/>
          <p:cNvSpPr txBox="1"/>
          <p:nvPr/>
        </p:nvSpPr>
        <p:spPr>
          <a:xfrm>
            <a:off x="7040880" y="5084064"/>
            <a:ext cx="434340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No blame, ever.</a:t>
            </a:r>
            <a:endParaRPr lang="en-US" sz="1200" dirty="0"/>
          </a:p>
        </p:txBody>
      </p:sp>
      <p:sp>
        <p:nvSpPr>
          <p:cNvPr id="41" name="Text 39"/>
          <p:cNvSpPr txBox="1"/>
          <p:nvPr/>
        </p:nvSpPr>
        <p:spPr>
          <a:xfrm>
            <a:off x="7040880" y="5321808"/>
            <a:ext cx="4343400" cy="34747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Staff who report early are thanked publicly. Punishment only buys silence.</a:t>
            </a:r>
            <a:endParaRPr lang="en-US" sz="1050" dirty="0"/>
          </a:p>
        </p:txBody>
      </p:sp>
      <p:sp>
        <p:nvSpPr>
          <p:cNvPr id="43" name="Text 40"/>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3 — TASK 4</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Five-Question Phishing Awareness Quiz</a:t>
            </a:r>
            <a:endParaRPr lang="en-US" sz="3000" dirty="0"/>
          </a:p>
        </p:txBody>
      </p:sp>
      <p:sp>
        <p:nvSpPr>
          <p:cNvPr id="4" name="Shape 2"/>
          <p:cNvSpPr/>
          <p:nvPr/>
        </p:nvSpPr>
        <p:spPr>
          <a:xfrm>
            <a:off x="566928" y="1371600"/>
            <a:ext cx="11064240" cy="822960"/>
          </a:xfrm>
          <a:prstGeom prst="roundRect">
            <a:avLst>
              <a:gd name="adj" fmla="val 8889"/>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768096" y="1572768"/>
            <a:ext cx="420624" cy="420624"/>
          </a:xfrm>
          <a:prstGeom prst="ellipse">
            <a:avLst/>
          </a:prstGeom>
          <a:solidFill>
            <a:srgbClr val="12304F"/>
          </a:solidFill>
          <a:ln w="12700">
            <a:solidFill>
              <a:srgbClr val="12304F"/>
            </a:solidFill>
            <a:prstDash val="solid"/>
          </a:ln>
        </p:spPr>
      </p:sp>
      <p:sp>
        <p:nvSpPr>
          <p:cNvPr id="6" name="Text 4"/>
          <p:cNvSpPr txBox="1"/>
          <p:nvPr/>
        </p:nvSpPr>
        <p:spPr>
          <a:xfrm>
            <a:off x="768096" y="15727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7" name="Text 5"/>
          <p:cNvSpPr txBox="1"/>
          <p:nvPr/>
        </p:nvSpPr>
        <p:spPr>
          <a:xfrm>
            <a:off x="1325880" y="1463040"/>
            <a:ext cx="10058400" cy="310896"/>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An email from "CalebTech Payroll" asks you to confirm your bank details for salary. What do you do first?</a:t>
            </a:r>
            <a:endParaRPr lang="en-US" sz="1250" dirty="0"/>
          </a:p>
        </p:txBody>
      </p:sp>
      <p:sp>
        <p:nvSpPr>
          <p:cNvPr id="8" name="Text 6"/>
          <p:cNvSpPr txBox="1"/>
          <p:nvPr/>
        </p:nvSpPr>
        <p:spPr>
          <a:xfrm>
            <a:off x="1325880" y="1773936"/>
            <a:ext cx="10058400" cy="310896"/>
          </a:xfrm>
          <a:prstGeom prst="rect">
            <a:avLst/>
          </a:prstGeom>
          <a:noFill/>
          <a:ln/>
        </p:spPr>
        <p:txBody>
          <a:bodyPr wrap="square" lIns="0" tIns="0" rIns="0" bIns="0" rtlCol="0" anchor="ctr"/>
          <a:lstStyle/>
          <a:p>
            <a:pPr indent="0" marL="0">
              <a:buNone/>
            </a:pPr>
            <a:r>
              <a:rPr lang="en-US" sz="1100" dirty="0">
                <a:solidFill>
                  <a:srgbClr val="2E6B4F"/>
                </a:solidFill>
                <a:latin typeface="Calibri" pitchFamily="34" charset="0"/>
                <a:ea typeface="Calibri" pitchFamily="34" charset="-122"/>
                <a:cs typeface="Calibri" pitchFamily="34" charset="-120"/>
              </a:rPr>
              <a:t>Answer: Check the real sender address and confirm with the MD in person. Payroll never asks by email.</a:t>
            </a:r>
            <a:endParaRPr lang="en-US" sz="1100" dirty="0"/>
          </a:p>
        </p:txBody>
      </p:sp>
      <p:sp>
        <p:nvSpPr>
          <p:cNvPr id="9" name="Shape 7"/>
          <p:cNvSpPr/>
          <p:nvPr/>
        </p:nvSpPr>
        <p:spPr>
          <a:xfrm>
            <a:off x="566928" y="2304288"/>
            <a:ext cx="11064240" cy="822960"/>
          </a:xfrm>
          <a:prstGeom prst="roundRect">
            <a:avLst>
              <a:gd name="adj" fmla="val 8889"/>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0" name="Shape 8"/>
          <p:cNvSpPr/>
          <p:nvPr/>
        </p:nvSpPr>
        <p:spPr>
          <a:xfrm>
            <a:off x="768096" y="2505456"/>
            <a:ext cx="420624" cy="420624"/>
          </a:xfrm>
          <a:prstGeom prst="ellipse">
            <a:avLst/>
          </a:prstGeom>
          <a:solidFill>
            <a:srgbClr val="12304F"/>
          </a:solidFill>
          <a:ln w="12700">
            <a:solidFill>
              <a:srgbClr val="12304F"/>
            </a:solidFill>
            <a:prstDash val="solid"/>
          </a:ln>
        </p:spPr>
      </p:sp>
      <p:sp>
        <p:nvSpPr>
          <p:cNvPr id="11" name="Text 9"/>
          <p:cNvSpPr txBox="1"/>
          <p:nvPr/>
        </p:nvSpPr>
        <p:spPr>
          <a:xfrm>
            <a:off x="768096" y="25054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2" name="Text 10"/>
          <p:cNvSpPr txBox="1"/>
          <p:nvPr/>
        </p:nvSpPr>
        <p:spPr>
          <a:xfrm>
            <a:off x="1325880" y="2395728"/>
            <a:ext cx="10058400" cy="310896"/>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Which is safer: clicking the link in a bank SMS, or typing the bank's address yourself?</a:t>
            </a:r>
            <a:endParaRPr lang="en-US" sz="1250" dirty="0"/>
          </a:p>
        </p:txBody>
      </p:sp>
      <p:sp>
        <p:nvSpPr>
          <p:cNvPr id="13" name="Text 11"/>
          <p:cNvSpPr txBox="1"/>
          <p:nvPr/>
        </p:nvSpPr>
        <p:spPr>
          <a:xfrm>
            <a:off x="1325880" y="2706624"/>
            <a:ext cx="10058400" cy="310896"/>
          </a:xfrm>
          <a:prstGeom prst="rect">
            <a:avLst/>
          </a:prstGeom>
          <a:noFill/>
          <a:ln/>
        </p:spPr>
        <p:txBody>
          <a:bodyPr wrap="square" lIns="0" tIns="0" rIns="0" bIns="0" rtlCol="0" anchor="ctr"/>
          <a:lstStyle/>
          <a:p>
            <a:pPr indent="0" marL="0">
              <a:buNone/>
            </a:pPr>
            <a:r>
              <a:rPr lang="en-US" sz="1100" dirty="0">
                <a:solidFill>
                  <a:srgbClr val="2E6B4F"/>
                </a:solidFill>
                <a:latin typeface="Calibri" pitchFamily="34" charset="0"/>
                <a:ea typeface="Calibri" pitchFamily="34" charset="-122"/>
                <a:cs typeface="Calibri" pitchFamily="34" charset="-120"/>
              </a:rPr>
              <a:t>Answer: Type it yourself. Links in messages can point anywhere, however real they look.</a:t>
            </a:r>
            <a:endParaRPr lang="en-US" sz="1100" dirty="0"/>
          </a:p>
        </p:txBody>
      </p:sp>
      <p:sp>
        <p:nvSpPr>
          <p:cNvPr id="14" name="Shape 12"/>
          <p:cNvSpPr/>
          <p:nvPr/>
        </p:nvSpPr>
        <p:spPr>
          <a:xfrm>
            <a:off x="566928" y="3236976"/>
            <a:ext cx="11064240" cy="822960"/>
          </a:xfrm>
          <a:prstGeom prst="roundRect">
            <a:avLst>
              <a:gd name="adj" fmla="val 8889"/>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5" name="Shape 13"/>
          <p:cNvSpPr/>
          <p:nvPr/>
        </p:nvSpPr>
        <p:spPr>
          <a:xfrm>
            <a:off x="768096" y="3438144"/>
            <a:ext cx="420624" cy="420624"/>
          </a:xfrm>
          <a:prstGeom prst="ellipse">
            <a:avLst/>
          </a:prstGeom>
          <a:solidFill>
            <a:srgbClr val="12304F"/>
          </a:solidFill>
          <a:ln w="12700">
            <a:solidFill>
              <a:srgbClr val="12304F"/>
            </a:solidFill>
            <a:prstDash val="solid"/>
          </a:ln>
        </p:spPr>
      </p:sp>
      <p:sp>
        <p:nvSpPr>
          <p:cNvPr id="16" name="Text 14"/>
          <p:cNvSpPr txBox="1"/>
          <p:nvPr/>
        </p:nvSpPr>
        <p:spPr>
          <a:xfrm>
            <a:off x="768096" y="34381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17" name="Text 15"/>
          <p:cNvSpPr txBox="1"/>
          <p:nvPr/>
        </p:nvSpPr>
        <p:spPr>
          <a:xfrm>
            <a:off x="1325880" y="3328416"/>
            <a:ext cx="10058400" cy="310896"/>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 supplier emails that their account number has changed. What is the rule at CalebTech?</a:t>
            </a:r>
            <a:endParaRPr lang="en-US" sz="1250" dirty="0"/>
          </a:p>
        </p:txBody>
      </p:sp>
      <p:sp>
        <p:nvSpPr>
          <p:cNvPr id="18" name="Text 16"/>
          <p:cNvSpPr txBox="1"/>
          <p:nvPr/>
        </p:nvSpPr>
        <p:spPr>
          <a:xfrm>
            <a:off x="1325880" y="3639312"/>
            <a:ext cx="10058400" cy="310896"/>
          </a:xfrm>
          <a:prstGeom prst="rect">
            <a:avLst/>
          </a:prstGeom>
          <a:noFill/>
          <a:ln/>
        </p:spPr>
        <p:txBody>
          <a:bodyPr wrap="square" lIns="0" tIns="0" rIns="0" bIns="0" rtlCol="0" anchor="ctr"/>
          <a:lstStyle/>
          <a:p>
            <a:pPr indent="0" marL="0">
              <a:buNone/>
            </a:pPr>
            <a:r>
              <a:rPr lang="en-US" sz="1100" dirty="0">
                <a:solidFill>
                  <a:srgbClr val="2E6B4F"/>
                </a:solidFill>
                <a:latin typeface="Calibri" pitchFamily="34" charset="0"/>
                <a:ea typeface="Calibri" pitchFamily="34" charset="-122"/>
                <a:cs typeface="Calibri" pitchFamily="34" charset="-120"/>
              </a:rPr>
              <a:t>Answer: Call the supplier on the number already saved in our records before any payment is made.</a:t>
            </a:r>
            <a:endParaRPr lang="en-US" sz="1100" dirty="0"/>
          </a:p>
        </p:txBody>
      </p:sp>
      <p:sp>
        <p:nvSpPr>
          <p:cNvPr id="19" name="Shape 17"/>
          <p:cNvSpPr/>
          <p:nvPr/>
        </p:nvSpPr>
        <p:spPr>
          <a:xfrm>
            <a:off x="566928" y="4169664"/>
            <a:ext cx="11064240" cy="822960"/>
          </a:xfrm>
          <a:prstGeom prst="roundRect">
            <a:avLst>
              <a:gd name="adj" fmla="val 8889"/>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0" name="Shape 18"/>
          <p:cNvSpPr/>
          <p:nvPr/>
        </p:nvSpPr>
        <p:spPr>
          <a:xfrm>
            <a:off x="768096" y="4370832"/>
            <a:ext cx="420624" cy="420624"/>
          </a:xfrm>
          <a:prstGeom prst="ellipse">
            <a:avLst/>
          </a:prstGeom>
          <a:solidFill>
            <a:srgbClr val="12304F"/>
          </a:solidFill>
          <a:ln w="12700">
            <a:solidFill>
              <a:srgbClr val="12304F"/>
            </a:solidFill>
            <a:prstDash val="solid"/>
          </a:ln>
        </p:spPr>
      </p:sp>
      <p:sp>
        <p:nvSpPr>
          <p:cNvPr id="21" name="Text 19"/>
          <p:cNvSpPr txBox="1"/>
          <p:nvPr/>
        </p:nvSpPr>
        <p:spPr>
          <a:xfrm>
            <a:off x="768096" y="43708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22" name="Text 20"/>
          <p:cNvSpPr txBox="1"/>
          <p:nvPr/>
        </p:nvSpPr>
        <p:spPr>
          <a:xfrm>
            <a:off x="1325880" y="4261104"/>
            <a:ext cx="10058400" cy="310896"/>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You clicked a suspicious link two hours ago and said nothing. Are you in trouble?</a:t>
            </a:r>
            <a:endParaRPr lang="en-US" sz="1250" dirty="0"/>
          </a:p>
        </p:txBody>
      </p:sp>
      <p:sp>
        <p:nvSpPr>
          <p:cNvPr id="23" name="Text 21"/>
          <p:cNvSpPr txBox="1"/>
          <p:nvPr/>
        </p:nvSpPr>
        <p:spPr>
          <a:xfrm>
            <a:off x="1325880" y="4572000"/>
            <a:ext cx="10058400" cy="310896"/>
          </a:xfrm>
          <a:prstGeom prst="rect">
            <a:avLst/>
          </a:prstGeom>
          <a:noFill/>
          <a:ln/>
        </p:spPr>
        <p:txBody>
          <a:bodyPr wrap="square" lIns="0" tIns="0" rIns="0" bIns="0" rtlCol="0" anchor="ctr"/>
          <a:lstStyle/>
          <a:p>
            <a:pPr indent="0" marL="0">
              <a:buNone/>
            </a:pPr>
            <a:r>
              <a:rPr lang="en-US" sz="1100" dirty="0">
                <a:solidFill>
                  <a:srgbClr val="2E6B4F"/>
                </a:solidFill>
                <a:latin typeface="Calibri" pitchFamily="34" charset="0"/>
                <a:ea typeface="Calibri" pitchFamily="34" charset="-122"/>
                <a:cs typeface="Calibri" pitchFamily="34" charset="-120"/>
              </a:rPr>
              <a:t>Answer: No. Report it now. Every minute of silence makes the damage harder to contain.</a:t>
            </a:r>
            <a:endParaRPr lang="en-US" sz="1100" dirty="0"/>
          </a:p>
        </p:txBody>
      </p:sp>
      <p:sp>
        <p:nvSpPr>
          <p:cNvPr id="24" name="Shape 22"/>
          <p:cNvSpPr/>
          <p:nvPr/>
        </p:nvSpPr>
        <p:spPr>
          <a:xfrm>
            <a:off x="566928" y="5102352"/>
            <a:ext cx="11064240" cy="822960"/>
          </a:xfrm>
          <a:prstGeom prst="roundRect">
            <a:avLst>
              <a:gd name="adj" fmla="val 8889"/>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5" name="Shape 23"/>
          <p:cNvSpPr/>
          <p:nvPr/>
        </p:nvSpPr>
        <p:spPr>
          <a:xfrm>
            <a:off x="768096" y="5303520"/>
            <a:ext cx="420624" cy="420624"/>
          </a:xfrm>
          <a:prstGeom prst="ellipse">
            <a:avLst/>
          </a:prstGeom>
          <a:solidFill>
            <a:srgbClr val="12304F"/>
          </a:solidFill>
          <a:ln w="12700">
            <a:solidFill>
              <a:srgbClr val="12304F"/>
            </a:solidFill>
            <a:prstDash val="solid"/>
          </a:ln>
        </p:spPr>
      </p:sp>
      <p:sp>
        <p:nvSpPr>
          <p:cNvPr id="26" name="Text 24"/>
          <p:cNvSpPr txBox="1"/>
          <p:nvPr/>
        </p:nvSpPr>
        <p:spPr>
          <a:xfrm>
            <a:off x="768096" y="53035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27" name="Text 25"/>
          <p:cNvSpPr txBox="1"/>
          <p:nvPr/>
        </p:nvSpPr>
        <p:spPr>
          <a:xfrm>
            <a:off x="1325880" y="5193792"/>
            <a:ext cx="10058400" cy="310896"/>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 message has no links, no attachment and good grammar. Can it still be phishing?</a:t>
            </a:r>
            <a:endParaRPr lang="en-US" sz="1250" dirty="0"/>
          </a:p>
        </p:txBody>
      </p:sp>
      <p:sp>
        <p:nvSpPr>
          <p:cNvPr id="28" name="Text 26"/>
          <p:cNvSpPr txBox="1"/>
          <p:nvPr/>
        </p:nvSpPr>
        <p:spPr>
          <a:xfrm>
            <a:off x="1325880" y="5504688"/>
            <a:ext cx="10058400" cy="310896"/>
          </a:xfrm>
          <a:prstGeom prst="rect">
            <a:avLst/>
          </a:prstGeom>
          <a:noFill/>
          <a:ln/>
        </p:spPr>
        <p:txBody>
          <a:bodyPr wrap="square" lIns="0" tIns="0" rIns="0" bIns="0" rtlCol="0" anchor="ctr"/>
          <a:lstStyle/>
          <a:p>
            <a:pPr indent="0" marL="0">
              <a:buNone/>
            </a:pPr>
            <a:r>
              <a:rPr lang="en-US" sz="1100" dirty="0">
                <a:solidFill>
                  <a:srgbClr val="2E6B4F"/>
                </a:solidFill>
                <a:latin typeface="Calibri" pitchFamily="34" charset="0"/>
                <a:ea typeface="Calibri" pitchFamily="34" charset="-122"/>
                <a:cs typeface="Calibri" pitchFamily="34" charset="-120"/>
              </a:rPr>
              <a:t>Answer: Yes. The most costly attacks are plain text asking for a payment or a change of details.</a:t>
            </a:r>
            <a:endParaRPr lang="en-US" sz="1100" dirty="0"/>
          </a:p>
        </p:txBody>
      </p:sp>
      <p:sp>
        <p:nvSpPr>
          <p:cNvPr id="29" name="Text 27"/>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Given to all nine staff after the ten-minute briefing. Average score: 4/5. Question 5 was the one most people got wrong — so it was re-taught.</a:t>
            </a:r>
            <a:endParaRPr lang="en-US" sz="1150" dirty="0"/>
          </a:p>
        </p:txBody>
      </p:sp>
      <p:sp>
        <p:nvSpPr>
          <p:cNvPr id="31" name="Text 28"/>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9509760" y="822960"/>
            <a:ext cx="5120640" cy="5120640"/>
          </a:xfrm>
          <a:prstGeom prst="ellipse">
            <a:avLst/>
          </a:prstGeom>
          <a:solidFill>
            <a:srgbClr val="12304F"/>
          </a:solidFill>
          <a:ln w="12700">
            <a:solidFill>
              <a:srgbClr val="12304F"/>
            </a:solidFill>
            <a:prstDash val="solid"/>
          </a:ln>
        </p:spPr>
      </p:sp>
      <p:sp>
        <p:nvSpPr>
          <p:cNvPr id="3" name="Text 1"/>
          <p:cNvSpPr txBox="1"/>
          <p:nvPr/>
        </p:nvSpPr>
        <p:spPr>
          <a:xfrm>
            <a:off x="822960" y="1828800"/>
            <a:ext cx="54864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WEEK 4</a:t>
            </a:r>
            <a:endParaRPr lang="en-US" sz="1300" dirty="0"/>
          </a:p>
        </p:txBody>
      </p:sp>
      <p:sp>
        <p:nvSpPr>
          <p:cNvPr id="4" name="Text 2"/>
          <p:cNvSpPr txBox="1"/>
          <p:nvPr/>
        </p:nvSpPr>
        <p:spPr>
          <a:xfrm>
            <a:off x="786384" y="2212848"/>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Incident Mini-Playbook</a:t>
            </a:r>
            <a:endParaRPr lang="en-US" sz="4000" dirty="0"/>
          </a:p>
        </p:txBody>
      </p:sp>
      <p:sp>
        <p:nvSpPr>
          <p:cNvPr id="5" name="Text 3"/>
          <p:cNvSpPr txBox="1"/>
          <p:nvPr/>
        </p:nvSpPr>
        <p:spPr>
          <a:xfrm>
            <a:off x="822960" y="3246120"/>
            <a:ext cx="7498080" cy="731520"/>
          </a:xfrm>
          <a:prstGeom prst="rect">
            <a:avLst/>
          </a:prstGeom>
          <a:noFill/>
          <a:ln/>
        </p:spPr>
        <p:txBody>
          <a:bodyPr wrap="square" lIns="0" tIns="0" rIns="0" bIns="0" rtlCol="0" anchor="ctr"/>
          <a:lstStyle/>
          <a:p>
            <a:pPr indent="0" marL="0">
              <a:buNone/>
            </a:pPr>
            <a:r>
              <a:rPr lang="en-US" sz="1500" dirty="0">
                <a:solidFill>
                  <a:srgbClr val="C6D6E4"/>
                </a:solidFill>
                <a:latin typeface="Calibri" pitchFamily="34" charset="0"/>
                <a:ea typeface="Calibri" pitchFamily="34" charset="-122"/>
                <a:cs typeface="Calibri" pitchFamily="34" charset="-120"/>
              </a:rPr>
              <a:t>Decide what to do when something goes wrong — before it goes wrong, while nobody is panicking.</a:t>
            </a:r>
            <a:endParaRPr lang="en-US" sz="1500" dirty="0"/>
          </a:p>
        </p:txBody>
      </p:sp>
      <p:sp>
        <p:nvSpPr>
          <p:cNvPr id="6" name="Text 4"/>
          <p:cNvSpPr txBox="1"/>
          <p:nvPr/>
        </p:nvSpPr>
        <p:spPr>
          <a:xfrm>
            <a:off x="822960" y="4160520"/>
            <a:ext cx="2743200" cy="256032"/>
          </a:xfrm>
          <a:prstGeom prst="rect">
            <a:avLst/>
          </a:prstGeom>
          <a:noFill/>
          <a:ln/>
        </p:spPr>
        <p:txBody>
          <a:bodyPr wrap="square" lIns="0" tIns="0" rIns="0" bIns="0" rtlCol="0" anchor="ctr"/>
          <a:lstStyle/>
          <a:p>
            <a:pPr indent="0" marL="0">
              <a:buNone/>
            </a:pPr>
            <a:r>
              <a:rPr lang="en-US" sz="1050" b="1" spc="200" kern="0" dirty="0">
                <a:solidFill>
                  <a:srgbClr val="7E99B2"/>
                </a:solidFill>
                <a:latin typeface="Calibri" pitchFamily="34" charset="0"/>
                <a:ea typeface="Calibri" pitchFamily="34" charset="-122"/>
                <a:cs typeface="Calibri" pitchFamily="34" charset="-120"/>
              </a:rPr>
              <a:t>OUTPUT</a:t>
            </a:r>
            <a:endParaRPr lang="en-US" sz="1050" dirty="0"/>
          </a:p>
        </p:txBody>
      </p:sp>
      <p:sp>
        <p:nvSpPr>
          <p:cNvPr id="7" name="Shape 5"/>
          <p:cNvSpPr/>
          <p:nvPr/>
        </p:nvSpPr>
        <p:spPr>
          <a:xfrm>
            <a:off x="822960" y="4480560"/>
            <a:ext cx="2834640" cy="475488"/>
          </a:xfrm>
          <a:prstGeom prst="roundRect">
            <a:avLst>
              <a:gd name="adj" fmla="val 19231"/>
            </a:avLst>
          </a:prstGeom>
          <a:solidFill>
            <a:srgbClr val="16395C"/>
          </a:solidFill>
          <a:ln w="12700">
            <a:solidFill>
              <a:srgbClr val="2A5580"/>
            </a:solidFill>
            <a:prstDash val="solid"/>
          </a:ln>
        </p:spPr>
      </p:sp>
      <p:sp>
        <p:nvSpPr>
          <p:cNvPr id="8" name="Text 6"/>
          <p:cNvSpPr txBox="1"/>
          <p:nvPr/>
        </p:nvSpPr>
        <p:spPr>
          <a:xfrm>
            <a:off x="82296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Incident Playbook</a:t>
            </a:r>
            <a:endParaRPr lang="en-US" sz="1150" dirty="0"/>
          </a:p>
        </p:txBody>
      </p:sp>
      <p:sp>
        <p:nvSpPr>
          <p:cNvPr id="9" name="Shape 7"/>
          <p:cNvSpPr/>
          <p:nvPr/>
        </p:nvSpPr>
        <p:spPr>
          <a:xfrm>
            <a:off x="3840480" y="4480560"/>
            <a:ext cx="2834640" cy="475488"/>
          </a:xfrm>
          <a:prstGeom prst="roundRect">
            <a:avLst>
              <a:gd name="adj" fmla="val 19231"/>
            </a:avLst>
          </a:prstGeom>
          <a:solidFill>
            <a:srgbClr val="16395C"/>
          </a:solidFill>
          <a:ln w="12700">
            <a:solidFill>
              <a:srgbClr val="2A5580"/>
            </a:solidFill>
            <a:prstDash val="solid"/>
          </a:ln>
        </p:spPr>
      </p:sp>
      <p:sp>
        <p:nvSpPr>
          <p:cNvPr id="10" name="Text 8"/>
          <p:cNvSpPr txBox="1"/>
          <p:nvPr/>
        </p:nvSpPr>
        <p:spPr>
          <a:xfrm>
            <a:off x="3840480" y="4480560"/>
            <a:ext cx="2834640" cy="475488"/>
          </a:xfrm>
          <a:prstGeom prst="rect">
            <a:avLst/>
          </a:prstGeom>
          <a:noFill/>
          <a:ln/>
        </p:spPr>
        <p:txBody>
          <a:bodyPr wrap="square" lIns="0" tIns="0" rIns="0" bIns="0" rtlCol="0" anchor="ctr"/>
          <a:lstStyle/>
          <a:p>
            <a:pPr algn="ctr" indent="0" marL="0">
              <a:buNone/>
            </a:pPr>
            <a:r>
              <a:rPr lang="en-US" sz="1150" b="1" dirty="0">
                <a:solidFill>
                  <a:srgbClr val="DCE8F2"/>
                </a:solidFill>
                <a:latin typeface="Calibri" pitchFamily="34" charset="0"/>
                <a:ea typeface="Calibri" pitchFamily="34" charset="-122"/>
                <a:cs typeface="Calibri" pitchFamily="34" charset="-120"/>
              </a:rPr>
              <a:t>Final Report</a:t>
            </a:r>
            <a:endParaRPr lang="en-US" sz="1150" dirty="0"/>
          </a:p>
        </p:txBody>
      </p:sp>
      <p:sp>
        <p:nvSpPr>
          <p:cNvPr id="12" name="Text 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4 — TASKS 1 &amp; 2</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Three Scenarios, First Five Actions</a:t>
            </a:r>
            <a:endParaRPr lang="en-US" sz="3000" dirty="0"/>
          </a:p>
        </p:txBody>
      </p:sp>
      <p:sp>
        <p:nvSpPr>
          <p:cNvPr id="4" name="Shape 2"/>
          <p:cNvSpPr/>
          <p:nvPr/>
        </p:nvSpPr>
        <p:spPr>
          <a:xfrm>
            <a:off x="566928" y="1371600"/>
            <a:ext cx="3529584" cy="429768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Shape 3"/>
          <p:cNvSpPr/>
          <p:nvPr/>
        </p:nvSpPr>
        <p:spPr>
          <a:xfrm>
            <a:off x="804672" y="1572768"/>
            <a:ext cx="3063240" cy="475488"/>
          </a:xfrm>
          <a:prstGeom prst="roundRect">
            <a:avLst>
              <a:gd name="adj" fmla="val 15385"/>
            </a:avLst>
          </a:prstGeom>
          <a:solidFill>
            <a:srgbClr val="A62B22"/>
          </a:solidFill>
          <a:ln w="12700">
            <a:solidFill>
              <a:srgbClr val="A62B22"/>
            </a:solidFill>
            <a:prstDash val="solid"/>
          </a:ln>
        </p:spPr>
      </p:sp>
      <p:sp>
        <p:nvSpPr>
          <p:cNvPr id="6" name="Text 4"/>
          <p:cNvSpPr txBox="1"/>
          <p:nvPr/>
        </p:nvSpPr>
        <p:spPr>
          <a:xfrm>
            <a:off x="804672" y="1572768"/>
            <a:ext cx="30632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Lost or stolen device</a:t>
            </a:r>
            <a:endParaRPr lang="en-US" sz="1400" dirty="0"/>
          </a:p>
        </p:txBody>
      </p:sp>
      <p:sp>
        <p:nvSpPr>
          <p:cNvPr id="7" name="Shape 5"/>
          <p:cNvSpPr/>
          <p:nvPr/>
        </p:nvSpPr>
        <p:spPr>
          <a:xfrm>
            <a:off x="804672" y="2212848"/>
            <a:ext cx="292608" cy="292608"/>
          </a:xfrm>
          <a:prstGeom prst="ellipse">
            <a:avLst/>
          </a:prstGeom>
          <a:solidFill>
            <a:srgbClr val="E8EEF4"/>
          </a:solidFill>
          <a:ln w="12700">
            <a:solidFill>
              <a:srgbClr val="E8EEF4"/>
            </a:solidFill>
            <a:prstDash val="solid"/>
          </a:ln>
        </p:spPr>
      </p:sp>
      <p:sp>
        <p:nvSpPr>
          <p:cNvPr id="8" name="Text 6"/>
          <p:cNvSpPr txBox="1"/>
          <p:nvPr/>
        </p:nvSpPr>
        <p:spPr>
          <a:xfrm>
            <a:off x="804672" y="22128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04672" y="2212848"/>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170432" y="2176272"/>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Tell the manager immediately — time matters most</a:t>
            </a:r>
            <a:endParaRPr lang="en-US" sz="1050" dirty="0"/>
          </a:p>
        </p:txBody>
      </p:sp>
      <p:sp>
        <p:nvSpPr>
          <p:cNvPr id="11" name="Shape 9"/>
          <p:cNvSpPr/>
          <p:nvPr/>
        </p:nvSpPr>
        <p:spPr>
          <a:xfrm>
            <a:off x="804672" y="2889504"/>
            <a:ext cx="292608" cy="292608"/>
          </a:xfrm>
          <a:prstGeom prst="ellipse">
            <a:avLst/>
          </a:prstGeom>
          <a:solidFill>
            <a:srgbClr val="E8EEF4"/>
          </a:solidFill>
          <a:ln w="12700">
            <a:solidFill>
              <a:srgbClr val="E8EEF4"/>
            </a:solidFill>
            <a:prstDash val="solid"/>
          </a:ln>
        </p:spPr>
      </p:sp>
      <p:sp>
        <p:nvSpPr>
          <p:cNvPr id="12" name="Text 10"/>
          <p:cNvSpPr txBox="1"/>
          <p:nvPr/>
        </p:nvSpPr>
        <p:spPr>
          <a:xfrm>
            <a:off x="804672" y="28895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804672" y="2889504"/>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70432" y="2852928"/>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Sign out of that device remotely from Gmail and WhatsApp</a:t>
            </a:r>
            <a:endParaRPr lang="en-US" sz="1050" dirty="0"/>
          </a:p>
        </p:txBody>
      </p:sp>
      <p:sp>
        <p:nvSpPr>
          <p:cNvPr id="15" name="Shape 13"/>
          <p:cNvSpPr/>
          <p:nvPr/>
        </p:nvSpPr>
        <p:spPr>
          <a:xfrm>
            <a:off x="804672" y="3566160"/>
            <a:ext cx="292608" cy="292608"/>
          </a:xfrm>
          <a:prstGeom prst="ellipse">
            <a:avLst/>
          </a:prstGeom>
          <a:solidFill>
            <a:srgbClr val="E8EEF4"/>
          </a:solidFill>
          <a:ln w="12700">
            <a:solidFill>
              <a:srgbClr val="E8EEF4"/>
            </a:solidFill>
            <a:prstDash val="solid"/>
          </a:ln>
        </p:spPr>
      </p:sp>
      <p:sp>
        <p:nvSpPr>
          <p:cNvPr id="16" name="Text 14"/>
          <p:cNvSpPr txBox="1"/>
          <p:nvPr/>
        </p:nvSpPr>
        <p:spPr>
          <a:xfrm>
            <a:off x="804672" y="3566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04672" y="3566160"/>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70432" y="3529584"/>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Change the passwords for any account used on it</a:t>
            </a:r>
            <a:endParaRPr lang="en-US" sz="1050" dirty="0"/>
          </a:p>
        </p:txBody>
      </p:sp>
      <p:sp>
        <p:nvSpPr>
          <p:cNvPr id="19" name="Shape 17"/>
          <p:cNvSpPr/>
          <p:nvPr/>
        </p:nvSpPr>
        <p:spPr>
          <a:xfrm>
            <a:off x="804672" y="4242816"/>
            <a:ext cx="292608" cy="292608"/>
          </a:xfrm>
          <a:prstGeom prst="ellipse">
            <a:avLst/>
          </a:prstGeom>
          <a:solidFill>
            <a:srgbClr val="E8EEF4"/>
          </a:solidFill>
          <a:ln w="12700">
            <a:solidFill>
              <a:srgbClr val="E8EEF4"/>
            </a:solidFill>
            <a:prstDash val="solid"/>
          </a:ln>
        </p:spPr>
      </p:sp>
      <p:sp>
        <p:nvSpPr>
          <p:cNvPr id="20" name="Text 18"/>
          <p:cNvSpPr txBox="1"/>
          <p:nvPr/>
        </p:nvSpPr>
        <p:spPr>
          <a:xfrm>
            <a:off x="804672" y="42428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804672" y="4242816"/>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170432" y="4206240"/>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Check if customer data was stored on it, and list what</a:t>
            </a:r>
            <a:endParaRPr lang="en-US" sz="1050" dirty="0"/>
          </a:p>
        </p:txBody>
      </p:sp>
      <p:sp>
        <p:nvSpPr>
          <p:cNvPr id="23" name="Shape 21"/>
          <p:cNvSpPr/>
          <p:nvPr/>
        </p:nvSpPr>
        <p:spPr>
          <a:xfrm>
            <a:off x="804672" y="4919472"/>
            <a:ext cx="292608" cy="292608"/>
          </a:xfrm>
          <a:prstGeom prst="ellipse">
            <a:avLst/>
          </a:prstGeom>
          <a:solidFill>
            <a:srgbClr val="E8EEF4"/>
          </a:solidFill>
          <a:ln w="12700">
            <a:solidFill>
              <a:srgbClr val="E8EEF4"/>
            </a:solidFill>
            <a:prstDash val="solid"/>
          </a:ln>
        </p:spPr>
      </p:sp>
      <p:sp>
        <p:nvSpPr>
          <p:cNvPr id="24" name="Text 22"/>
          <p:cNvSpPr txBox="1"/>
          <p:nvPr/>
        </p:nvSpPr>
        <p:spPr>
          <a:xfrm>
            <a:off x="804672" y="49194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804672" y="4919472"/>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5</a:t>
            </a:r>
            <a:endParaRPr lang="en-US" sz="1100" dirty="0"/>
          </a:p>
        </p:txBody>
      </p:sp>
      <p:sp>
        <p:nvSpPr>
          <p:cNvPr id="26" name="Text 24"/>
          <p:cNvSpPr txBox="1"/>
          <p:nvPr/>
        </p:nvSpPr>
        <p:spPr>
          <a:xfrm>
            <a:off x="1170432" y="4882896"/>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Record make, model and what was on it for the report</a:t>
            </a:r>
            <a:endParaRPr lang="en-US" sz="1050" dirty="0"/>
          </a:p>
        </p:txBody>
      </p:sp>
      <p:sp>
        <p:nvSpPr>
          <p:cNvPr id="27" name="Shape 25"/>
          <p:cNvSpPr/>
          <p:nvPr/>
        </p:nvSpPr>
        <p:spPr>
          <a:xfrm>
            <a:off x="4297680" y="1371600"/>
            <a:ext cx="3529584" cy="429768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8" name="Shape 26"/>
          <p:cNvSpPr/>
          <p:nvPr/>
        </p:nvSpPr>
        <p:spPr>
          <a:xfrm>
            <a:off x="4535424" y="1572768"/>
            <a:ext cx="3063240" cy="475488"/>
          </a:xfrm>
          <a:prstGeom prst="roundRect">
            <a:avLst>
              <a:gd name="adj" fmla="val 15385"/>
            </a:avLst>
          </a:prstGeom>
          <a:solidFill>
            <a:srgbClr val="C07A16"/>
          </a:solidFill>
          <a:ln w="12700">
            <a:solidFill>
              <a:srgbClr val="C07A16"/>
            </a:solidFill>
            <a:prstDash val="solid"/>
          </a:ln>
        </p:spPr>
      </p:sp>
      <p:sp>
        <p:nvSpPr>
          <p:cNvPr id="29" name="Text 27"/>
          <p:cNvSpPr txBox="1"/>
          <p:nvPr/>
        </p:nvSpPr>
        <p:spPr>
          <a:xfrm>
            <a:off x="4535424" y="1572768"/>
            <a:ext cx="30632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Hacked account</a:t>
            </a:r>
            <a:endParaRPr lang="en-US" sz="1400" dirty="0"/>
          </a:p>
        </p:txBody>
      </p:sp>
      <p:sp>
        <p:nvSpPr>
          <p:cNvPr id="30" name="Shape 28"/>
          <p:cNvSpPr/>
          <p:nvPr/>
        </p:nvSpPr>
        <p:spPr>
          <a:xfrm>
            <a:off x="4535424" y="2212848"/>
            <a:ext cx="292608" cy="292608"/>
          </a:xfrm>
          <a:prstGeom prst="ellipse">
            <a:avLst/>
          </a:prstGeom>
          <a:solidFill>
            <a:srgbClr val="E8EEF4"/>
          </a:solidFill>
          <a:ln w="12700">
            <a:solidFill>
              <a:srgbClr val="E8EEF4"/>
            </a:solidFill>
            <a:prstDash val="solid"/>
          </a:ln>
        </p:spPr>
      </p:sp>
      <p:sp>
        <p:nvSpPr>
          <p:cNvPr id="31" name="Text 29"/>
          <p:cNvSpPr txBox="1"/>
          <p:nvPr/>
        </p:nvSpPr>
        <p:spPr>
          <a:xfrm>
            <a:off x="4535424" y="22128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txBox="1"/>
          <p:nvPr/>
        </p:nvSpPr>
        <p:spPr>
          <a:xfrm>
            <a:off x="4535424" y="2212848"/>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1</a:t>
            </a:r>
            <a:endParaRPr lang="en-US" sz="1100" dirty="0"/>
          </a:p>
        </p:txBody>
      </p:sp>
      <p:sp>
        <p:nvSpPr>
          <p:cNvPr id="33" name="Text 31"/>
          <p:cNvSpPr txBox="1"/>
          <p:nvPr/>
        </p:nvSpPr>
        <p:spPr>
          <a:xfrm>
            <a:off x="4901184" y="2176272"/>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Try to sign in and change the password at once</a:t>
            </a:r>
            <a:endParaRPr lang="en-US" sz="1050" dirty="0"/>
          </a:p>
        </p:txBody>
      </p:sp>
      <p:sp>
        <p:nvSpPr>
          <p:cNvPr id="34" name="Shape 32"/>
          <p:cNvSpPr/>
          <p:nvPr/>
        </p:nvSpPr>
        <p:spPr>
          <a:xfrm>
            <a:off x="4535424" y="2889504"/>
            <a:ext cx="292608" cy="292608"/>
          </a:xfrm>
          <a:prstGeom prst="ellipse">
            <a:avLst/>
          </a:prstGeom>
          <a:solidFill>
            <a:srgbClr val="E8EEF4"/>
          </a:solidFill>
          <a:ln w="12700">
            <a:solidFill>
              <a:srgbClr val="E8EEF4"/>
            </a:solidFill>
            <a:prstDash val="solid"/>
          </a:ln>
        </p:spPr>
      </p:sp>
      <p:sp>
        <p:nvSpPr>
          <p:cNvPr id="35" name="Text 33"/>
          <p:cNvSpPr txBox="1"/>
          <p:nvPr/>
        </p:nvSpPr>
        <p:spPr>
          <a:xfrm>
            <a:off x="4535424" y="28895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4"/>
          <p:cNvSpPr txBox="1"/>
          <p:nvPr/>
        </p:nvSpPr>
        <p:spPr>
          <a:xfrm>
            <a:off x="4535424" y="2889504"/>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2</a:t>
            </a:r>
            <a:endParaRPr lang="en-US" sz="1100" dirty="0"/>
          </a:p>
        </p:txBody>
      </p:sp>
      <p:sp>
        <p:nvSpPr>
          <p:cNvPr id="37" name="Text 35"/>
          <p:cNvSpPr txBox="1"/>
          <p:nvPr/>
        </p:nvSpPr>
        <p:spPr>
          <a:xfrm>
            <a:off x="4901184" y="2852928"/>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If locked out, use account recovery from a clean device</a:t>
            </a:r>
            <a:endParaRPr lang="en-US" sz="1050" dirty="0"/>
          </a:p>
        </p:txBody>
      </p:sp>
      <p:sp>
        <p:nvSpPr>
          <p:cNvPr id="38" name="Shape 36"/>
          <p:cNvSpPr/>
          <p:nvPr/>
        </p:nvSpPr>
        <p:spPr>
          <a:xfrm>
            <a:off x="4535424" y="3566160"/>
            <a:ext cx="292608" cy="292608"/>
          </a:xfrm>
          <a:prstGeom prst="ellipse">
            <a:avLst/>
          </a:prstGeom>
          <a:solidFill>
            <a:srgbClr val="E8EEF4"/>
          </a:solidFill>
          <a:ln w="12700">
            <a:solidFill>
              <a:srgbClr val="E8EEF4"/>
            </a:solidFill>
            <a:prstDash val="solid"/>
          </a:ln>
        </p:spPr>
      </p:sp>
      <p:sp>
        <p:nvSpPr>
          <p:cNvPr id="39" name="Text 37"/>
          <p:cNvSpPr txBox="1"/>
          <p:nvPr/>
        </p:nvSpPr>
        <p:spPr>
          <a:xfrm>
            <a:off x="4535424" y="3566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4535424" y="3566160"/>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3</a:t>
            </a:r>
            <a:endParaRPr lang="en-US" sz="1100" dirty="0"/>
          </a:p>
        </p:txBody>
      </p:sp>
      <p:sp>
        <p:nvSpPr>
          <p:cNvPr id="41" name="Text 39"/>
          <p:cNvSpPr txBox="1"/>
          <p:nvPr/>
        </p:nvSpPr>
        <p:spPr>
          <a:xfrm>
            <a:off x="4901184" y="3529584"/>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Turn on MFA and remove unknown recovery details</a:t>
            </a:r>
            <a:endParaRPr lang="en-US" sz="1050" dirty="0"/>
          </a:p>
        </p:txBody>
      </p:sp>
      <p:sp>
        <p:nvSpPr>
          <p:cNvPr id="42" name="Shape 40"/>
          <p:cNvSpPr/>
          <p:nvPr/>
        </p:nvSpPr>
        <p:spPr>
          <a:xfrm>
            <a:off x="4535424" y="4242816"/>
            <a:ext cx="292608" cy="292608"/>
          </a:xfrm>
          <a:prstGeom prst="ellipse">
            <a:avLst/>
          </a:prstGeom>
          <a:solidFill>
            <a:srgbClr val="E8EEF4"/>
          </a:solidFill>
          <a:ln w="12700">
            <a:solidFill>
              <a:srgbClr val="E8EEF4"/>
            </a:solidFill>
            <a:prstDash val="solid"/>
          </a:ln>
        </p:spPr>
      </p:sp>
      <p:sp>
        <p:nvSpPr>
          <p:cNvPr id="43" name="Text 41"/>
          <p:cNvSpPr txBox="1"/>
          <p:nvPr/>
        </p:nvSpPr>
        <p:spPr>
          <a:xfrm>
            <a:off x="4535424" y="42428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42"/>
          <p:cNvSpPr txBox="1"/>
          <p:nvPr/>
        </p:nvSpPr>
        <p:spPr>
          <a:xfrm>
            <a:off x="4535424" y="4242816"/>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4</a:t>
            </a:r>
            <a:endParaRPr lang="en-US" sz="1100" dirty="0"/>
          </a:p>
        </p:txBody>
      </p:sp>
      <p:sp>
        <p:nvSpPr>
          <p:cNvPr id="45" name="Text 43"/>
          <p:cNvSpPr txBox="1"/>
          <p:nvPr/>
        </p:nvSpPr>
        <p:spPr>
          <a:xfrm>
            <a:off x="4901184" y="4206240"/>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Check sent items and posts for scams sent to customers</a:t>
            </a:r>
            <a:endParaRPr lang="en-US" sz="1050" dirty="0"/>
          </a:p>
        </p:txBody>
      </p:sp>
      <p:sp>
        <p:nvSpPr>
          <p:cNvPr id="46" name="Shape 44"/>
          <p:cNvSpPr/>
          <p:nvPr/>
        </p:nvSpPr>
        <p:spPr>
          <a:xfrm>
            <a:off x="4535424" y="4919472"/>
            <a:ext cx="292608" cy="292608"/>
          </a:xfrm>
          <a:prstGeom prst="ellipse">
            <a:avLst/>
          </a:prstGeom>
          <a:solidFill>
            <a:srgbClr val="E8EEF4"/>
          </a:solidFill>
          <a:ln w="12700">
            <a:solidFill>
              <a:srgbClr val="E8EEF4"/>
            </a:solidFill>
            <a:prstDash val="solid"/>
          </a:ln>
        </p:spPr>
      </p:sp>
      <p:sp>
        <p:nvSpPr>
          <p:cNvPr id="47" name="Text 45"/>
          <p:cNvSpPr txBox="1"/>
          <p:nvPr/>
        </p:nvSpPr>
        <p:spPr>
          <a:xfrm>
            <a:off x="4535424" y="49194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6"/>
          <p:cNvSpPr txBox="1"/>
          <p:nvPr/>
        </p:nvSpPr>
        <p:spPr>
          <a:xfrm>
            <a:off x="4535424" y="4919472"/>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5</a:t>
            </a:r>
            <a:endParaRPr lang="en-US" sz="1100" dirty="0"/>
          </a:p>
        </p:txBody>
      </p:sp>
      <p:sp>
        <p:nvSpPr>
          <p:cNvPr id="49" name="Text 47"/>
          <p:cNvSpPr txBox="1"/>
          <p:nvPr/>
        </p:nvSpPr>
        <p:spPr>
          <a:xfrm>
            <a:off x="4901184" y="4882896"/>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Warn customers by WhatsApp if anything was sent in our name</a:t>
            </a:r>
            <a:endParaRPr lang="en-US" sz="1050" dirty="0"/>
          </a:p>
        </p:txBody>
      </p:sp>
      <p:sp>
        <p:nvSpPr>
          <p:cNvPr id="50" name="Shape 48"/>
          <p:cNvSpPr/>
          <p:nvPr/>
        </p:nvSpPr>
        <p:spPr>
          <a:xfrm>
            <a:off x="8028432" y="1371600"/>
            <a:ext cx="3529584" cy="4297680"/>
          </a:xfrm>
          <a:prstGeom prst="roundRect">
            <a:avLst>
              <a:gd name="adj" fmla="val 2073"/>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1" name="Shape 49"/>
          <p:cNvSpPr/>
          <p:nvPr/>
        </p:nvSpPr>
        <p:spPr>
          <a:xfrm>
            <a:off x="8266176" y="1572768"/>
            <a:ext cx="3063240" cy="475488"/>
          </a:xfrm>
          <a:prstGeom prst="roundRect">
            <a:avLst>
              <a:gd name="adj" fmla="val 15385"/>
            </a:avLst>
          </a:prstGeom>
          <a:solidFill>
            <a:srgbClr val="2E5266"/>
          </a:solidFill>
          <a:ln w="12700">
            <a:solidFill>
              <a:srgbClr val="2E5266"/>
            </a:solidFill>
            <a:prstDash val="solid"/>
          </a:ln>
        </p:spPr>
      </p:sp>
      <p:sp>
        <p:nvSpPr>
          <p:cNvPr id="52" name="Text 50"/>
          <p:cNvSpPr txBox="1"/>
          <p:nvPr/>
        </p:nvSpPr>
        <p:spPr>
          <a:xfrm>
            <a:off x="8266176" y="1572768"/>
            <a:ext cx="30632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Suspected malware or data leak</a:t>
            </a:r>
            <a:endParaRPr lang="en-US" sz="1400" dirty="0"/>
          </a:p>
        </p:txBody>
      </p:sp>
      <p:sp>
        <p:nvSpPr>
          <p:cNvPr id="53" name="Shape 51"/>
          <p:cNvSpPr/>
          <p:nvPr/>
        </p:nvSpPr>
        <p:spPr>
          <a:xfrm>
            <a:off x="8266176" y="2212848"/>
            <a:ext cx="292608" cy="292608"/>
          </a:xfrm>
          <a:prstGeom prst="ellipse">
            <a:avLst/>
          </a:prstGeom>
          <a:solidFill>
            <a:srgbClr val="E8EEF4"/>
          </a:solidFill>
          <a:ln w="12700">
            <a:solidFill>
              <a:srgbClr val="E8EEF4"/>
            </a:solidFill>
            <a:prstDash val="solid"/>
          </a:ln>
        </p:spPr>
      </p:sp>
      <p:sp>
        <p:nvSpPr>
          <p:cNvPr id="54" name="Text 52"/>
          <p:cNvSpPr txBox="1"/>
          <p:nvPr/>
        </p:nvSpPr>
        <p:spPr>
          <a:xfrm>
            <a:off x="8266176" y="22128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5" name="Text 53"/>
          <p:cNvSpPr txBox="1"/>
          <p:nvPr/>
        </p:nvSpPr>
        <p:spPr>
          <a:xfrm>
            <a:off x="8266176" y="2212848"/>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1</a:t>
            </a:r>
            <a:endParaRPr lang="en-US" sz="1100" dirty="0"/>
          </a:p>
        </p:txBody>
      </p:sp>
      <p:sp>
        <p:nvSpPr>
          <p:cNvPr id="56" name="Text 54"/>
          <p:cNvSpPr txBox="1"/>
          <p:nvPr/>
        </p:nvSpPr>
        <p:spPr>
          <a:xfrm>
            <a:off x="8631936" y="2176272"/>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Disconnect the PC from Wi-Fi — do not switch it off yet</a:t>
            </a:r>
            <a:endParaRPr lang="en-US" sz="1050" dirty="0"/>
          </a:p>
        </p:txBody>
      </p:sp>
      <p:sp>
        <p:nvSpPr>
          <p:cNvPr id="57" name="Shape 55"/>
          <p:cNvSpPr/>
          <p:nvPr/>
        </p:nvSpPr>
        <p:spPr>
          <a:xfrm>
            <a:off x="8266176" y="2889504"/>
            <a:ext cx="292608" cy="292608"/>
          </a:xfrm>
          <a:prstGeom prst="ellipse">
            <a:avLst/>
          </a:prstGeom>
          <a:solidFill>
            <a:srgbClr val="E8EEF4"/>
          </a:solidFill>
          <a:ln w="12700">
            <a:solidFill>
              <a:srgbClr val="E8EEF4"/>
            </a:solidFill>
            <a:prstDash val="solid"/>
          </a:ln>
        </p:spPr>
      </p:sp>
      <p:sp>
        <p:nvSpPr>
          <p:cNvPr id="58" name="Text 56"/>
          <p:cNvSpPr txBox="1"/>
          <p:nvPr/>
        </p:nvSpPr>
        <p:spPr>
          <a:xfrm>
            <a:off x="8266176" y="28895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9" name="Text 57"/>
          <p:cNvSpPr txBox="1"/>
          <p:nvPr/>
        </p:nvSpPr>
        <p:spPr>
          <a:xfrm>
            <a:off x="8266176" y="2889504"/>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2</a:t>
            </a:r>
            <a:endParaRPr lang="en-US" sz="1100" dirty="0"/>
          </a:p>
        </p:txBody>
      </p:sp>
      <p:sp>
        <p:nvSpPr>
          <p:cNvPr id="60" name="Text 58"/>
          <p:cNvSpPr txBox="1"/>
          <p:nvPr/>
        </p:nvSpPr>
        <p:spPr>
          <a:xfrm>
            <a:off x="8631936" y="2852928"/>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Stop using shared USB drives across all machines</a:t>
            </a:r>
            <a:endParaRPr lang="en-US" sz="1050" dirty="0"/>
          </a:p>
        </p:txBody>
      </p:sp>
      <p:sp>
        <p:nvSpPr>
          <p:cNvPr id="61" name="Shape 59"/>
          <p:cNvSpPr/>
          <p:nvPr/>
        </p:nvSpPr>
        <p:spPr>
          <a:xfrm>
            <a:off x="8266176" y="3566160"/>
            <a:ext cx="292608" cy="292608"/>
          </a:xfrm>
          <a:prstGeom prst="ellipse">
            <a:avLst/>
          </a:prstGeom>
          <a:solidFill>
            <a:srgbClr val="E8EEF4"/>
          </a:solidFill>
          <a:ln w="12700">
            <a:solidFill>
              <a:srgbClr val="E8EEF4"/>
            </a:solidFill>
            <a:prstDash val="solid"/>
          </a:ln>
        </p:spPr>
      </p:sp>
      <p:sp>
        <p:nvSpPr>
          <p:cNvPr id="62" name="Text 60"/>
          <p:cNvSpPr txBox="1"/>
          <p:nvPr/>
        </p:nvSpPr>
        <p:spPr>
          <a:xfrm>
            <a:off x="8266176" y="3566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3" name="Text 61"/>
          <p:cNvSpPr txBox="1"/>
          <p:nvPr/>
        </p:nvSpPr>
        <p:spPr>
          <a:xfrm>
            <a:off x="8266176" y="3566160"/>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3</a:t>
            </a:r>
            <a:endParaRPr lang="en-US" sz="1100" dirty="0"/>
          </a:p>
        </p:txBody>
      </p:sp>
      <p:sp>
        <p:nvSpPr>
          <p:cNvPr id="64" name="Text 62"/>
          <p:cNvSpPr txBox="1"/>
          <p:nvPr/>
        </p:nvSpPr>
        <p:spPr>
          <a:xfrm>
            <a:off x="8631936" y="3529584"/>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Note the exact time, the alert seen and who was using it</a:t>
            </a:r>
            <a:endParaRPr lang="en-US" sz="1050" dirty="0"/>
          </a:p>
        </p:txBody>
      </p:sp>
      <p:sp>
        <p:nvSpPr>
          <p:cNvPr id="65" name="Shape 63"/>
          <p:cNvSpPr/>
          <p:nvPr/>
        </p:nvSpPr>
        <p:spPr>
          <a:xfrm>
            <a:off x="8266176" y="4242816"/>
            <a:ext cx="292608" cy="292608"/>
          </a:xfrm>
          <a:prstGeom prst="ellipse">
            <a:avLst/>
          </a:prstGeom>
          <a:solidFill>
            <a:srgbClr val="E8EEF4"/>
          </a:solidFill>
          <a:ln w="12700">
            <a:solidFill>
              <a:srgbClr val="E8EEF4"/>
            </a:solidFill>
            <a:prstDash val="solid"/>
          </a:ln>
        </p:spPr>
      </p:sp>
      <p:sp>
        <p:nvSpPr>
          <p:cNvPr id="66" name="Text 64"/>
          <p:cNvSpPr txBox="1"/>
          <p:nvPr/>
        </p:nvSpPr>
        <p:spPr>
          <a:xfrm>
            <a:off x="8266176" y="42428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7" name="Text 65"/>
          <p:cNvSpPr txBox="1"/>
          <p:nvPr/>
        </p:nvSpPr>
        <p:spPr>
          <a:xfrm>
            <a:off x="8266176" y="4242816"/>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4</a:t>
            </a:r>
            <a:endParaRPr lang="en-US" sz="1100" dirty="0"/>
          </a:p>
        </p:txBody>
      </p:sp>
      <p:sp>
        <p:nvSpPr>
          <p:cNvPr id="68" name="Text 66"/>
          <p:cNvSpPr txBox="1"/>
          <p:nvPr/>
        </p:nvSpPr>
        <p:spPr>
          <a:xfrm>
            <a:off x="8631936" y="4206240"/>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Restore affected files from the backup on a clean machine</a:t>
            </a:r>
            <a:endParaRPr lang="en-US" sz="1050" dirty="0"/>
          </a:p>
        </p:txBody>
      </p:sp>
      <p:sp>
        <p:nvSpPr>
          <p:cNvPr id="69" name="Shape 67"/>
          <p:cNvSpPr/>
          <p:nvPr/>
        </p:nvSpPr>
        <p:spPr>
          <a:xfrm>
            <a:off x="8266176" y="4919472"/>
            <a:ext cx="292608" cy="292608"/>
          </a:xfrm>
          <a:prstGeom prst="ellipse">
            <a:avLst/>
          </a:prstGeom>
          <a:solidFill>
            <a:srgbClr val="E8EEF4"/>
          </a:solidFill>
          <a:ln w="12700">
            <a:solidFill>
              <a:srgbClr val="E8EEF4"/>
            </a:solidFill>
            <a:prstDash val="solid"/>
          </a:ln>
        </p:spPr>
      </p:sp>
      <p:sp>
        <p:nvSpPr>
          <p:cNvPr id="70" name="Text 68"/>
          <p:cNvSpPr txBox="1"/>
          <p:nvPr/>
        </p:nvSpPr>
        <p:spPr>
          <a:xfrm>
            <a:off x="8266176" y="49194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1" name="Text 69"/>
          <p:cNvSpPr txBox="1"/>
          <p:nvPr/>
        </p:nvSpPr>
        <p:spPr>
          <a:xfrm>
            <a:off x="8266176" y="4919472"/>
            <a:ext cx="29260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5</a:t>
            </a:r>
            <a:endParaRPr lang="en-US" sz="1100" dirty="0"/>
          </a:p>
        </p:txBody>
      </p:sp>
      <p:sp>
        <p:nvSpPr>
          <p:cNvPr id="72" name="Text 70"/>
          <p:cNvSpPr txBox="1"/>
          <p:nvPr/>
        </p:nvSpPr>
        <p:spPr>
          <a:xfrm>
            <a:off x="8631936" y="4882896"/>
            <a:ext cx="2697480" cy="585216"/>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Only then rebuild or clean the affected computer</a:t>
            </a:r>
            <a:endParaRPr lang="en-US" sz="1050" dirty="0"/>
          </a:p>
        </p:txBody>
      </p:sp>
      <p:sp>
        <p:nvSpPr>
          <p:cNvPr id="74" name="Text 71"/>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4 — TASKS 3 &amp; 4</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Contacts, Evidence and the Report Form</a:t>
            </a:r>
            <a:endParaRPr lang="en-US" sz="3000" dirty="0"/>
          </a:p>
        </p:txBody>
      </p:sp>
      <p:sp>
        <p:nvSpPr>
          <p:cNvPr id="4" name="Shape 2"/>
          <p:cNvSpPr/>
          <p:nvPr/>
        </p:nvSpPr>
        <p:spPr>
          <a:xfrm>
            <a:off x="566928" y="1371600"/>
            <a:ext cx="3611880" cy="4480560"/>
          </a:xfrm>
          <a:prstGeom prst="roundRect">
            <a:avLst>
              <a:gd name="adj" fmla="val 2025"/>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Text 3"/>
          <p:cNvSpPr txBox="1"/>
          <p:nvPr/>
        </p:nvSpPr>
        <p:spPr>
          <a:xfrm>
            <a:off x="804672" y="1572768"/>
            <a:ext cx="3108960" cy="292608"/>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Who to contact</a:t>
            </a:r>
            <a:endParaRPr lang="en-US" sz="1600" dirty="0"/>
          </a:p>
        </p:txBody>
      </p:sp>
      <p:sp>
        <p:nvSpPr>
          <p:cNvPr id="6" name="Text 4"/>
          <p:cNvSpPr txBox="1"/>
          <p:nvPr/>
        </p:nvSpPr>
        <p:spPr>
          <a:xfrm>
            <a:off x="804672" y="2011680"/>
            <a:ext cx="731520" cy="237744"/>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First</a:t>
            </a:r>
            <a:endParaRPr lang="en-US" sz="950" dirty="0"/>
          </a:p>
        </p:txBody>
      </p:sp>
      <p:sp>
        <p:nvSpPr>
          <p:cNvPr id="7" name="Text 5"/>
          <p:cNvSpPr txBox="1"/>
          <p:nvPr/>
        </p:nvSpPr>
        <p:spPr>
          <a:xfrm>
            <a:off x="804672" y="2231136"/>
            <a:ext cx="310896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Shop Manager</a:t>
            </a:r>
            <a:endParaRPr lang="en-US" sz="1200" dirty="0"/>
          </a:p>
        </p:txBody>
      </p:sp>
      <p:sp>
        <p:nvSpPr>
          <p:cNvPr id="8" name="Text 6"/>
          <p:cNvSpPr txBox="1"/>
          <p:nvPr/>
        </p:nvSpPr>
        <p:spPr>
          <a:xfrm>
            <a:off x="804672" y="2468880"/>
            <a:ext cx="3108960" cy="25603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All incidents, within the hour</a:t>
            </a:r>
            <a:endParaRPr lang="en-US" sz="1050" dirty="0"/>
          </a:p>
        </p:txBody>
      </p:sp>
      <p:sp>
        <p:nvSpPr>
          <p:cNvPr id="9" name="Text 7"/>
          <p:cNvSpPr txBox="1"/>
          <p:nvPr/>
        </p:nvSpPr>
        <p:spPr>
          <a:xfrm>
            <a:off x="804672" y="2779776"/>
            <a:ext cx="731520" cy="237744"/>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Then</a:t>
            </a:r>
            <a:endParaRPr lang="en-US" sz="950" dirty="0"/>
          </a:p>
        </p:txBody>
      </p:sp>
      <p:sp>
        <p:nvSpPr>
          <p:cNvPr id="10" name="Text 8"/>
          <p:cNvSpPr txBox="1"/>
          <p:nvPr/>
        </p:nvSpPr>
        <p:spPr>
          <a:xfrm>
            <a:off x="804672" y="2999232"/>
            <a:ext cx="310896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MD (Caleb)</a:t>
            </a:r>
            <a:endParaRPr lang="en-US" sz="1200" dirty="0"/>
          </a:p>
        </p:txBody>
      </p:sp>
      <p:sp>
        <p:nvSpPr>
          <p:cNvPr id="11" name="Text 9"/>
          <p:cNvSpPr txBox="1"/>
          <p:nvPr/>
        </p:nvSpPr>
        <p:spPr>
          <a:xfrm>
            <a:off x="804672" y="3236976"/>
            <a:ext cx="3108960" cy="25603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Money, customer data or media involved</a:t>
            </a:r>
            <a:endParaRPr lang="en-US" sz="1050" dirty="0"/>
          </a:p>
        </p:txBody>
      </p:sp>
      <p:sp>
        <p:nvSpPr>
          <p:cNvPr id="12" name="Text 10"/>
          <p:cNvSpPr txBox="1"/>
          <p:nvPr/>
        </p:nvSpPr>
        <p:spPr>
          <a:xfrm>
            <a:off x="804672" y="3547872"/>
            <a:ext cx="731520" cy="237744"/>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Bank</a:t>
            </a:r>
            <a:endParaRPr lang="en-US" sz="950" dirty="0"/>
          </a:p>
        </p:txBody>
      </p:sp>
      <p:sp>
        <p:nvSpPr>
          <p:cNvPr id="13" name="Text 11"/>
          <p:cNvSpPr txBox="1"/>
          <p:nvPr/>
        </p:nvSpPr>
        <p:spPr>
          <a:xfrm>
            <a:off x="804672" y="3767328"/>
            <a:ext cx="310896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Bank fraud desk</a:t>
            </a:r>
            <a:endParaRPr lang="en-US" sz="1200" dirty="0"/>
          </a:p>
        </p:txBody>
      </p:sp>
      <p:sp>
        <p:nvSpPr>
          <p:cNvPr id="14" name="Text 12"/>
          <p:cNvSpPr txBox="1"/>
          <p:nvPr/>
        </p:nvSpPr>
        <p:spPr>
          <a:xfrm>
            <a:off x="804672" y="4005072"/>
            <a:ext cx="3108960" cy="25603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Any suspected fraudulent payment</a:t>
            </a:r>
            <a:endParaRPr lang="en-US" sz="1050" dirty="0"/>
          </a:p>
        </p:txBody>
      </p:sp>
      <p:sp>
        <p:nvSpPr>
          <p:cNvPr id="15" name="Text 13"/>
          <p:cNvSpPr txBox="1"/>
          <p:nvPr/>
        </p:nvSpPr>
        <p:spPr>
          <a:xfrm>
            <a:off x="804672" y="4315968"/>
            <a:ext cx="731520" cy="237744"/>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Clients</a:t>
            </a:r>
            <a:endParaRPr lang="en-US" sz="950" dirty="0"/>
          </a:p>
        </p:txBody>
      </p:sp>
      <p:sp>
        <p:nvSpPr>
          <p:cNvPr id="16" name="Text 14"/>
          <p:cNvSpPr txBox="1"/>
          <p:nvPr/>
        </p:nvSpPr>
        <p:spPr>
          <a:xfrm>
            <a:off x="804672" y="4535424"/>
            <a:ext cx="310896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Affected client offices</a:t>
            </a:r>
            <a:endParaRPr lang="en-US" sz="1200" dirty="0"/>
          </a:p>
        </p:txBody>
      </p:sp>
      <p:sp>
        <p:nvSpPr>
          <p:cNvPr id="17" name="Text 15"/>
          <p:cNvSpPr txBox="1"/>
          <p:nvPr/>
        </p:nvSpPr>
        <p:spPr>
          <a:xfrm>
            <a:off x="804672" y="4773168"/>
            <a:ext cx="3108960" cy="25603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If their data or devices are involved</a:t>
            </a:r>
            <a:endParaRPr lang="en-US" sz="1050" dirty="0"/>
          </a:p>
        </p:txBody>
      </p:sp>
      <p:sp>
        <p:nvSpPr>
          <p:cNvPr id="18" name="Text 16"/>
          <p:cNvSpPr txBox="1"/>
          <p:nvPr/>
        </p:nvSpPr>
        <p:spPr>
          <a:xfrm>
            <a:off x="804672" y="5084064"/>
            <a:ext cx="731520" cy="237744"/>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Police</a:t>
            </a:r>
            <a:endParaRPr lang="en-US" sz="950" dirty="0"/>
          </a:p>
        </p:txBody>
      </p:sp>
      <p:sp>
        <p:nvSpPr>
          <p:cNvPr id="19" name="Text 17"/>
          <p:cNvSpPr txBox="1"/>
          <p:nvPr/>
        </p:nvSpPr>
        <p:spPr>
          <a:xfrm>
            <a:off x="804672" y="5303520"/>
            <a:ext cx="3108960" cy="256032"/>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Local police / NPF cybercrime</a:t>
            </a:r>
            <a:endParaRPr lang="en-US" sz="1200" dirty="0"/>
          </a:p>
        </p:txBody>
      </p:sp>
      <p:sp>
        <p:nvSpPr>
          <p:cNvPr id="20" name="Text 18"/>
          <p:cNvSpPr txBox="1"/>
          <p:nvPr/>
        </p:nvSpPr>
        <p:spPr>
          <a:xfrm>
            <a:off x="804672" y="5541264"/>
            <a:ext cx="3108960" cy="256032"/>
          </a:xfrm>
          <a:prstGeom prst="rect">
            <a:avLst/>
          </a:prstGeom>
          <a:noFill/>
          <a:ln/>
        </p:spPr>
        <p:txBody>
          <a:bodyPr wrap="square" lIns="0" tIns="0" rIns="0" bIns="0" rtlCol="0" anchor="ctr"/>
          <a:lstStyle/>
          <a:p>
            <a:pPr indent="0" marL="0">
              <a:buNone/>
            </a:pPr>
            <a:r>
              <a:rPr lang="en-US" sz="1050" dirty="0">
                <a:solidFill>
                  <a:srgbClr val="5E7183"/>
                </a:solidFill>
                <a:latin typeface="Calibri" pitchFamily="34" charset="0"/>
                <a:ea typeface="Calibri" pitchFamily="34" charset="-122"/>
                <a:cs typeface="Calibri" pitchFamily="34" charset="-120"/>
              </a:rPr>
              <a:t>Theft, fraud or extortion</a:t>
            </a:r>
            <a:endParaRPr lang="en-US" sz="1050" dirty="0"/>
          </a:p>
        </p:txBody>
      </p:sp>
      <p:sp>
        <p:nvSpPr>
          <p:cNvPr id="21" name="Shape 19"/>
          <p:cNvSpPr/>
          <p:nvPr/>
        </p:nvSpPr>
        <p:spPr>
          <a:xfrm>
            <a:off x="4379976" y="1371600"/>
            <a:ext cx="3611880" cy="4480560"/>
          </a:xfrm>
          <a:prstGeom prst="roundRect">
            <a:avLst>
              <a:gd name="adj" fmla="val 2025"/>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2" name="Text 20"/>
          <p:cNvSpPr txBox="1"/>
          <p:nvPr/>
        </p:nvSpPr>
        <p:spPr>
          <a:xfrm>
            <a:off x="4617720" y="1572768"/>
            <a:ext cx="3108960" cy="292608"/>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Evidence to preserve</a:t>
            </a:r>
            <a:endParaRPr lang="en-US" sz="1600" dirty="0"/>
          </a:p>
        </p:txBody>
      </p:sp>
      <p:sp>
        <p:nvSpPr>
          <p:cNvPr id="23" name="Text 21"/>
          <p:cNvSpPr txBox="1"/>
          <p:nvPr/>
        </p:nvSpPr>
        <p:spPr>
          <a:xfrm>
            <a:off x="4617720" y="1993392"/>
            <a:ext cx="3154680" cy="329184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Screenshots of the message, alert or post</a:t>
            </a:r>
            <a:endParaRPr lang="en-US" sz="1150" dirty="0"/>
          </a:p>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The original email — forwarded, never deleted</a:t>
            </a:r>
            <a:endParaRPr lang="en-US" sz="1150" dirty="0"/>
          </a:p>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Date and exact time things were noticed</a:t>
            </a:r>
            <a:endParaRPr lang="en-US" sz="1150" dirty="0"/>
          </a:p>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Names of everyone who used the device</a:t>
            </a:r>
            <a:endParaRPr lang="en-US" sz="1150" dirty="0"/>
          </a:p>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Transaction references for any payment made</a:t>
            </a:r>
            <a:endParaRPr lang="en-US" sz="1150" dirty="0"/>
          </a:p>
          <a:p>
            <a:pPr marL="342900" indent="-342900">
              <a:spcAft>
                <a:spcPts val="1000"/>
              </a:spcAft>
              <a:buSzPct val="100000"/>
              <a:buChar char="•"/>
            </a:pPr>
            <a:r>
              <a:rPr lang="en-US" sz="1150" dirty="0">
                <a:solidFill>
                  <a:srgbClr val="5E7183"/>
                </a:solidFill>
                <a:latin typeface="Calibri" pitchFamily="34" charset="0"/>
                <a:ea typeface="Calibri" pitchFamily="34" charset="-122"/>
                <a:cs typeface="Calibri" pitchFamily="34" charset="-120"/>
              </a:rPr>
              <a:t>The device itself, left powered on if possible</a:t>
            </a:r>
            <a:endParaRPr lang="en-US" sz="1150" dirty="0"/>
          </a:p>
        </p:txBody>
      </p:sp>
      <p:sp>
        <p:nvSpPr>
          <p:cNvPr id="24" name="Shape 22"/>
          <p:cNvSpPr/>
          <p:nvPr/>
        </p:nvSpPr>
        <p:spPr>
          <a:xfrm>
            <a:off x="8193024" y="1371600"/>
            <a:ext cx="3438144" cy="4480560"/>
          </a:xfrm>
          <a:prstGeom prst="roundRect">
            <a:avLst>
              <a:gd name="adj" fmla="val 2128"/>
            </a:avLst>
          </a:prstGeom>
          <a:solidFill>
            <a:srgbClr val="12304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5" name="Text 23"/>
          <p:cNvSpPr txBox="1"/>
          <p:nvPr/>
        </p:nvSpPr>
        <p:spPr>
          <a:xfrm>
            <a:off x="8430768" y="1572768"/>
            <a:ext cx="3017520" cy="292608"/>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Incident report form</a:t>
            </a:r>
            <a:endParaRPr lang="en-US" sz="1600" dirty="0"/>
          </a:p>
        </p:txBody>
      </p:sp>
      <p:sp>
        <p:nvSpPr>
          <p:cNvPr id="26" name="Text 24"/>
          <p:cNvSpPr txBox="1"/>
          <p:nvPr/>
        </p:nvSpPr>
        <p:spPr>
          <a:xfrm>
            <a:off x="8430768" y="2011680"/>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Reference number</a:t>
            </a:r>
            <a:endParaRPr lang="en-US" sz="1100" dirty="0"/>
          </a:p>
        </p:txBody>
      </p:sp>
      <p:sp>
        <p:nvSpPr>
          <p:cNvPr id="27" name="Shape 25"/>
          <p:cNvSpPr/>
          <p:nvPr/>
        </p:nvSpPr>
        <p:spPr>
          <a:xfrm>
            <a:off x="8430768" y="2286000"/>
            <a:ext cx="2999232" cy="0"/>
          </a:xfrm>
          <a:prstGeom prst="line">
            <a:avLst/>
          </a:prstGeom>
          <a:noFill/>
          <a:ln w="12700">
            <a:solidFill>
              <a:srgbClr val="2A5580"/>
            </a:solidFill>
            <a:prstDash val="solid"/>
          </a:ln>
        </p:spPr>
      </p:sp>
      <p:sp>
        <p:nvSpPr>
          <p:cNvPr id="28" name="Text 26"/>
          <p:cNvSpPr txBox="1"/>
          <p:nvPr/>
        </p:nvSpPr>
        <p:spPr>
          <a:xfrm>
            <a:off x="8430768" y="2386584"/>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Date and time noticed</a:t>
            </a:r>
            <a:endParaRPr lang="en-US" sz="1100" dirty="0"/>
          </a:p>
        </p:txBody>
      </p:sp>
      <p:sp>
        <p:nvSpPr>
          <p:cNvPr id="29" name="Shape 27"/>
          <p:cNvSpPr/>
          <p:nvPr/>
        </p:nvSpPr>
        <p:spPr>
          <a:xfrm>
            <a:off x="8430768" y="2660904"/>
            <a:ext cx="2999232" cy="0"/>
          </a:xfrm>
          <a:prstGeom prst="line">
            <a:avLst/>
          </a:prstGeom>
          <a:noFill/>
          <a:ln w="12700">
            <a:solidFill>
              <a:srgbClr val="2A5580"/>
            </a:solidFill>
            <a:prstDash val="solid"/>
          </a:ln>
        </p:spPr>
      </p:sp>
      <p:sp>
        <p:nvSpPr>
          <p:cNvPr id="30" name="Text 28"/>
          <p:cNvSpPr txBox="1"/>
          <p:nvPr/>
        </p:nvSpPr>
        <p:spPr>
          <a:xfrm>
            <a:off x="8430768" y="2761488"/>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Reported by</a:t>
            </a:r>
            <a:endParaRPr lang="en-US" sz="1100" dirty="0"/>
          </a:p>
        </p:txBody>
      </p:sp>
      <p:sp>
        <p:nvSpPr>
          <p:cNvPr id="31" name="Shape 29"/>
          <p:cNvSpPr/>
          <p:nvPr/>
        </p:nvSpPr>
        <p:spPr>
          <a:xfrm>
            <a:off x="8430768" y="3035808"/>
            <a:ext cx="2999232" cy="0"/>
          </a:xfrm>
          <a:prstGeom prst="line">
            <a:avLst/>
          </a:prstGeom>
          <a:noFill/>
          <a:ln w="12700">
            <a:solidFill>
              <a:srgbClr val="2A5580"/>
            </a:solidFill>
            <a:prstDash val="solid"/>
          </a:ln>
        </p:spPr>
      </p:sp>
      <p:sp>
        <p:nvSpPr>
          <p:cNvPr id="32" name="Text 30"/>
          <p:cNvSpPr txBox="1"/>
          <p:nvPr/>
        </p:nvSpPr>
        <p:spPr>
          <a:xfrm>
            <a:off x="8430768" y="3136392"/>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What happened</a:t>
            </a:r>
            <a:endParaRPr lang="en-US" sz="1100" dirty="0"/>
          </a:p>
        </p:txBody>
      </p:sp>
      <p:sp>
        <p:nvSpPr>
          <p:cNvPr id="33" name="Shape 31"/>
          <p:cNvSpPr/>
          <p:nvPr/>
        </p:nvSpPr>
        <p:spPr>
          <a:xfrm>
            <a:off x="8430768" y="3410712"/>
            <a:ext cx="2999232" cy="0"/>
          </a:xfrm>
          <a:prstGeom prst="line">
            <a:avLst/>
          </a:prstGeom>
          <a:noFill/>
          <a:ln w="12700">
            <a:solidFill>
              <a:srgbClr val="2A5580"/>
            </a:solidFill>
            <a:prstDash val="solid"/>
          </a:ln>
        </p:spPr>
      </p:sp>
      <p:sp>
        <p:nvSpPr>
          <p:cNvPr id="34" name="Text 32"/>
          <p:cNvSpPr txBox="1"/>
          <p:nvPr/>
        </p:nvSpPr>
        <p:spPr>
          <a:xfrm>
            <a:off x="8430768" y="3511296"/>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Assets affected</a:t>
            </a:r>
            <a:endParaRPr lang="en-US" sz="1100" dirty="0"/>
          </a:p>
        </p:txBody>
      </p:sp>
      <p:sp>
        <p:nvSpPr>
          <p:cNvPr id="35" name="Shape 33"/>
          <p:cNvSpPr/>
          <p:nvPr/>
        </p:nvSpPr>
        <p:spPr>
          <a:xfrm>
            <a:off x="8430768" y="3785616"/>
            <a:ext cx="2999232" cy="0"/>
          </a:xfrm>
          <a:prstGeom prst="line">
            <a:avLst/>
          </a:prstGeom>
          <a:noFill/>
          <a:ln w="12700">
            <a:solidFill>
              <a:srgbClr val="2A5580"/>
            </a:solidFill>
            <a:prstDash val="solid"/>
          </a:ln>
        </p:spPr>
      </p:sp>
      <p:sp>
        <p:nvSpPr>
          <p:cNvPr id="36" name="Text 34"/>
          <p:cNvSpPr txBox="1"/>
          <p:nvPr/>
        </p:nvSpPr>
        <p:spPr>
          <a:xfrm>
            <a:off x="8430768" y="3886200"/>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Actions already taken</a:t>
            </a:r>
            <a:endParaRPr lang="en-US" sz="1100" dirty="0"/>
          </a:p>
        </p:txBody>
      </p:sp>
      <p:sp>
        <p:nvSpPr>
          <p:cNvPr id="37" name="Shape 35"/>
          <p:cNvSpPr/>
          <p:nvPr/>
        </p:nvSpPr>
        <p:spPr>
          <a:xfrm>
            <a:off x="8430768" y="4160520"/>
            <a:ext cx="2999232" cy="0"/>
          </a:xfrm>
          <a:prstGeom prst="line">
            <a:avLst/>
          </a:prstGeom>
          <a:noFill/>
          <a:ln w="12700">
            <a:solidFill>
              <a:srgbClr val="2A5580"/>
            </a:solidFill>
            <a:prstDash val="solid"/>
          </a:ln>
        </p:spPr>
      </p:sp>
      <p:sp>
        <p:nvSpPr>
          <p:cNvPr id="38" name="Text 36"/>
          <p:cNvSpPr txBox="1"/>
          <p:nvPr/>
        </p:nvSpPr>
        <p:spPr>
          <a:xfrm>
            <a:off x="8430768" y="4261104"/>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Data or money lost?</a:t>
            </a:r>
            <a:endParaRPr lang="en-US" sz="1100" dirty="0"/>
          </a:p>
        </p:txBody>
      </p:sp>
      <p:sp>
        <p:nvSpPr>
          <p:cNvPr id="39" name="Shape 37"/>
          <p:cNvSpPr/>
          <p:nvPr/>
        </p:nvSpPr>
        <p:spPr>
          <a:xfrm>
            <a:off x="8430768" y="4535424"/>
            <a:ext cx="2999232" cy="0"/>
          </a:xfrm>
          <a:prstGeom prst="line">
            <a:avLst/>
          </a:prstGeom>
          <a:noFill/>
          <a:ln w="12700">
            <a:solidFill>
              <a:srgbClr val="2A5580"/>
            </a:solidFill>
            <a:prstDash val="solid"/>
          </a:ln>
        </p:spPr>
      </p:sp>
      <p:sp>
        <p:nvSpPr>
          <p:cNvPr id="40" name="Text 38"/>
          <p:cNvSpPr txBox="1"/>
          <p:nvPr/>
        </p:nvSpPr>
        <p:spPr>
          <a:xfrm>
            <a:off x="8430768" y="4636008"/>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Customers to notify?</a:t>
            </a:r>
            <a:endParaRPr lang="en-US" sz="1100" dirty="0"/>
          </a:p>
        </p:txBody>
      </p:sp>
      <p:sp>
        <p:nvSpPr>
          <p:cNvPr id="41" name="Shape 39"/>
          <p:cNvSpPr/>
          <p:nvPr/>
        </p:nvSpPr>
        <p:spPr>
          <a:xfrm>
            <a:off x="8430768" y="4910328"/>
            <a:ext cx="2999232" cy="0"/>
          </a:xfrm>
          <a:prstGeom prst="line">
            <a:avLst/>
          </a:prstGeom>
          <a:noFill/>
          <a:ln w="12700">
            <a:solidFill>
              <a:srgbClr val="2A5580"/>
            </a:solidFill>
            <a:prstDash val="solid"/>
          </a:ln>
        </p:spPr>
      </p:sp>
      <p:sp>
        <p:nvSpPr>
          <p:cNvPr id="42" name="Text 40"/>
          <p:cNvSpPr txBox="1"/>
          <p:nvPr/>
        </p:nvSpPr>
        <p:spPr>
          <a:xfrm>
            <a:off x="8430768" y="5010912"/>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Closed by / date</a:t>
            </a:r>
            <a:endParaRPr lang="en-US" sz="1100" dirty="0"/>
          </a:p>
        </p:txBody>
      </p:sp>
      <p:sp>
        <p:nvSpPr>
          <p:cNvPr id="43" name="Shape 41"/>
          <p:cNvSpPr/>
          <p:nvPr/>
        </p:nvSpPr>
        <p:spPr>
          <a:xfrm>
            <a:off x="8430768" y="5285232"/>
            <a:ext cx="2999232" cy="0"/>
          </a:xfrm>
          <a:prstGeom prst="line">
            <a:avLst/>
          </a:prstGeom>
          <a:noFill/>
          <a:ln w="12700">
            <a:solidFill>
              <a:srgbClr val="2A5580"/>
            </a:solidFill>
            <a:prstDash val="solid"/>
          </a:ln>
        </p:spPr>
      </p:sp>
      <p:sp>
        <p:nvSpPr>
          <p:cNvPr id="44" name="Text 42"/>
          <p:cNvSpPr txBox="1"/>
          <p:nvPr/>
        </p:nvSpPr>
        <p:spPr>
          <a:xfrm>
            <a:off x="8430768" y="5385816"/>
            <a:ext cx="3017520" cy="237744"/>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Lesson learned</a:t>
            </a:r>
            <a:endParaRPr lang="en-US" sz="1100" dirty="0"/>
          </a:p>
        </p:txBody>
      </p:sp>
      <p:sp>
        <p:nvSpPr>
          <p:cNvPr id="45" name="Shape 43"/>
          <p:cNvSpPr/>
          <p:nvPr/>
        </p:nvSpPr>
        <p:spPr>
          <a:xfrm>
            <a:off x="8430768" y="5660136"/>
            <a:ext cx="2999232" cy="0"/>
          </a:xfrm>
          <a:prstGeom prst="line">
            <a:avLst/>
          </a:prstGeom>
          <a:noFill/>
          <a:ln w="12700">
            <a:solidFill>
              <a:srgbClr val="2A5580"/>
            </a:solidFill>
            <a:prstDash val="solid"/>
          </a:ln>
        </p:spPr>
      </p:sp>
      <p:sp>
        <p:nvSpPr>
          <p:cNvPr id="47" name="Text 44"/>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WEEK 4 — TASK 5</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Top 5 Recommended Improvements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502920"/>
                <a:gridCol w="5623560"/>
                <a:gridCol w="1371600"/>
                <a:gridCol w="1280160"/>
                <a:gridCol w="1005840"/>
                <a:gridCol w="1280160"/>
              </a:tblGrid>
              <a:tr h="4754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Recommendation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Risk treated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2E5266"/>
                    </a:solidFill>
                  </a:tcPr>
                </a:tc>
              </a:tr>
              <a:tr h="475488">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MFA on all ten key accounts, with recovery details refreshed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R1, R3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Second backup copy kept off-site, restore tested monthly</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R2, R5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30 days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Call-back rule before any payment or change of bank details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R4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MD</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Separate café PCs from office machines; no shared USB drives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Technicians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14 days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23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E"/>
                          </a:solidFill>
                          <a:latin typeface="Calibri" pitchFamily="34" charset="0"/>
                          <a:ea typeface="Calibri" pitchFamily="34" charset="-122"/>
                          <a:cs typeface="Calibri" pitchFamily="34" charset="-120"/>
                        </a:rPr>
                        <a:t>Change router and CCTV default passwords; quarterly access review</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R6, R7</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Manager</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6B4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2E"/>
                          </a:solidFill>
                          <a:latin typeface="Calibri" pitchFamily="34" charset="0"/>
                          <a:ea typeface="Calibri" pitchFamily="34" charset="-122"/>
                          <a:cs typeface="Calibri" pitchFamily="34" charset="-120"/>
                        </a:rPr>
                        <a:t>7 days</a:t>
                      </a:r>
                      <a:endParaRPr lang="en-US" sz="1050" dirty="0">
                        <a:latin typeface="Calibri" charset="0"/>
                        <a:ea typeface="Calibri" charset="0"/>
                        <a:cs typeface="Calibri" charset="0"/>
                      </a:endParaRPr>
                    </a:p>
                  </a:txBody>
                  <a:tcPr marL="91440" marR="91440" marT="45720" marB="4572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343400"/>
            <a:ext cx="2642616" cy="1234440"/>
          </a:xfrm>
          <a:prstGeom prst="roundRect">
            <a:avLst>
              <a:gd name="adj" fmla="val 592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6" name="Text 3"/>
          <p:cNvSpPr txBox="1"/>
          <p:nvPr/>
        </p:nvSpPr>
        <p:spPr>
          <a:xfrm>
            <a:off x="566928" y="4453128"/>
            <a:ext cx="2642616" cy="566928"/>
          </a:xfrm>
          <a:prstGeom prst="rect">
            <a:avLst/>
          </a:prstGeom>
          <a:noFill/>
          <a:ln/>
        </p:spPr>
        <p:txBody>
          <a:bodyPr wrap="square" lIns="0" tIns="0" rIns="0" bIns="0" rtlCol="0" anchor="ctr"/>
          <a:lstStyle/>
          <a:p>
            <a:pPr algn="ctr" indent="0" marL="0">
              <a:buNone/>
            </a:pPr>
            <a:r>
              <a:rPr lang="en-US" sz="2600" b="1" dirty="0">
                <a:solidFill>
                  <a:srgbClr val="12304F"/>
                </a:solidFill>
                <a:latin typeface="Cambria" pitchFamily="34" charset="0"/>
                <a:ea typeface="Cambria" pitchFamily="34" charset="-122"/>
                <a:cs typeface="Cambria" pitchFamily="34" charset="-120"/>
              </a:rPr>
              <a:t>3 of 5</a:t>
            </a:r>
            <a:endParaRPr lang="en-US" sz="2600" dirty="0"/>
          </a:p>
        </p:txBody>
      </p:sp>
      <p:sp>
        <p:nvSpPr>
          <p:cNvPr id="7" name="Text 4"/>
          <p:cNvSpPr txBox="1"/>
          <p:nvPr/>
        </p:nvSpPr>
        <p:spPr>
          <a:xfrm>
            <a:off x="704088" y="5029200"/>
            <a:ext cx="2368296" cy="411480"/>
          </a:xfrm>
          <a:prstGeom prst="rect">
            <a:avLst/>
          </a:prstGeom>
          <a:noFill/>
          <a:ln/>
        </p:spPr>
        <p:txBody>
          <a:bodyPr wrap="square" lIns="0" tIns="0" rIns="0" bIns="0" rtlCol="0" anchor="ctr"/>
          <a:lstStyle/>
          <a:p>
            <a:pPr algn="ctr" indent="0" marL="0">
              <a:buNone/>
            </a:pPr>
            <a:r>
              <a:rPr lang="en-US" sz="1100" dirty="0">
                <a:solidFill>
                  <a:srgbClr val="5E7183"/>
                </a:solidFill>
                <a:latin typeface="Calibri" pitchFamily="34" charset="0"/>
                <a:ea typeface="Calibri" pitchFamily="34" charset="-122"/>
                <a:cs typeface="Calibri" pitchFamily="34" charset="-120"/>
              </a:rPr>
              <a:t>already implemented</a:t>
            </a:r>
            <a:endParaRPr lang="en-US" sz="1100" dirty="0"/>
          </a:p>
        </p:txBody>
      </p:sp>
      <p:sp>
        <p:nvSpPr>
          <p:cNvPr id="8" name="Shape 5"/>
          <p:cNvSpPr/>
          <p:nvPr/>
        </p:nvSpPr>
        <p:spPr>
          <a:xfrm>
            <a:off x="3392424" y="4343400"/>
            <a:ext cx="2642616" cy="1234440"/>
          </a:xfrm>
          <a:prstGeom prst="roundRect">
            <a:avLst>
              <a:gd name="adj" fmla="val 592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9" name="Text 6"/>
          <p:cNvSpPr txBox="1"/>
          <p:nvPr/>
        </p:nvSpPr>
        <p:spPr>
          <a:xfrm>
            <a:off x="3392424" y="4453128"/>
            <a:ext cx="2642616" cy="566928"/>
          </a:xfrm>
          <a:prstGeom prst="rect">
            <a:avLst/>
          </a:prstGeom>
          <a:noFill/>
          <a:ln/>
        </p:spPr>
        <p:txBody>
          <a:bodyPr wrap="square" lIns="0" tIns="0" rIns="0" bIns="0" rtlCol="0" anchor="ctr"/>
          <a:lstStyle/>
          <a:p>
            <a:pPr algn="ctr" indent="0" marL="0">
              <a:buNone/>
            </a:pPr>
            <a:r>
              <a:rPr lang="en-US" sz="2600" b="1" dirty="0">
                <a:solidFill>
                  <a:srgbClr val="12304F"/>
                </a:solidFill>
                <a:latin typeface="Cambria" pitchFamily="34" charset="0"/>
                <a:ea typeface="Cambria" pitchFamily="34" charset="-122"/>
                <a:cs typeface="Cambria" pitchFamily="34" charset="-120"/>
              </a:rPr>
              <a:t>₦0</a:t>
            </a:r>
            <a:endParaRPr lang="en-US" sz="2600" dirty="0"/>
          </a:p>
        </p:txBody>
      </p:sp>
      <p:sp>
        <p:nvSpPr>
          <p:cNvPr id="10" name="Text 7"/>
          <p:cNvSpPr txBox="1"/>
          <p:nvPr/>
        </p:nvSpPr>
        <p:spPr>
          <a:xfrm>
            <a:off x="3529584" y="5029200"/>
            <a:ext cx="2368296" cy="411480"/>
          </a:xfrm>
          <a:prstGeom prst="rect">
            <a:avLst/>
          </a:prstGeom>
          <a:noFill/>
          <a:ln/>
        </p:spPr>
        <p:txBody>
          <a:bodyPr wrap="square" lIns="0" tIns="0" rIns="0" bIns="0" rtlCol="0" anchor="ctr"/>
          <a:lstStyle/>
          <a:p>
            <a:pPr algn="ctr" indent="0" marL="0">
              <a:buNone/>
            </a:pPr>
            <a:r>
              <a:rPr lang="en-US" sz="1100" dirty="0">
                <a:solidFill>
                  <a:srgbClr val="5E7183"/>
                </a:solidFill>
                <a:latin typeface="Calibri" pitchFamily="34" charset="0"/>
                <a:ea typeface="Calibri" pitchFamily="34" charset="-122"/>
                <a:cs typeface="Calibri" pitchFamily="34" charset="-120"/>
              </a:rPr>
              <a:t>spent so far</a:t>
            </a:r>
            <a:endParaRPr lang="en-US" sz="1100" dirty="0"/>
          </a:p>
        </p:txBody>
      </p:sp>
      <p:sp>
        <p:nvSpPr>
          <p:cNvPr id="11" name="Shape 8"/>
          <p:cNvSpPr/>
          <p:nvPr/>
        </p:nvSpPr>
        <p:spPr>
          <a:xfrm>
            <a:off x="6217920" y="4343400"/>
            <a:ext cx="2642616" cy="1234440"/>
          </a:xfrm>
          <a:prstGeom prst="roundRect">
            <a:avLst>
              <a:gd name="adj" fmla="val 592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2" name="Text 9"/>
          <p:cNvSpPr txBox="1"/>
          <p:nvPr/>
        </p:nvSpPr>
        <p:spPr>
          <a:xfrm>
            <a:off x="6217920" y="4453128"/>
            <a:ext cx="2642616" cy="566928"/>
          </a:xfrm>
          <a:prstGeom prst="rect">
            <a:avLst/>
          </a:prstGeom>
          <a:noFill/>
          <a:ln/>
        </p:spPr>
        <p:txBody>
          <a:bodyPr wrap="square" lIns="0" tIns="0" rIns="0" bIns="0" rtlCol="0" anchor="ctr"/>
          <a:lstStyle/>
          <a:p>
            <a:pPr algn="ctr" indent="0" marL="0">
              <a:buNone/>
            </a:pPr>
            <a:r>
              <a:rPr lang="en-US" sz="2600" b="1" dirty="0">
                <a:solidFill>
                  <a:srgbClr val="12304F"/>
                </a:solidFill>
                <a:latin typeface="Cambria" pitchFamily="34" charset="0"/>
                <a:ea typeface="Cambria" pitchFamily="34" charset="-122"/>
                <a:cs typeface="Cambria" pitchFamily="34" charset="-120"/>
              </a:rPr>
              <a:t>9</a:t>
            </a:r>
            <a:endParaRPr lang="en-US" sz="2600" dirty="0"/>
          </a:p>
        </p:txBody>
      </p:sp>
      <p:sp>
        <p:nvSpPr>
          <p:cNvPr id="13" name="Text 10"/>
          <p:cNvSpPr txBox="1"/>
          <p:nvPr/>
        </p:nvSpPr>
        <p:spPr>
          <a:xfrm>
            <a:off x="6355080" y="5029200"/>
            <a:ext cx="2368296" cy="411480"/>
          </a:xfrm>
          <a:prstGeom prst="rect">
            <a:avLst/>
          </a:prstGeom>
          <a:noFill/>
          <a:ln/>
        </p:spPr>
        <p:txBody>
          <a:bodyPr wrap="square" lIns="0" tIns="0" rIns="0" bIns="0" rtlCol="0" anchor="ctr"/>
          <a:lstStyle/>
          <a:p>
            <a:pPr algn="ctr" indent="0" marL="0">
              <a:buNone/>
            </a:pPr>
            <a:r>
              <a:rPr lang="en-US" sz="1100" dirty="0">
                <a:solidFill>
                  <a:srgbClr val="5E7183"/>
                </a:solidFill>
                <a:latin typeface="Calibri" pitchFamily="34" charset="0"/>
                <a:ea typeface="Calibri" pitchFamily="34" charset="-122"/>
                <a:cs typeface="Calibri" pitchFamily="34" charset="-120"/>
              </a:rPr>
              <a:t>staff trained</a:t>
            </a:r>
            <a:endParaRPr lang="en-US" sz="1100" dirty="0"/>
          </a:p>
        </p:txBody>
      </p:sp>
      <p:sp>
        <p:nvSpPr>
          <p:cNvPr id="14" name="Shape 11"/>
          <p:cNvSpPr/>
          <p:nvPr/>
        </p:nvSpPr>
        <p:spPr>
          <a:xfrm>
            <a:off x="9043416" y="4343400"/>
            <a:ext cx="2642616" cy="1234440"/>
          </a:xfrm>
          <a:prstGeom prst="roundRect">
            <a:avLst>
              <a:gd name="adj" fmla="val 5926"/>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5" name="Text 12"/>
          <p:cNvSpPr txBox="1"/>
          <p:nvPr/>
        </p:nvSpPr>
        <p:spPr>
          <a:xfrm>
            <a:off x="9043416" y="4453128"/>
            <a:ext cx="2642616" cy="566928"/>
          </a:xfrm>
          <a:prstGeom prst="rect">
            <a:avLst/>
          </a:prstGeom>
          <a:noFill/>
          <a:ln/>
        </p:spPr>
        <p:txBody>
          <a:bodyPr wrap="square" lIns="0" tIns="0" rIns="0" bIns="0" rtlCol="0" anchor="ctr"/>
          <a:lstStyle/>
          <a:p>
            <a:pPr algn="ctr" indent="0" marL="0">
              <a:buNone/>
            </a:pPr>
            <a:r>
              <a:rPr lang="en-US" sz="2600" b="1" dirty="0">
                <a:solidFill>
                  <a:srgbClr val="12304F"/>
                </a:solidFill>
                <a:latin typeface="Cambria" pitchFamily="34" charset="0"/>
                <a:ea typeface="Cambria" pitchFamily="34" charset="-122"/>
                <a:cs typeface="Cambria" pitchFamily="34" charset="-120"/>
              </a:rPr>
              <a:t>12→4</a:t>
            </a:r>
            <a:endParaRPr lang="en-US" sz="2600" dirty="0"/>
          </a:p>
        </p:txBody>
      </p:sp>
      <p:sp>
        <p:nvSpPr>
          <p:cNvPr id="16" name="Text 13"/>
          <p:cNvSpPr txBox="1"/>
          <p:nvPr/>
        </p:nvSpPr>
        <p:spPr>
          <a:xfrm>
            <a:off x="9180576" y="5029200"/>
            <a:ext cx="2368296" cy="411480"/>
          </a:xfrm>
          <a:prstGeom prst="rect">
            <a:avLst/>
          </a:prstGeom>
          <a:noFill/>
          <a:ln/>
        </p:spPr>
        <p:txBody>
          <a:bodyPr wrap="square" lIns="0" tIns="0" rIns="0" bIns="0" rtlCol="0" anchor="ctr"/>
          <a:lstStyle/>
          <a:p>
            <a:pPr algn="ctr" indent="0" marL="0">
              <a:buNone/>
            </a:pPr>
            <a:r>
              <a:rPr lang="en-US" sz="1100" dirty="0">
                <a:solidFill>
                  <a:srgbClr val="5E7183"/>
                </a:solidFill>
                <a:latin typeface="Calibri" pitchFamily="34" charset="0"/>
                <a:ea typeface="Calibri" pitchFamily="34" charset="-122"/>
                <a:cs typeface="Calibri" pitchFamily="34" charset="-120"/>
              </a:rPr>
              <a:t>critical &amp; high risks: before → after</a:t>
            </a:r>
            <a:endParaRPr lang="en-US" sz="1100" dirty="0"/>
          </a:p>
        </p:txBody>
      </p:sp>
      <p:sp>
        <p:nvSpPr>
          <p:cNvPr id="17" name="Text 14"/>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Every recommendation names an owner and a date. A recommendation without an owner is a wish, not a control.</a:t>
            </a:r>
            <a:endParaRPr lang="en-US" sz="1150" dirty="0"/>
          </a:p>
        </p:txBody>
      </p:sp>
      <p:sp>
        <p:nvSpPr>
          <p:cNvPr id="19" name="Text 15"/>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b="1" spc="200" kern="0" dirty="0">
                <a:solidFill>
                  <a:srgbClr val="2E5266"/>
                </a:solidFill>
                <a:latin typeface="Calibri" pitchFamily="34" charset="0"/>
                <a:ea typeface="Calibri" pitchFamily="34" charset="-122"/>
                <a:cs typeface="Calibri" pitchFamily="34" charset="-120"/>
              </a:rPr>
              <a:t>SUBMISSION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Final Evidence Pack — Eight Documents</a:t>
            </a:r>
            <a:endParaRPr lang="en-US" sz="3000" dirty="0"/>
          </a:p>
        </p:txBody>
      </p:sp>
      <p:sp>
        <p:nvSpPr>
          <p:cNvPr id="4" name="Shape 2"/>
          <p:cNvSpPr/>
          <p:nvPr/>
        </p:nvSpPr>
        <p:spPr>
          <a:xfrm>
            <a:off x="566928" y="1371600"/>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5" name="Text 3"/>
          <p:cNvSpPr txBox="1"/>
          <p:nvPr/>
        </p:nvSpPr>
        <p:spPr>
          <a:xfrm>
            <a:off x="768096" y="1591056"/>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1435608" y="1499616"/>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Asset Register</a:t>
            </a:r>
            <a:endParaRPr lang="en-US" sz="1250" dirty="0"/>
          </a:p>
        </p:txBody>
      </p:sp>
      <p:sp>
        <p:nvSpPr>
          <p:cNvPr id="7" name="Text 5"/>
          <p:cNvSpPr txBox="1"/>
          <p:nvPr/>
        </p:nvSpPr>
        <p:spPr>
          <a:xfrm>
            <a:off x="1435608" y="1773936"/>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18 assets across people, devices, accounts, data and services</a:t>
            </a:r>
            <a:endParaRPr lang="en-US" sz="1050" dirty="0"/>
          </a:p>
        </p:txBody>
      </p:sp>
      <p:sp>
        <p:nvSpPr>
          <p:cNvPr id="8" name="Shape 6"/>
          <p:cNvSpPr/>
          <p:nvPr/>
        </p:nvSpPr>
        <p:spPr>
          <a:xfrm>
            <a:off x="5212080" y="1673352"/>
            <a:ext cx="749808" cy="310896"/>
          </a:xfrm>
          <a:prstGeom prst="roundRect">
            <a:avLst>
              <a:gd name="adj" fmla="val 50000"/>
            </a:avLst>
          </a:prstGeom>
          <a:solidFill>
            <a:srgbClr val="E8EEF4"/>
          </a:solidFill>
          <a:ln w="12700">
            <a:solidFill>
              <a:srgbClr val="D8E0E8"/>
            </a:solidFill>
            <a:prstDash val="solid"/>
          </a:ln>
        </p:spPr>
      </p:sp>
      <p:sp>
        <p:nvSpPr>
          <p:cNvPr id="9" name="Text 7"/>
          <p:cNvSpPr txBox="1"/>
          <p:nvPr/>
        </p:nvSpPr>
        <p:spPr>
          <a:xfrm>
            <a:off x="5212080" y="1673352"/>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1</a:t>
            </a:r>
            <a:endParaRPr lang="en-US" sz="1000" dirty="0"/>
          </a:p>
        </p:txBody>
      </p:sp>
      <p:sp>
        <p:nvSpPr>
          <p:cNvPr id="10" name="Shape 8"/>
          <p:cNvSpPr/>
          <p:nvPr/>
        </p:nvSpPr>
        <p:spPr>
          <a:xfrm>
            <a:off x="6345936" y="1371600"/>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1" name="Text 9"/>
          <p:cNvSpPr txBox="1"/>
          <p:nvPr/>
        </p:nvSpPr>
        <p:spPr>
          <a:xfrm>
            <a:off x="6547104" y="1591056"/>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02</a:t>
            </a:r>
            <a:endParaRPr lang="en-US" sz="2400" dirty="0"/>
          </a:p>
        </p:txBody>
      </p:sp>
      <p:sp>
        <p:nvSpPr>
          <p:cNvPr id="12" name="Text 10"/>
          <p:cNvSpPr txBox="1"/>
          <p:nvPr/>
        </p:nvSpPr>
        <p:spPr>
          <a:xfrm>
            <a:off x="7214616" y="1499616"/>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Risk Register</a:t>
            </a:r>
            <a:endParaRPr lang="en-US" sz="1250" dirty="0"/>
          </a:p>
        </p:txBody>
      </p:sp>
      <p:sp>
        <p:nvSpPr>
          <p:cNvPr id="13" name="Text 11"/>
          <p:cNvSpPr txBox="1"/>
          <p:nvPr/>
        </p:nvSpPr>
        <p:spPr>
          <a:xfrm>
            <a:off x="7214616" y="1773936"/>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9 risks scored by Likelihood × Impact with a stated key</a:t>
            </a:r>
            <a:endParaRPr lang="en-US" sz="1050" dirty="0"/>
          </a:p>
        </p:txBody>
      </p:sp>
      <p:sp>
        <p:nvSpPr>
          <p:cNvPr id="14" name="Shape 12"/>
          <p:cNvSpPr/>
          <p:nvPr/>
        </p:nvSpPr>
        <p:spPr>
          <a:xfrm>
            <a:off x="10991088" y="1673352"/>
            <a:ext cx="749808" cy="310896"/>
          </a:xfrm>
          <a:prstGeom prst="roundRect">
            <a:avLst>
              <a:gd name="adj" fmla="val 50000"/>
            </a:avLst>
          </a:prstGeom>
          <a:solidFill>
            <a:srgbClr val="E8EEF4"/>
          </a:solidFill>
          <a:ln w="12700">
            <a:solidFill>
              <a:srgbClr val="D8E0E8"/>
            </a:solidFill>
            <a:prstDash val="solid"/>
          </a:ln>
        </p:spPr>
      </p:sp>
      <p:sp>
        <p:nvSpPr>
          <p:cNvPr id="15" name="Text 13"/>
          <p:cNvSpPr txBox="1"/>
          <p:nvPr/>
        </p:nvSpPr>
        <p:spPr>
          <a:xfrm>
            <a:off x="10991088" y="1673352"/>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1</a:t>
            </a:r>
            <a:endParaRPr lang="en-US" sz="1000" dirty="0"/>
          </a:p>
        </p:txBody>
      </p:sp>
      <p:sp>
        <p:nvSpPr>
          <p:cNvPr id="16" name="Shape 14"/>
          <p:cNvSpPr/>
          <p:nvPr/>
        </p:nvSpPr>
        <p:spPr>
          <a:xfrm>
            <a:off x="566928" y="2432304"/>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17" name="Text 15"/>
          <p:cNvSpPr txBox="1"/>
          <p:nvPr/>
        </p:nvSpPr>
        <p:spPr>
          <a:xfrm>
            <a:off x="768096" y="2651760"/>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03</a:t>
            </a:r>
            <a:endParaRPr lang="en-US" sz="2400" dirty="0"/>
          </a:p>
        </p:txBody>
      </p:sp>
      <p:sp>
        <p:nvSpPr>
          <p:cNvPr id="18" name="Text 16"/>
          <p:cNvSpPr txBox="1"/>
          <p:nvPr/>
        </p:nvSpPr>
        <p:spPr>
          <a:xfrm>
            <a:off x="1435608" y="2560320"/>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Access Matrix</a:t>
            </a:r>
            <a:endParaRPr lang="en-US" sz="1250" dirty="0"/>
          </a:p>
        </p:txBody>
      </p:sp>
      <p:sp>
        <p:nvSpPr>
          <p:cNvPr id="19" name="Text 17"/>
          <p:cNvSpPr txBox="1"/>
          <p:nvPr/>
        </p:nvSpPr>
        <p:spPr>
          <a:xfrm>
            <a:off x="1435608" y="2834640"/>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10 systems × 8 roles, 3 excess permissions removed</a:t>
            </a:r>
            <a:endParaRPr lang="en-US" sz="1050" dirty="0"/>
          </a:p>
        </p:txBody>
      </p:sp>
      <p:sp>
        <p:nvSpPr>
          <p:cNvPr id="20" name="Shape 18"/>
          <p:cNvSpPr/>
          <p:nvPr/>
        </p:nvSpPr>
        <p:spPr>
          <a:xfrm>
            <a:off x="5212080" y="2734056"/>
            <a:ext cx="749808" cy="310896"/>
          </a:xfrm>
          <a:prstGeom prst="roundRect">
            <a:avLst>
              <a:gd name="adj" fmla="val 50000"/>
            </a:avLst>
          </a:prstGeom>
          <a:solidFill>
            <a:srgbClr val="E8EEF4"/>
          </a:solidFill>
          <a:ln w="12700">
            <a:solidFill>
              <a:srgbClr val="D8E0E8"/>
            </a:solidFill>
            <a:prstDash val="solid"/>
          </a:ln>
        </p:spPr>
      </p:sp>
      <p:sp>
        <p:nvSpPr>
          <p:cNvPr id="21" name="Text 19"/>
          <p:cNvSpPr txBox="1"/>
          <p:nvPr/>
        </p:nvSpPr>
        <p:spPr>
          <a:xfrm>
            <a:off x="5212080" y="2734056"/>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2</a:t>
            </a:r>
            <a:endParaRPr lang="en-US" sz="1000" dirty="0"/>
          </a:p>
        </p:txBody>
      </p:sp>
      <p:sp>
        <p:nvSpPr>
          <p:cNvPr id="22" name="Shape 20"/>
          <p:cNvSpPr/>
          <p:nvPr/>
        </p:nvSpPr>
        <p:spPr>
          <a:xfrm>
            <a:off x="6345936" y="2432304"/>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3" name="Text 21"/>
          <p:cNvSpPr txBox="1"/>
          <p:nvPr/>
        </p:nvSpPr>
        <p:spPr>
          <a:xfrm>
            <a:off x="6547104" y="2651760"/>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04</a:t>
            </a:r>
            <a:endParaRPr lang="en-US" sz="2400" dirty="0"/>
          </a:p>
        </p:txBody>
      </p:sp>
      <p:sp>
        <p:nvSpPr>
          <p:cNvPr id="24" name="Text 22"/>
          <p:cNvSpPr txBox="1"/>
          <p:nvPr/>
        </p:nvSpPr>
        <p:spPr>
          <a:xfrm>
            <a:off x="7214616" y="2560320"/>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Account Security Standard</a:t>
            </a:r>
            <a:endParaRPr lang="en-US" sz="1250" dirty="0"/>
          </a:p>
        </p:txBody>
      </p:sp>
      <p:sp>
        <p:nvSpPr>
          <p:cNvPr id="25" name="Text 23"/>
          <p:cNvSpPr txBox="1"/>
          <p:nvPr/>
        </p:nvSpPr>
        <p:spPr>
          <a:xfrm>
            <a:off x="7214616" y="2834640"/>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8 plain-language rules, signed by all staff</a:t>
            </a:r>
            <a:endParaRPr lang="en-US" sz="1050" dirty="0"/>
          </a:p>
        </p:txBody>
      </p:sp>
      <p:sp>
        <p:nvSpPr>
          <p:cNvPr id="26" name="Shape 24"/>
          <p:cNvSpPr/>
          <p:nvPr/>
        </p:nvSpPr>
        <p:spPr>
          <a:xfrm>
            <a:off x="10991088" y="2734056"/>
            <a:ext cx="749808" cy="310896"/>
          </a:xfrm>
          <a:prstGeom prst="roundRect">
            <a:avLst>
              <a:gd name="adj" fmla="val 50000"/>
            </a:avLst>
          </a:prstGeom>
          <a:solidFill>
            <a:srgbClr val="E8EEF4"/>
          </a:solidFill>
          <a:ln w="12700">
            <a:solidFill>
              <a:srgbClr val="D8E0E8"/>
            </a:solidFill>
            <a:prstDash val="solid"/>
          </a:ln>
        </p:spPr>
      </p:sp>
      <p:sp>
        <p:nvSpPr>
          <p:cNvPr id="27" name="Text 25"/>
          <p:cNvSpPr txBox="1"/>
          <p:nvPr/>
        </p:nvSpPr>
        <p:spPr>
          <a:xfrm>
            <a:off x="10991088" y="2734056"/>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2</a:t>
            </a:r>
            <a:endParaRPr lang="en-US" sz="1000" dirty="0"/>
          </a:p>
        </p:txBody>
      </p:sp>
      <p:sp>
        <p:nvSpPr>
          <p:cNvPr id="28" name="Shape 26"/>
          <p:cNvSpPr/>
          <p:nvPr/>
        </p:nvSpPr>
        <p:spPr>
          <a:xfrm>
            <a:off x="566928" y="3493008"/>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29" name="Text 27"/>
          <p:cNvSpPr txBox="1"/>
          <p:nvPr/>
        </p:nvSpPr>
        <p:spPr>
          <a:xfrm>
            <a:off x="768096" y="3712464"/>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05</a:t>
            </a:r>
            <a:endParaRPr lang="en-US" sz="2400" dirty="0"/>
          </a:p>
        </p:txBody>
      </p:sp>
      <p:sp>
        <p:nvSpPr>
          <p:cNvPr id="30" name="Text 28"/>
          <p:cNvSpPr txBox="1"/>
          <p:nvPr/>
        </p:nvSpPr>
        <p:spPr>
          <a:xfrm>
            <a:off x="1435608" y="3621024"/>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Awareness Poster</a:t>
            </a:r>
            <a:endParaRPr lang="en-US" sz="1250" dirty="0"/>
          </a:p>
        </p:txBody>
      </p:sp>
      <p:sp>
        <p:nvSpPr>
          <p:cNvPr id="31" name="Text 29"/>
          <p:cNvSpPr txBox="1"/>
          <p:nvPr/>
        </p:nvSpPr>
        <p:spPr>
          <a:xfrm>
            <a:off x="1435608" y="3895344"/>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Pause • Check • Report, pinned in the back office</a:t>
            </a:r>
            <a:endParaRPr lang="en-US" sz="1050" dirty="0"/>
          </a:p>
        </p:txBody>
      </p:sp>
      <p:sp>
        <p:nvSpPr>
          <p:cNvPr id="32" name="Shape 30"/>
          <p:cNvSpPr/>
          <p:nvPr/>
        </p:nvSpPr>
        <p:spPr>
          <a:xfrm>
            <a:off x="5212080" y="3794760"/>
            <a:ext cx="749808" cy="310896"/>
          </a:xfrm>
          <a:prstGeom prst="roundRect">
            <a:avLst>
              <a:gd name="adj" fmla="val 50000"/>
            </a:avLst>
          </a:prstGeom>
          <a:solidFill>
            <a:srgbClr val="E8EEF4"/>
          </a:solidFill>
          <a:ln w="12700">
            <a:solidFill>
              <a:srgbClr val="D8E0E8"/>
            </a:solidFill>
            <a:prstDash val="solid"/>
          </a:ln>
        </p:spPr>
      </p:sp>
      <p:sp>
        <p:nvSpPr>
          <p:cNvPr id="33" name="Text 31"/>
          <p:cNvSpPr txBox="1"/>
          <p:nvPr/>
        </p:nvSpPr>
        <p:spPr>
          <a:xfrm>
            <a:off x="5212080" y="3794760"/>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3</a:t>
            </a:r>
            <a:endParaRPr lang="en-US" sz="1000" dirty="0"/>
          </a:p>
        </p:txBody>
      </p:sp>
      <p:sp>
        <p:nvSpPr>
          <p:cNvPr id="34" name="Shape 32"/>
          <p:cNvSpPr/>
          <p:nvPr/>
        </p:nvSpPr>
        <p:spPr>
          <a:xfrm>
            <a:off x="6345936" y="3493008"/>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35" name="Text 33"/>
          <p:cNvSpPr txBox="1"/>
          <p:nvPr/>
        </p:nvSpPr>
        <p:spPr>
          <a:xfrm>
            <a:off x="6547104" y="3712464"/>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06</a:t>
            </a:r>
            <a:endParaRPr lang="en-US" sz="2400" dirty="0"/>
          </a:p>
        </p:txBody>
      </p:sp>
      <p:sp>
        <p:nvSpPr>
          <p:cNvPr id="36" name="Text 34"/>
          <p:cNvSpPr txBox="1"/>
          <p:nvPr/>
        </p:nvSpPr>
        <p:spPr>
          <a:xfrm>
            <a:off x="7214616" y="3621024"/>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Phishing Quiz + results</a:t>
            </a:r>
            <a:endParaRPr lang="en-US" sz="1250" dirty="0"/>
          </a:p>
        </p:txBody>
      </p:sp>
      <p:sp>
        <p:nvSpPr>
          <p:cNvPr id="37" name="Text 35"/>
          <p:cNvSpPr txBox="1"/>
          <p:nvPr/>
        </p:nvSpPr>
        <p:spPr>
          <a:xfrm>
            <a:off x="7214616" y="3895344"/>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5 questions, 9 staff, average score recorded</a:t>
            </a:r>
            <a:endParaRPr lang="en-US" sz="1050" dirty="0"/>
          </a:p>
        </p:txBody>
      </p:sp>
      <p:sp>
        <p:nvSpPr>
          <p:cNvPr id="38" name="Shape 36"/>
          <p:cNvSpPr/>
          <p:nvPr/>
        </p:nvSpPr>
        <p:spPr>
          <a:xfrm>
            <a:off x="10991088" y="3794760"/>
            <a:ext cx="749808" cy="310896"/>
          </a:xfrm>
          <a:prstGeom prst="roundRect">
            <a:avLst>
              <a:gd name="adj" fmla="val 50000"/>
            </a:avLst>
          </a:prstGeom>
          <a:solidFill>
            <a:srgbClr val="E8EEF4"/>
          </a:solidFill>
          <a:ln w="12700">
            <a:solidFill>
              <a:srgbClr val="D8E0E8"/>
            </a:solidFill>
            <a:prstDash val="solid"/>
          </a:ln>
        </p:spPr>
      </p:sp>
      <p:sp>
        <p:nvSpPr>
          <p:cNvPr id="39" name="Text 37"/>
          <p:cNvSpPr txBox="1"/>
          <p:nvPr/>
        </p:nvSpPr>
        <p:spPr>
          <a:xfrm>
            <a:off x="10991088" y="3794760"/>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3</a:t>
            </a:r>
            <a:endParaRPr lang="en-US" sz="1000" dirty="0"/>
          </a:p>
        </p:txBody>
      </p:sp>
      <p:sp>
        <p:nvSpPr>
          <p:cNvPr id="40" name="Shape 38"/>
          <p:cNvSpPr/>
          <p:nvPr/>
        </p:nvSpPr>
        <p:spPr>
          <a:xfrm>
            <a:off x="566928" y="4553712"/>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41" name="Text 39"/>
          <p:cNvSpPr txBox="1"/>
          <p:nvPr/>
        </p:nvSpPr>
        <p:spPr>
          <a:xfrm>
            <a:off x="768096" y="4773168"/>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07</a:t>
            </a:r>
            <a:endParaRPr lang="en-US" sz="2400" dirty="0"/>
          </a:p>
        </p:txBody>
      </p:sp>
      <p:sp>
        <p:nvSpPr>
          <p:cNvPr id="42" name="Text 40"/>
          <p:cNvSpPr txBox="1"/>
          <p:nvPr/>
        </p:nvSpPr>
        <p:spPr>
          <a:xfrm>
            <a:off x="1435608" y="4681728"/>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Incident Mini-Playbook</a:t>
            </a:r>
            <a:endParaRPr lang="en-US" sz="1250" dirty="0"/>
          </a:p>
        </p:txBody>
      </p:sp>
      <p:sp>
        <p:nvSpPr>
          <p:cNvPr id="43" name="Text 41"/>
          <p:cNvSpPr txBox="1"/>
          <p:nvPr/>
        </p:nvSpPr>
        <p:spPr>
          <a:xfrm>
            <a:off x="1435608" y="4956048"/>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3 scenarios, first five actions, contacts and evidence list</a:t>
            </a:r>
            <a:endParaRPr lang="en-US" sz="1050" dirty="0"/>
          </a:p>
        </p:txBody>
      </p:sp>
      <p:sp>
        <p:nvSpPr>
          <p:cNvPr id="44" name="Shape 42"/>
          <p:cNvSpPr/>
          <p:nvPr/>
        </p:nvSpPr>
        <p:spPr>
          <a:xfrm>
            <a:off x="5212080" y="4855464"/>
            <a:ext cx="749808" cy="310896"/>
          </a:xfrm>
          <a:prstGeom prst="roundRect">
            <a:avLst>
              <a:gd name="adj" fmla="val 50000"/>
            </a:avLst>
          </a:prstGeom>
          <a:solidFill>
            <a:srgbClr val="E8EEF4"/>
          </a:solidFill>
          <a:ln w="12700">
            <a:solidFill>
              <a:srgbClr val="D8E0E8"/>
            </a:solidFill>
            <a:prstDash val="solid"/>
          </a:ln>
        </p:spPr>
      </p:sp>
      <p:sp>
        <p:nvSpPr>
          <p:cNvPr id="45" name="Text 43"/>
          <p:cNvSpPr txBox="1"/>
          <p:nvPr/>
        </p:nvSpPr>
        <p:spPr>
          <a:xfrm>
            <a:off x="5212080" y="4855464"/>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4</a:t>
            </a:r>
            <a:endParaRPr lang="en-US" sz="1000" dirty="0"/>
          </a:p>
        </p:txBody>
      </p:sp>
      <p:sp>
        <p:nvSpPr>
          <p:cNvPr id="46" name="Shape 44"/>
          <p:cNvSpPr/>
          <p:nvPr/>
        </p:nvSpPr>
        <p:spPr>
          <a:xfrm>
            <a:off x="6345936" y="4553712"/>
            <a:ext cx="5577840" cy="950976"/>
          </a:xfrm>
          <a:prstGeom prst="roundRect">
            <a:avLst>
              <a:gd name="adj" fmla="val 7692"/>
            </a:avLst>
          </a:prstGeom>
          <a:solidFill>
            <a:srgbClr val="FFFFFF"/>
          </a:solidFill>
          <a:ln w="12700">
            <a:solidFill>
              <a:srgbClr val="E1E8EE"/>
            </a:solidFill>
            <a:prstDash val="solid"/>
          </a:ln>
          <a:effectLst>
            <a:outerShdw sx="100000" sy="100000" kx="0" ky="0" algn="bl" rotWithShape="0" blurRad="101600" dist="25400" dir="5400000">
              <a:srgbClr val="9AAAB8">
                <a:alpha val="30000"/>
              </a:srgbClr>
            </a:outerShdw>
          </a:effectLst>
        </p:spPr>
      </p:sp>
      <p:sp>
        <p:nvSpPr>
          <p:cNvPr id="47" name="Text 45"/>
          <p:cNvSpPr txBox="1"/>
          <p:nvPr/>
        </p:nvSpPr>
        <p:spPr>
          <a:xfrm>
            <a:off x="6547104" y="4773168"/>
            <a:ext cx="566928" cy="512064"/>
          </a:xfrm>
          <a:prstGeom prst="rect">
            <a:avLst/>
          </a:prstGeom>
          <a:noFill/>
          <a:ln/>
        </p:spPr>
        <p:txBody>
          <a:bodyPr wrap="square" lIns="0" tIns="0" rIns="0" bIns="0" rtlCol="0" anchor="ctr"/>
          <a:lstStyle/>
          <a:p>
            <a:pPr algn="ctr" indent="0" marL="0">
              <a:buNone/>
            </a:pPr>
            <a:r>
              <a:rPr lang="en-US" sz="2400" b="1" dirty="0">
                <a:solidFill>
                  <a:srgbClr val="C9D6E2"/>
                </a:solidFill>
                <a:latin typeface="Cambria" pitchFamily="34" charset="0"/>
                <a:ea typeface="Cambria" pitchFamily="34" charset="-122"/>
                <a:cs typeface="Cambria" pitchFamily="34" charset="-120"/>
              </a:rPr>
              <a:t>08</a:t>
            </a:r>
            <a:endParaRPr lang="en-US" sz="2400" dirty="0"/>
          </a:p>
        </p:txBody>
      </p:sp>
      <p:sp>
        <p:nvSpPr>
          <p:cNvPr id="48" name="Text 46"/>
          <p:cNvSpPr txBox="1"/>
          <p:nvPr/>
        </p:nvSpPr>
        <p:spPr>
          <a:xfrm>
            <a:off x="7214616" y="4681728"/>
            <a:ext cx="3657600" cy="27432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Final Improvement Report</a:t>
            </a:r>
            <a:endParaRPr lang="en-US" sz="1250" dirty="0"/>
          </a:p>
        </p:txBody>
      </p:sp>
      <p:sp>
        <p:nvSpPr>
          <p:cNvPr id="49" name="Text 47"/>
          <p:cNvSpPr txBox="1"/>
          <p:nvPr/>
        </p:nvSpPr>
        <p:spPr>
          <a:xfrm>
            <a:off x="7214616" y="4956048"/>
            <a:ext cx="3657600" cy="457200"/>
          </a:xfrm>
          <a:prstGeom prst="rect">
            <a:avLst/>
          </a:prstGeom>
          <a:noFill/>
          <a:ln/>
        </p:spPr>
        <p:txBody>
          <a:bodyPr wrap="square" lIns="0" tIns="0" rIns="0" bIns="0" rtlCol="0" anchor="t"/>
          <a:lstStyle/>
          <a:p>
            <a:pPr indent="0" marL="0">
              <a:buNone/>
            </a:pPr>
            <a:r>
              <a:rPr lang="en-US" sz="1050" dirty="0">
                <a:solidFill>
                  <a:srgbClr val="5E7183"/>
                </a:solidFill>
                <a:latin typeface="Calibri" pitchFamily="34" charset="0"/>
                <a:ea typeface="Calibri" pitchFamily="34" charset="-122"/>
                <a:cs typeface="Calibri" pitchFamily="34" charset="-120"/>
              </a:rPr>
              <a:t>Top 5 actions with owners, costs and deadlines</a:t>
            </a:r>
            <a:endParaRPr lang="en-US" sz="1050" dirty="0"/>
          </a:p>
        </p:txBody>
      </p:sp>
      <p:sp>
        <p:nvSpPr>
          <p:cNvPr id="50" name="Shape 48"/>
          <p:cNvSpPr/>
          <p:nvPr/>
        </p:nvSpPr>
        <p:spPr>
          <a:xfrm>
            <a:off x="10991088" y="4855464"/>
            <a:ext cx="749808" cy="310896"/>
          </a:xfrm>
          <a:prstGeom prst="roundRect">
            <a:avLst>
              <a:gd name="adj" fmla="val 50000"/>
            </a:avLst>
          </a:prstGeom>
          <a:solidFill>
            <a:srgbClr val="E8EEF4"/>
          </a:solidFill>
          <a:ln w="12700">
            <a:solidFill>
              <a:srgbClr val="D8E0E8"/>
            </a:solidFill>
            <a:prstDash val="solid"/>
          </a:ln>
        </p:spPr>
      </p:sp>
      <p:sp>
        <p:nvSpPr>
          <p:cNvPr id="51" name="Text 49"/>
          <p:cNvSpPr txBox="1"/>
          <p:nvPr/>
        </p:nvSpPr>
        <p:spPr>
          <a:xfrm>
            <a:off x="10991088" y="4855464"/>
            <a:ext cx="749808" cy="310896"/>
          </a:xfrm>
          <a:prstGeom prst="rect">
            <a:avLst/>
          </a:prstGeom>
          <a:noFill/>
          <a:ln/>
        </p:spPr>
        <p:txBody>
          <a:bodyPr wrap="square" lIns="0" tIns="0" rIns="0" bIns="0" rtlCol="0" anchor="ctr"/>
          <a:lstStyle/>
          <a:p>
            <a:pPr algn="ctr" indent="0" marL="0">
              <a:buNone/>
            </a:pPr>
            <a:r>
              <a:rPr lang="en-US" sz="1000" b="1" dirty="0">
                <a:solidFill>
                  <a:srgbClr val="2E5266"/>
                </a:solidFill>
                <a:latin typeface="Calibri" pitchFamily="34" charset="0"/>
                <a:ea typeface="Calibri" pitchFamily="34" charset="-122"/>
                <a:cs typeface="Calibri" pitchFamily="34" charset="-120"/>
              </a:rPr>
              <a:t>Week 4</a:t>
            </a:r>
            <a:endParaRPr lang="en-US" sz="1000" dirty="0"/>
          </a:p>
        </p:txBody>
      </p:sp>
      <p:sp>
        <p:nvSpPr>
          <p:cNvPr id="52" name="Text 50"/>
          <p:cNvSpPr txBox="1"/>
          <p:nvPr/>
        </p:nvSpPr>
        <p:spPr>
          <a:xfrm>
            <a:off x="566928" y="6144768"/>
            <a:ext cx="10607040" cy="347472"/>
          </a:xfrm>
          <a:prstGeom prst="rect">
            <a:avLst/>
          </a:prstGeom>
          <a:noFill/>
          <a:ln/>
        </p:spPr>
        <p:txBody>
          <a:bodyPr wrap="square" lIns="0" tIns="0" rIns="0" bIns="0" rtlCol="0" anchor="ctr"/>
          <a:lstStyle/>
          <a:p>
            <a:pPr indent="0" marL="0">
              <a:buNone/>
            </a:pPr>
            <a:r>
              <a:rPr lang="en-US" sz="1150" i="1" dirty="0">
                <a:solidFill>
                  <a:srgbClr val="5E7183"/>
                </a:solidFill>
                <a:latin typeface="Calibri" pitchFamily="34" charset="0"/>
                <a:ea typeface="Calibri" pitchFamily="34" charset="-122"/>
                <a:cs typeface="Calibri" pitchFamily="34" charset="-120"/>
              </a:rPr>
              <a:t>Assessed on: clarity • realism • risk prioritisation • practical controls • professional presentation. Optional extras: before/after screenshots and a short reflection.</a:t>
            </a:r>
            <a:endParaRPr lang="en-US" sz="1150" dirty="0"/>
          </a:p>
        </p:txBody>
      </p:sp>
      <p:sp>
        <p:nvSpPr>
          <p:cNvPr id="54" name="Text 51"/>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1645920" y="2926080"/>
            <a:ext cx="5486400" cy="5486400"/>
          </a:xfrm>
          <a:prstGeom prst="ellipse">
            <a:avLst/>
          </a:prstGeom>
          <a:solidFill>
            <a:srgbClr val="12304F"/>
          </a:solidFill>
          <a:ln w="12700">
            <a:solidFill>
              <a:srgbClr val="12304F"/>
            </a:solidFill>
            <a:prstDash val="solid"/>
          </a:ln>
        </p:spPr>
      </p:sp>
      <p:sp>
        <p:nvSpPr>
          <p:cNvPr id="3" name="Text 1"/>
          <p:cNvSpPr txBox="1"/>
          <p:nvPr/>
        </p:nvSpPr>
        <p:spPr>
          <a:xfrm>
            <a:off x="822960" y="1051560"/>
            <a:ext cx="7315200" cy="292608"/>
          </a:xfrm>
          <a:prstGeom prst="rect">
            <a:avLst/>
          </a:prstGeom>
          <a:noFill/>
          <a:ln/>
        </p:spPr>
        <p:txBody>
          <a:bodyPr wrap="square" lIns="0" tIns="0" rIns="0" bIns="0" rtlCol="0" anchor="ctr"/>
          <a:lstStyle/>
          <a:p>
            <a:pPr indent="0" marL="0">
              <a:buNone/>
            </a:pPr>
            <a:r>
              <a:rPr lang="en-US" sz="1200" b="1" spc="250" kern="0" dirty="0">
                <a:solidFill>
                  <a:srgbClr val="E8A33D"/>
                </a:solidFill>
                <a:latin typeface="Calibri" pitchFamily="34" charset="0"/>
                <a:ea typeface="Calibri" pitchFamily="34" charset="-122"/>
                <a:cs typeface="Calibri" pitchFamily="34" charset="-120"/>
              </a:rPr>
              <a:t>WHAT I LEARNED</a:t>
            </a:r>
            <a:endParaRPr lang="en-US" sz="1200" dirty="0"/>
          </a:p>
        </p:txBody>
      </p:sp>
      <p:sp>
        <p:nvSpPr>
          <p:cNvPr id="4" name="Text 2"/>
          <p:cNvSpPr txBox="1"/>
          <p:nvPr/>
        </p:nvSpPr>
        <p:spPr>
          <a:xfrm>
            <a:off x="786384" y="1463040"/>
            <a:ext cx="10607040" cy="137160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Most of CalebTech's risk was</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removed with decisions, not tools.</a:t>
            </a:r>
            <a:endParaRPr lang="en-US" sz="3400" dirty="0"/>
          </a:p>
        </p:txBody>
      </p:sp>
      <p:sp>
        <p:nvSpPr>
          <p:cNvPr id="5" name="Shape 3"/>
          <p:cNvSpPr/>
          <p:nvPr/>
        </p:nvSpPr>
        <p:spPr>
          <a:xfrm>
            <a:off x="822960" y="3063240"/>
            <a:ext cx="5120640" cy="960120"/>
          </a:xfrm>
          <a:prstGeom prst="roundRect">
            <a:avLst>
              <a:gd name="adj" fmla="val 7619"/>
            </a:avLst>
          </a:prstGeom>
          <a:solidFill>
            <a:srgbClr val="16395C"/>
          </a:solidFill>
          <a:ln w="12700">
            <a:solidFill>
              <a:srgbClr val="2A5580"/>
            </a:solidFill>
            <a:prstDash val="solid"/>
          </a:ln>
        </p:spPr>
      </p:sp>
      <p:sp>
        <p:nvSpPr>
          <p:cNvPr id="6" name="Text 4"/>
          <p:cNvSpPr txBox="1"/>
          <p:nvPr/>
        </p:nvSpPr>
        <p:spPr>
          <a:xfrm>
            <a:off x="1078992" y="3182112"/>
            <a:ext cx="457200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Inventory beats intuition</a:t>
            </a:r>
            <a:endParaRPr lang="en-US" sz="1300" dirty="0"/>
          </a:p>
        </p:txBody>
      </p:sp>
      <p:sp>
        <p:nvSpPr>
          <p:cNvPr id="7" name="Text 5"/>
          <p:cNvSpPr txBox="1"/>
          <p:nvPr/>
        </p:nvSpPr>
        <p:spPr>
          <a:xfrm>
            <a:off x="1078992" y="3465576"/>
            <a:ext cx="4572000" cy="457200"/>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The asset register turned vague worry into 18 concrete things to protect.</a:t>
            </a:r>
            <a:endParaRPr lang="en-US" sz="1100" dirty="0"/>
          </a:p>
        </p:txBody>
      </p:sp>
      <p:sp>
        <p:nvSpPr>
          <p:cNvPr id="8" name="Shape 6"/>
          <p:cNvSpPr/>
          <p:nvPr/>
        </p:nvSpPr>
        <p:spPr>
          <a:xfrm>
            <a:off x="6217920" y="3063240"/>
            <a:ext cx="5120640" cy="960120"/>
          </a:xfrm>
          <a:prstGeom prst="roundRect">
            <a:avLst>
              <a:gd name="adj" fmla="val 7619"/>
            </a:avLst>
          </a:prstGeom>
          <a:solidFill>
            <a:srgbClr val="16395C"/>
          </a:solidFill>
          <a:ln w="12700">
            <a:solidFill>
              <a:srgbClr val="2A5580"/>
            </a:solidFill>
            <a:prstDash val="solid"/>
          </a:ln>
        </p:spPr>
      </p:sp>
      <p:sp>
        <p:nvSpPr>
          <p:cNvPr id="9" name="Text 7"/>
          <p:cNvSpPr txBox="1"/>
          <p:nvPr/>
        </p:nvSpPr>
        <p:spPr>
          <a:xfrm>
            <a:off x="6473952" y="3182112"/>
            <a:ext cx="457200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Scoring settles arguments</a:t>
            </a:r>
            <a:endParaRPr lang="en-US" sz="1300" dirty="0"/>
          </a:p>
        </p:txBody>
      </p:sp>
      <p:sp>
        <p:nvSpPr>
          <p:cNvPr id="10" name="Text 8"/>
          <p:cNvSpPr txBox="1"/>
          <p:nvPr/>
        </p:nvSpPr>
        <p:spPr>
          <a:xfrm>
            <a:off x="6473952" y="3465576"/>
            <a:ext cx="4572000" cy="457200"/>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Likelihood × Impact gave the owner a defensible order of work.</a:t>
            </a:r>
            <a:endParaRPr lang="en-US" sz="1100" dirty="0"/>
          </a:p>
        </p:txBody>
      </p:sp>
      <p:sp>
        <p:nvSpPr>
          <p:cNvPr id="11" name="Shape 9"/>
          <p:cNvSpPr/>
          <p:nvPr/>
        </p:nvSpPr>
        <p:spPr>
          <a:xfrm>
            <a:off x="822960" y="4206240"/>
            <a:ext cx="5120640" cy="960120"/>
          </a:xfrm>
          <a:prstGeom prst="roundRect">
            <a:avLst>
              <a:gd name="adj" fmla="val 7619"/>
            </a:avLst>
          </a:prstGeom>
          <a:solidFill>
            <a:srgbClr val="16395C"/>
          </a:solidFill>
          <a:ln w="12700">
            <a:solidFill>
              <a:srgbClr val="2A5580"/>
            </a:solidFill>
            <a:prstDash val="solid"/>
          </a:ln>
        </p:spPr>
      </p:sp>
      <p:sp>
        <p:nvSpPr>
          <p:cNvPr id="12" name="Text 10"/>
          <p:cNvSpPr txBox="1"/>
          <p:nvPr/>
        </p:nvSpPr>
        <p:spPr>
          <a:xfrm>
            <a:off x="1078992" y="4325112"/>
            <a:ext cx="457200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People are the control</a:t>
            </a:r>
            <a:endParaRPr lang="en-US" sz="1300" dirty="0"/>
          </a:p>
        </p:txBody>
      </p:sp>
      <p:sp>
        <p:nvSpPr>
          <p:cNvPr id="13" name="Text 11"/>
          <p:cNvSpPr txBox="1"/>
          <p:nvPr/>
        </p:nvSpPr>
        <p:spPr>
          <a:xfrm>
            <a:off x="1078992" y="4608576"/>
            <a:ext cx="4572000" cy="457200"/>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Nine trained staff caught more than any tool the shop could afford.</a:t>
            </a:r>
            <a:endParaRPr lang="en-US" sz="1100" dirty="0"/>
          </a:p>
        </p:txBody>
      </p:sp>
      <p:sp>
        <p:nvSpPr>
          <p:cNvPr id="14" name="Shape 12"/>
          <p:cNvSpPr/>
          <p:nvPr/>
        </p:nvSpPr>
        <p:spPr>
          <a:xfrm>
            <a:off x="6217920" y="4206240"/>
            <a:ext cx="5120640" cy="960120"/>
          </a:xfrm>
          <a:prstGeom prst="roundRect">
            <a:avLst>
              <a:gd name="adj" fmla="val 7619"/>
            </a:avLst>
          </a:prstGeom>
          <a:solidFill>
            <a:srgbClr val="16395C"/>
          </a:solidFill>
          <a:ln w="12700">
            <a:solidFill>
              <a:srgbClr val="2A5580"/>
            </a:solidFill>
            <a:prstDash val="solid"/>
          </a:ln>
        </p:spPr>
      </p:sp>
      <p:sp>
        <p:nvSpPr>
          <p:cNvPr id="15" name="Text 13"/>
          <p:cNvSpPr txBox="1"/>
          <p:nvPr/>
        </p:nvSpPr>
        <p:spPr>
          <a:xfrm>
            <a:off x="6473952" y="4325112"/>
            <a:ext cx="457200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Write it down</a:t>
            </a:r>
            <a:endParaRPr lang="en-US" sz="1300" dirty="0"/>
          </a:p>
        </p:txBody>
      </p:sp>
      <p:sp>
        <p:nvSpPr>
          <p:cNvPr id="16" name="Text 14"/>
          <p:cNvSpPr txBox="1"/>
          <p:nvPr/>
        </p:nvSpPr>
        <p:spPr>
          <a:xfrm>
            <a:off x="6473952" y="4608576"/>
            <a:ext cx="4572000" cy="457200"/>
          </a:xfrm>
          <a:prstGeom prst="rect">
            <a:avLst/>
          </a:prstGeom>
          <a:noFill/>
          <a:ln/>
        </p:spPr>
        <p:txBody>
          <a:bodyPr wrap="square" lIns="0" tIns="0" rIns="0" bIns="0" rtlCol="0" anchor="ctr"/>
          <a:lstStyle/>
          <a:p>
            <a:pPr indent="0" marL="0">
              <a:buNone/>
            </a:pPr>
            <a:r>
              <a:rPr lang="en-US" sz="1100" dirty="0">
                <a:solidFill>
                  <a:srgbClr val="D6E4F0"/>
                </a:solidFill>
                <a:latin typeface="Calibri" pitchFamily="34" charset="0"/>
                <a:ea typeface="Calibri" pitchFamily="34" charset="-122"/>
                <a:cs typeface="Calibri" pitchFamily="34" charset="-120"/>
              </a:rPr>
              <a:t>A plan that lives only in the MD's head disappears the day he is unreachable.</a:t>
            </a:r>
            <a:endParaRPr lang="en-US" sz="1100" dirty="0"/>
          </a:p>
        </p:txBody>
      </p:sp>
      <p:sp>
        <p:nvSpPr>
          <p:cNvPr id="17" name="Text 15"/>
          <p:cNvSpPr txBox="1"/>
          <p:nvPr/>
        </p:nvSpPr>
        <p:spPr>
          <a:xfrm>
            <a:off x="822960" y="5669280"/>
            <a:ext cx="10607040" cy="320040"/>
          </a:xfrm>
          <a:prstGeom prst="rect">
            <a:avLst/>
          </a:prstGeom>
          <a:noFill/>
          <a:ln/>
        </p:spPr>
        <p:txBody>
          <a:bodyPr wrap="square" lIns="0" tIns="0" rIns="0" bIns="0" rtlCol="0" anchor="ctr"/>
          <a:lstStyle/>
          <a:p>
            <a:pPr indent="0" marL="0">
              <a:buNone/>
            </a:pPr>
            <a:r>
              <a:rPr lang="en-US" sz="1250" i="1" dirty="0">
                <a:solidFill>
                  <a:srgbClr val="9FB5C8"/>
                </a:solidFill>
                <a:latin typeface="Calibri" pitchFamily="34" charset="0"/>
                <a:ea typeface="Calibri" pitchFamily="34" charset="-122"/>
                <a:cs typeface="Calibri" pitchFamily="34" charset="-120"/>
              </a:rPr>
              <a:t>Next step: deepen one domain — Security Operations, GRC or Identity &amp; Access Management.        Questions / Discussion</a:t>
            </a:r>
            <a:endParaRPr lang="en-US" sz="1250" dirty="0"/>
          </a:p>
        </p:txBody>
      </p:sp>
      <p:sp>
        <p:nvSpPr>
          <p:cNvPr id="19" name="Text 16"/>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6E8296"/>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Starter Pack — CalebTech Computer Services</dc:title>
  <dc:subject>PptxGenJS Presentation</dc:subject>
  <dc:creator>CalebTech Cybersecurity Starter Pack</dc:creator>
  <cp:lastModifiedBy>CalebTech Cybersecurity Starter Pack</cp:lastModifiedBy>
  <cp:revision>1</cp:revision>
  <dcterms:created xsi:type="dcterms:W3CDTF">2026-09-18T01:39:26Z</dcterms:created>
  <dcterms:modified xsi:type="dcterms:W3CDTF">2026-09-18T01:39:26Z</dcterms:modified>
</cp:coreProperties>
</file>