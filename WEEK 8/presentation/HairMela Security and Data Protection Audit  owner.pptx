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My name is Ayeni Ayomide, a cybersecurity trainee at Axiahub. For my project I audited the security and data protection of HairMela, a walk-in queue app for salons. With HairMela's permission, I checked how well customer data is protected, scored it against two frameworks, and wrote simple fixes the business can use. I will walk through what I did, what I found, and what I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HairMela lets customers join a salon's queue from their phone instead of waiting in the shop. To do that it holds personal data: names, email addresses, an optional phone number and queue history. In Nigeria, the Nigeria Data Protection Act 2023 sets rules for how personal data must be handled, so even a small business has duties. The question I set myself was simple: how well is that data protected today, and what are the easiest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doing anything I asked HairMela for written permission. They replied by email and on WhatsApp. The email limited the work to information they choose to share, surveys and agreed online interviews, and it said clearly that scanning, testing, or access to their systems, accounts or customer data was not allowed. On WhatsApp they added that they would only share what anyone can see publicly, and that I could create a normal account to see what the app shows. So I stayed inside that: public pages, the app as a normal customer, and a survey answered by HairMela's management. I did no technical testing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had five steps. First, permission. Second, I read HairMela's public privacy policy, terms of use and deletion page. Third, I used the app as a normal customer and recorded what it shows. Fourth, HairMela's management answered a survey on twenty everyday security practices, and I trusted those answers. Fifth, I scored twenty-five controls and fourteen risks, and wrote fixes. The outputs are a control scorecard, a risk register, policy templates, an awareness flyer, and a report for HairMela.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 gets two points if it is in place, one if it is partly in place, and zero if it is missing. The score is the points earned divided by the most points possible for the controls I could assess. I used three bands: strong at eighty percent or more, developing from fifty to seventy-nine, and weak below fifty. These cut-offs are my own working assumption for a small business. For risks I multiplied likelihood by impact, each rated from one to five, giving scores from one to twenty-five. Note that 'Implemented' here means management reported it; I did not see the documents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any result, here is how it is worked out, in four steps. One: each control is rated two, one or zero. Two: add up the points earned. Three: divide by the most points possible, which is the number of controls I could assess times two. Four: match the percentage to a band, strong, developing or weak. Controls where I had no evidence are left out rather than counted as zero, and each area is scored the same way using only its own controls. Remember that implemented means management said it is in place; I did not see the documents. Next, I show every control and how I rated it, and then the overall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HairMela's management answered the survey, and I trusted those answers. Confidence in the company's data protection is five out of five. Management reports that every person has their own login, access is limited and removed when someone leaves, strong passwords and two-step sign-in are used, devices are protected, customer details are kept off personal WhatsApp and phones, backups exist with a tested restore, incidents are recorded and the reporting rule is known, training and a written policy exist, the privacy notice, consent, customer requests and retention are handled, and vendors have written agreements. The one partial answer is public Wi-Fi: it is only partly avoided for work. This is the baseline I compare against after the awareness flyer. These are self-reported answers, and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score comes from. Each row is one control. The Basis column says what I used: HairMela management's survey answers, which I trusted, or nothing where the survey did not ask. Where the public pages say less than management reports, the basis says public pages thinner, and the next slides explain. Status is Implemented for two points, Partial for one, or Not assessed, which leaves it out of the score. The NIST column is the CSF 2.0 category and the NDPA column is the section of the Nigeria Data Protection Act 2023 it relates to; confirm the section numbers in the official Act. Implemented only means management said so, because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score comes from. Each row is one control. The Basis column says what I used: HairMela management's survey answers, which I trusted, or nothing where the survey did not ask. Where the public pages say less than management reports, the basis says public pages thinner, and the next slides explain. Status is Implemented for two points, Partial for one, or Not assessed, which leaves it out of the score. The NIST column is the CSF 2.0 category and the NDPA column is the section of the Nigeria Data Protection Act 2023 it relates to; confirm the section numbers in the official Act. Implemented only means management said so, because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score comes from. Each row is one control. The Basis column says what I used: HairMela management's survey answers, which I trusted, or nothing where the survey did not ask. Where the public pages say less than management reports, the basis says public pages thinner, and the next slides explain. Status is Implemented for two points, Partial for one, or Not assessed, which leaves it out of the score. The NIST column is the CSF 2.0 category and the NDPA column is the section of the Nigeria Data Protection Act 2023 it relates to; confirm the section numbers in the official Act. Implemented only means management said so, because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score comes from. Each row is one control. The Basis column says what I used: HairMela management's survey answers, which I trusted, or nothing where the survey did not ask. Where the public pages say less than management reports, the basis says public pages thinner, and the next slides explain. Status is Implemented for two points, Partial for one, or Not assessed, which leaves it out of the score. The NIST column is the CSF 2.0 category and the NDPA column is the section of the Nigeria Data Protection Act 2023 it relates to; confirm the section numbers in the official Act. Implemented only means management said so, because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score comes from. Each row is one control. The Basis column says what I used: HairMela management's survey answers, which I trusted, or nothing where the survey did not ask. Where the public pages say less than management reports, the basis says public pages thinner, and the next slides explain. Status is Implemented for two points, Partial for one, or Not assessed, which leaves it out of the score. The NIST column is the CSF 2.0 category and the NDPA column is the section of the Nigeria Data Protection Act 2023 it relates to; confirm the section numbers in the official Act. Implemented only means management said so, because I did not see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HairMela scores ninety-eight percent, which is in the strong band. Of the twenty-five controls, I could assess twenty-one: twenty are implemented, one is partly in place, and none are missing. Four could not be assessed because the survey did not ask about them. Every area is at or near the top: governance, detect, respond and recover, and privacy duties are all at one hundred percent, and protect is ninety-four because of one partly met control, avoiding public Wi-Fi for work. I trusted HairMela management's answers for this score, so it is a management-reported result and I did not see the documents behind it. What I could check myself, the public pages and the app, still shows some gaps, and those are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HairMela's public privacy policy, terms of use and delete-account page, as copied by the assessor on 14 October 2026. Observations: the privacy policy says consent is given by providing information, and that anyone who no longer consents should contact HairMela and stop using the service. The terms say browsing a salon page counts as agreeing to the terms and privacy policy. The salon sees a customer's first name and selected service. The policy and deletion page give hello@contact.hairmela.com as the contact, while the website footer lists hello@hairmela.com, so confirm which address is monitored. Nothing is said about children's data.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sets side by side what HairMela management reported in the survey and what the public pages and app show. Management says a clear privacy notice and consent process exist, but the public notice lists no customer rights and assumes consent from use. Management says customer requests, retention, vendor agreements and breach reporting are handled, but the public pages give no retention periods, do not name vendors, and say nothing about breaches. I did not override the management answers in the score. These are follow-ups: the public wording should match what the business really does. This is an assessment of documents,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screenshots of hairmela.com/register taken by the assessor on 14 October 2026. The consent point refers only to the form and the area below the Create account button in the captured screens; privacy and terms links may exist in the page footer, which was not captured. The phone field shows no "optional" tag at sign-up, while the privacy policy and the Edit Profile page describe phone as optional, so ask HairMela whether it is required. Password rules shown are a minimum of 8 characters only. These are observations about the customer-facing app, not about HairMela's internal staff accounts. Whether email verification is required was not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screenshots of the signed-in app and the assessor's notes, 14 October 2026. Settings shows Email verified, Member since, a Reset password button (emailed link), Google account linked, and a Turn on button for queue notifications. The assessor reports that no privacy policy link appears inside the app; the public policy exists on the website. The account was created with Google sign-in, and no separate verification email arrived. That is normal, because Google has already verified the address, so it says nothing about email-and-password sign-ups, which still need testing with a second account. The assessor found no delete-account option in the app and reports that deletion is requested by contacting HairMela, which matches the website deletion page (30-day timeline). The assessor also reports that other customers' names do not show on the site. Queue-joining screens (Join Now) were not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 register: the list of things that could go wrong, in order of risk number. I started with common risks for a booking platform, then adjusted them with what I found, for example adding R-13 because the sign-up page shows no consent line, and R-14 because management reported that public Wi-Fi is only partly avoided. Each risk links to the checklist controls it depends on. I have not scored them yet: the next slides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 register: the list of things that could go wrong, in order of risk number. I started with common risks for a booking platform, then adjusted them with what I found, for example adding R-13 because the sign-up page shows no consent line, and R-14 because management reported that public Wi-Fi is only partly avoided. Each risk links to the checklist controls it depends on. I have not scored them yet: the next slides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score the risks I just listed. Each risk is placed by how likely it is in the next twelve months and how bad it would be. Likelihood is one for rare to five for almost certain. Impact is one for negligible to five for severe. Multiply them to get a score from one to twenty-five. Because management reports that most controls are in place, nothing is critical. One risk is high: R-07, a breach that is not noticed, recorded or reported in time, because the impact would be severe and the public pages say nothing about breaches. Eight are medium and five are low. For example, R-03, customer details on personal chats, is low because management says they are kept out of personal chats.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same risks with their scores, in order of risk number. Each risk gets a likelihood from one to five and an impact from one to five. Multiply them for the score. Because management reports that most controls are in place, likelihoods are low. Impact stays where the damage would be serious, for example a missed breach or lost data. These are my judgements and may change with more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same risks with their scores, in order of risk number. Each risk gets a likelihood from one to five and an impact from one to five. Multiply them for the score. Because management reports that most controls are in place, likelihoods are low. Impact stays where the damage would be serious, for example a missed breach or lost data. These are my judgements and may change with more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highest-rated risks, listed by risk number. The highest score is R-07 at ten, rated high: management reports an incident register and reporting steps, but the public pages say nothing about breaches and the impact of a missed breach is severe. R-13 and R-14 score nine: the sign-up page shows no consent line, and management answered partly on avoiding public Wi-Fi. R-01, R-02 and R-09 score eight: they are controls management reports in place, but the impact of failure is major. None of these needs expensive technology. They need written steps, a few wording changes and clear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grouped the fixes by rating and cost. Fix first is the one high risk, R-07: test the breach plan and write it down so it works when it is needed. Quick fixes are medium risks that cost little: publish clear customer request steps and rights, name vendors and confirm the written agreements, add a consent line and privacy link at sign-up, which is only a text edit, and set a rule for public Wi-Fi. Keep up and verify covers controls management says are in place: two-step sign-in, phishing awareness, tested restores and refresher training. The five low risks only need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turned the biggest risks into five short templates HairMela can adopt: an incident and breach plan with a log, a rule for customer chats and phones, an accounts and leavers checklist, a keep-and-delete table, and steps for customer requests. They are written in plain language, no legal jargon, so a small team can actually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is the cheapest control. The flyer gives staff five habits: use strong passwords, think before you click, keep customer details out of personal chats, lock and update your devices, and report problems fast without blame. I will share it with the HairMela team after this presentation, and the follow-up survey will show whether habits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show the project made a difference, I will repeat the same questions after HairMela has had the flyer and the templates. Today I present the findings. After the presentation I will share the report, templates and flyer with HairMela. Then the follow-up survey asks the same questions again, and I compare answers before and after, in words and not counts. None of that has happened yet, so I am not claiming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HairMela gave permission for public information, the app as a customer, and a survey. I did no scanning or testing. The score rests on HairMela management's answers, which I trusted, and I did not see documents, so Implemented means management said so. Where the public pages are thinner than what management reports, I treated that as a follow-up and not as a reason to change the score. The legal references need checking in the official Act, and this is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HairMela scores ninety-eight percent, which is strong, as reported by its management. The basics are in place and management is very confident. Because I did not see documents, the next step is to confirm the practices on paper, and to close the gaps customers can already see: the consent line and privacy link at sign-up, customer rights and retention periods on the public pages, vendor names, a public Wi-Fi rule, and a tested breach plan. Then the follow-up survey will show whether things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hub and the HairMela team. Take questions. Likely questions: how was permission given, why no testing, what the score means, and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after this slide is reference material. I will only go here if someone asks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This lists the evidence behind the audit and how it was handled. Permission is documented. The public pages and app screenshots were collected as an ordinary customer, with email addresses covered. The survey answers are confidential and I do not publish the raw responses. The full evidence register is in the GitHub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section numbers were taken from a hosted copy of the Act and should be checked against the official text before anyone relies on them. This audit is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21A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21A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21A33"/>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21A3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slideLayout" Target="../slideLayouts/slideLayout2.xml"/><Relationship Id="rId1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D23F"/>
                </a:solidFill>
                <a:latin typeface="Arial" pitchFamily="34" charset="0"/>
                <a:ea typeface="Arial" pitchFamily="34" charset="-122"/>
                <a:cs typeface="Arial" pitchFamily="34" charset="-120"/>
              </a:rPr>
              <a:t>CYBERSECURITY PROJECT | SIWES AT AXIAHUB</a:t>
            </a:r>
            <a:endParaRPr lang="en-US" sz="1400" dirty="0"/>
          </a:p>
        </p:txBody>
      </p:sp>
      <p:sp>
        <p:nvSpPr>
          <p:cNvPr id="3" name="Text 1"/>
          <p:cNvSpPr/>
          <p:nvPr>
            <p:ph type="title"/>
          </p:nvPr>
        </p:nvSpPr>
        <p:spPr>
          <a:xfrm>
            <a:off x="812800" y="2081874"/>
            <a:ext cx="10883392" cy="1683412"/>
          </a:xfrm>
          <a:prstGeom prst="rect">
            <a:avLst/>
          </a:prstGeom>
          <a:noFill/>
          <a:ln/>
        </p:spPr>
        <p:txBody>
          <a:bodyPr wrap="square" lIns="0" tIns="0" rIns="0" bIns="0" rtlCol="0" anchor="t">
            <a:normAutofit/>
          </a:bodyPr>
          <a:lstStyle/>
          <a:p>
            <a:pPr algn="l" indent="0" marL="0">
              <a:lnSpc>
                <a:spcPts val="6528"/>
              </a:lnSpc>
              <a:buNone/>
            </a:pPr>
            <a:r>
              <a:rPr lang="en-US" sz="6400" b="1" i="0" spc="-100" kern="0" dirty="0">
                <a:solidFill>
                  <a:srgbClr val="F6F4EF"/>
                </a:solidFill>
                <a:latin typeface="Arial" pitchFamily="34" charset="0"/>
                <a:ea typeface="Arial" pitchFamily="34" charset="-122"/>
                <a:cs typeface="Arial" pitchFamily="34" charset="-120"/>
              </a:rPr>
              <a:t>HairMela security and data protection audit</a:t>
            </a:r>
            <a:endParaRPr lang="en-US" sz="6400" dirty="0"/>
          </a:p>
        </p:txBody>
      </p:sp>
      <p:sp>
        <p:nvSpPr>
          <p:cNvPr id="4" name="Shape 2"/>
          <p:cNvSpPr/>
          <p:nvPr/>
        </p:nvSpPr>
        <p:spPr>
          <a:xfrm>
            <a:off x="812800" y="3943086"/>
            <a:ext cx="1016000" cy="76200"/>
          </a:xfrm>
          <a:prstGeom prst="roundRect">
            <a:avLst>
              <a:gd name="adj" fmla="val 50000"/>
            </a:avLst>
          </a:prstGeom>
          <a:solidFill>
            <a:srgbClr val="FFD23F"/>
          </a:solidFill>
          <a:ln/>
        </p:spPr>
      </p:sp>
      <p:sp>
        <p:nvSpPr>
          <p:cNvPr id="5" name="Text 3"/>
          <p:cNvSpPr/>
          <p:nvPr/>
        </p:nvSpPr>
        <p:spPr>
          <a:xfrm>
            <a:off x="812800" y="4222486"/>
            <a:ext cx="10883392"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2F0"/>
                </a:solidFill>
                <a:latin typeface="Arial" pitchFamily="34" charset="0"/>
                <a:ea typeface="Arial" pitchFamily="34" charset="-122"/>
                <a:cs typeface="Arial" pitchFamily="34" charset="-120"/>
              </a:rPr>
              <a:t>An assessment against NIST CSF 2.0 and the Nigeria Data Protection Act (NDPA) 2023</a:t>
            </a:r>
            <a:endParaRPr lang="en-US" sz="1800" dirty="0"/>
          </a:p>
        </p:txBody>
      </p:sp>
      <p:sp>
        <p:nvSpPr>
          <p:cNvPr id="6" name="Text 4"/>
          <p:cNvSpPr/>
          <p:nvPr/>
        </p:nvSpPr>
        <p:spPr>
          <a:xfrm>
            <a:off x="812800" y="553978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F"/>
                </a:solidFill>
                <a:latin typeface="Arial" pitchFamily="34" charset="0"/>
                <a:ea typeface="Arial" pitchFamily="34" charset="-122"/>
                <a:cs typeface="Arial" pitchFamily="34" charset="-120"/>
              </a:rPr>
              <a:t>Ayeni Ayomide</a:t>
            </a:r>
            <a:endParaRPr lang="en-US" sz="1400" dirty="0"/>
          </a:p>
        </p:txBody>
      </p:sp>
      <p:sp>
        <p:nvSpPr>
          <p:cNvPr id="7" name="Text 5"/>
          <p:cNvSpPr/>
          <p:nvPr/>
        </p:nvSpPr>
        <p:spPr>
          <a:xfrm>
            <a:off x="812800" y="5814087"/>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F0"/>
                </a:solidFill>
                <a:latin typeface="Arial" pitchFamily="34" charset="0"/>
                <a:ea typeface="Arial" pitchFamily="34" charset="-122"/>
                <a:cs typeface="Arial" pitchFamily="34" charset="-120"/>
              </a:rPr>
              <a:t>Cybersecurity Trainee, Axiahub (SIWES) | Friday 16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The business and its data</a:t>
            </a:r>
            <a:endParaRPr lang="en-US" sz="3200" dirty="0"/>
          </a:p>
        </p:txBody>
      </p:sp>
      <p:sp>
        <p:nvSpPr>
          <p:cNvPr id="3" name="Shape 1"/>
          <p:cNvSpPr/>
          <p:nvPr/>
        </p:nvSpPr>
        <p:spPr>
          <a:xfrm>
            <a:off x="815975" y="1466189"/>
            <a:ext cx="3380317" cy="2267678"/>
          </a:xfrm>
          <a:prstGeom prst="roundRect">
            <a:avLst>
              <a:gd name="adj" fmla="val 4340"/>
            </a:avLst>
          </a:prstGeom>
          <a:solidFill>
            <a:srgbClr val="FBFAF7"/>
          </a:solidFill>
          <a:ln w="6350">
            <a:solidFill>
              <a:srgbClr val="DDD9CE"/>
            </a:solidFill>
            <a:prstDash val="solid"/>
          </a:ln>
        </p:spPr>
      </p:sp>
      <p:pic>
        <p:nvPicPr>
          <p:cNvPr id="4" name="Image 0" descr="Users">    </p:cNvPr>
          <p:cNvPicPr>
            <a:picLocks noChangeAspect="1"/>
          </p:cNvPicPr>
          <p:nvPr/>
        </p:nvPicPr>
        <p:blipFill>
          <a:blip r:embed="rId1"/>
          <a:srcRect l="0" r="0" t="0" b="0"/>
          <a:stretch/>
        </p:blipFill>
        <p:spPr>
          <a:xfrm>
            <a:off x="1071033" y="1721247"/>
            <a:ext cx="355600" cy="355600"/>
          </a:xfrm>
          <a:prstGeom prst="rect">
            <a:avLst/>
          </a:prstGeom>
        </p:spPr>
      </p:pic>
      <p:sp>
        <p:nvSpPr>
          <p:cNvPr id="5" name="Text 2"/>
          <p:cNvSpPr/>
          <p:nvPr/>
        </p:nvSpPr>
        <p:spPr>
          <a:xfrm>
            <a:off x="1071033" y="21784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Who uses it</a:t>
            </a:r>
            <a:endParaRPr lang="en-US" sz="1800" dirty="0"/>
          </a:p>
        </p:txBody>
      </p:sp>
      <p:sp>
        <p:nvSpPr>
          <p:cNvPr id="6" name="Text 3"/>
          <p:cNvSpPr/>
          <p:nvPr/>
        </p:nvSpPr>
        <p:spPr>
          <a:xfrm>
            <a:off x="1071033" y="2554354"/>
            <a:ext cx="295630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Customers join a salon's walk-in queue from their phone. Salon owners and staff manage the queue.</a:t>
            </a:r>
            <a:endParaRPr lang="en-US" sz="1300" dirty="0"/>
          </a:p>
        </p:txBody>
      </p:sp>
      <p:sp>
        <p:nvSpPr>
          <p:cNvPr id="7" name="Shape 4"/>
          <p:cNvSpPr/>
          <p:nvPr/>
        </p:nvSpPr>
        <p:spPr>
          <a:xfrm>
            <a:off x="4405842" y="1466189"/>
            <a:ext cx="3380317" cy="2267678"/>
          </a:xfrm>
          <a:prstGeom prst="roundRect">
            <a:avLst>
              <a:gd name="adj" fmla="val 4340"/>
            </a:avLst>
          </a:prstGeom>
          <a:solidFill>
            <a:srgbClr val="FBFAF7"/>
          </a:solidFill>
          <a:ln w="6350">
            <a:solidFill>
              <a:srgbClr val="DDD9CE"/>
            </a:solidFill>
            <a:prstDash val="solid"/>
          </a:ln>
        </p:spPr>
      </p:sp>
      <p:pic>
        <p:nvPicPr>
          <p:cNvPr id="8" name="Image 1" descr="Database">    </p:cNvPr>
          <p:cNvPicPr>
            <a:picLocks noChangeAspect="1"/>
          </p:cNvPicPr>
          <p:nvPr/>
        </p:nvPicPr>
        <p:blipFill>
          <a:blip r:embed="rId2"/>
          <a:srcRect l="0" r="0" t="0" b="0"/>
          <a:stretch/>
        </p:blipFill>
        <p:spPr>
          <a:xfrm>
            <a:off x="4660900" y="1721247"/>
            <a:ext cx="355600" cy="355600"/>
          </a:xfrm>
          <a:prstGeom prst="rect">
            <a:avLst/>
          </a:prstGeom>
        </p:spPr>
      </p:pic>
      <p:sp>
        <p:nvSpPr>
          <p:cNvPr id="9" name="Text 5"/>
          <p:cNvSpPr/>
          <p:nvPr/>
        </p:nvSpPr>
        <p:spPr>
          <a:xfrm>
            <a:off x="4660900" y="21784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What it holds</a:t>
            </a:r>
            <a:endParaRPr lang="en-US" sz="1800" dirty="0"/>
          </a:p>
        </p:txBody>
      </p:sp>
      <p:sp>
        <p:nvSpPr>
          <p:cNvPr id="10" name="Text 6"/>
          <p:cNvSpPr/>
          <p:nvPr/>
        </p:nvSpPr>
        <p:spPr>
          <a:xfrm>
            <a:off x="4660900" y="2554354"/>
            <a:ext cx="295630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Name, email and an optional phone number, queue and booking history, and each salon's business details.</a:t>
            </a:r>
            <a:endParaRPr lang="en-US" sz="1300" dirty="0"/>
          </a:p>
        </p:txBody>
      </p:sp>
      <p:sp>
        <p:nvSpPr>
          <p:cNvPr id="11" name="Shape 7"/>
          <p:cNvSpPr/>
          <p:nvPr/>
        </p:nvSpPr>
        <p:spPr>
          <a:xfrm>
            <a:off x="7995709" y="1466189"/>
            <a:ext cx="3380317" cy="2267678"/>
          </a:xfrm>
          <a:prstGeom prst="roundRect">
            <a:avLst>
              <a:gd name="adj" fmla="val 4340"/>
            </a:avLst>
          </a:prstGeom>
          <a:solidFill>
            <a:srgbClr val="FBFAF7"/>
          </a:solidFill>
          <a:ln w="6350">
            <a:solidFill>
              <a:srgbClr val="DDD9CE"/>
            </a:solidFill>
            <a:prstDash val="solid"/>
          </a:ln>
        </p:spPr>
      </p:sp>
      <p:pic>
        <p:nvPicPr>
          <p:cNvPr id="12" name="Image 2" descr="Lock">    </p:cNvPr>
          <p:cNvPicPr>
            <a:picLocks noChangeAspect="1"/>
          </p:cNvPicPr>
          <p:nvPr/>
        </p:nvPicPr>
        <p:blipFill>
          <a:blip r:embed="rId3"/>
          <a:srcRect l="0" r="0" t="0" b="0"/>
          <a:stretch/>
        </p:blipFill>
        <p:spPr>
          <a:xfrm>
            <a:off x="8250767" y="1721247"/>
            <a:ext cx="355600" cy="355600"/>
          </a:xfrm>
          <a:prstGeom prst="rect">
            <a:avLst/>
          </a:prstGeom>
        </p:spPr>
      </p:pic>
      <p:sp>
        <p:nvSpPr>
          <p:cNvPr id="13" name="Text 8"/>
          <p:cNvSpPr/>
          <p:nvPr/>
        </p:nvSpPr>
        <p:spPr>
          <a:xfrm>
            <a:off x="8250767" y="21784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Why it matters</a:t>
            </a:r>
            <a:endParaRPr lang="en-US" sz="1800" dirty="0"/>
          </a:p>
        </p:txBody>
      </p:sp>
      <p:sp>
        <p:nvSpPr>
          <p:cNvPr id="14" name="Text 9"/>
          <p:cNvSpPr/>
          <p:nvPr/>
        </p:nvSpPr>
        <p:spPr>
          <a:xfrm>
            <a:off x="8250767" y="2554354"/>
            <a:ext cx="2956306"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This is personal data. The NDPA 2023 expects it to be handled fairly, kept safe and deleted when no longer needed.</a:t>
            </a:r>
            <a:endParaRPr lang="en-US" sz="1300" dirty="0"/>
          </a:p>
        </p:txBody>
      </p:sp>
      <p:sp>
        <p:nvSpPr>
          <p:cNvPr id="15" name="Text 10"/>
          <p:cNvSpPr/>
          <p:nvPr/>
        </p:nvSpPr>
        <p:spPr>
          <a:xfrm>
            <a:off x="812800" y="3940242"/>
            <a:ext cx="10566400" cy="828014"/>
          </a:xfrm>
          <a:prstGeom prst="roundRect">
            <a:avLst>
              <a:gd name="adj" fmla="val 12270"/>
            </a:avLst>
          </a:prstGeom>
          <a:solidFill>
            <a:srgbClr val="121A33"/>
          </a:solidFill>
          <a:ln/>
        </p:spPr>
        <p:txBody>
          <a:bodyPr wrap="square" lIns="224242" tIns="224242" rIns="0" bIns="198842" rtlCol="0" anchor="t">
            <a:normAutofit/>
          </a:bodyPr>
          <a:lstStyle/>
          <a:p>
            <a:pPr algn="l" indent="0" marL="0">
              <a:lnSpc>
                <a:spcPts val="2520"/>
              </a:lnSpc>
              <a:buNone/>
            </a:pPr>
            <a:r>
              <a:rPr lang="en-US" sz="1800" b="1" dirty="0">
                <a:solidFill>
                  <a:srgbClr val="F6F4EF"/>
                </a:solidFill>
                <a:latin typeface="Arial" pitchFamily="34" charset="0"/>
                <a:ea typeface="Arial" pitchFamily="34" charset="-122"/>
                <a:cs typeface="Arial" pitchFamily="34" charset="-120"/>
              </a:rPr>
              <a:t>The question: how well is that data protected today, and what are the simplest fixes?</a:t>
            </a:r>
            <a:endParaRPr lang="en-US" sz="1800" dirty="0"/>
          </a:p>
        </p:txBody>
      </p:sp>
      <p:sp>
        <p:nvSpPr>
          <p:cNvPr id="16" name="Text 1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Scope and permission</a:t>
            </a:r>
            <a:endParaRPr lang="en-US" sz="3200" dirty="0"/>
          </a:p>
        </p:txBody>
      </p:sp>
      <p:sp>
        <p:nvSpPr>
          <p:cNvPr id="3" name="Shape 1"/>
          <p:cNvSpPr/>
          <p:nvPr/>
        </p:nvSpPr>
        <p:spPr>
          <a:xfrm>
            <a:off x="815975" y="1466190"/>
            <a:ext cx="5175250" cy="2064478"/>
          </a:xfrm>
          <a:prstGeom prst="roundRect">
            <a:avLst>
              <a:gd name="adj" fmla="val 4768"/>
            </a:avLst>
          </a:prstGeom>
          <a:solidFill>
            <a:srgbClr val="FBFAF7"/>
          </a:solidFill>
          <a:ln w="6350">
            <a:solidFill>
              <a:srgbClr val="DDD9CE"/>
            </a:solidFill>
            <a:prstDash val="solid"/>
          </a:ln>
        </p:spPr>
      </p:sp>
      <p:sp>
        <p:nvSpPr>
          <p:cNvPr id="4" name="Text 2"/>
          <p:cNvSpPr/>
          <p:nvPr/>
        </p:nvSpPr>
        <p:spPr>
          <a:xfrm>
            <a:off x="10710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B3B"/>
                </a:solidFill>
                <a:latin typeface="Arial" pitchFamily="34" charset="0"/>
                <a:ea typeface="Arial" pitchFamily="34" charset="-122"/>
                <a:cs typeface="Arial" pitchFamily="34" charset="-120"/>
              </a:rPr>
              <a:t>What HairMela agreed to</a:t>
            </a:r>
            <a:endParaRPr lang="en-US" sz="1800" dirty="0"/>
          </a:p>
        </p:txBody>
      </p:sp>
      <p:pic>
        <p:nvPicPr>
          <p:cNvPr id="5" name="Image 0" descr="Check">    </p:cNvPr>
          <p:cNvPicPr>
            <a:picLocks noChangeAspect="1"/>
          </p:cNvPicPr>
          <p:nvPr/>
        </p:nvPicPr>
        <p:blipFill>
          <a:blip r:embed="rId1"/>
          <a:srcRect l="0" r="0" t="0" b="0"/>
          <a:stretch/>
        </p:blipFill>
        <p:spPr>
          <a:xfrm>
            <a:off x="1071033" y="2122554"/>
            <a:ext cx="177800" cy="177800"/>
          </a:xfrm>
          <a:prstGeom prst="rect">
            <a:avLst/>
          </a:prstGeom>
        </p:spPr>
      </p:pic>
      <p:sp>
        <p:nvSpPr>
          <p:cNvPr id="6" name="Text 3"/>
          <p:cNvSpPr/>
          <p:nvPr/>
        </p:nvSpPr>
        <p:spPr>
          <a:xfrm>
            <a:off x="1337733" y="2122554"/>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A security and data protection assessment</a:t>
            </a:r>
            <a:endParaRPr lang="en-US" sz="1300" dirty="0"/>
          </a:p>
        </p:txBody>
      </p:sp>
      <p:pic>
        <p:nvPicPr>
          <p:cNvPr id="7" name="Image 1" descr="Check">    </p:cNvPr>
          <p:cNvPicPr>
            <a:picLocks noChangeAspect="1"/>
          </p:cNvPicPr>
          <p:nvPr/>
        </p:nvPicPr>
        <p:blipFill>
          <a:blip r:embed="rId2"/>
          <a:srcRect l="0" r="0" t="0" b="0"/>
          <a:stretch/>
        </p:blipFill>
        <p:spPr>
          <a:xfrm>
            <a:off x="1071033" y="2429867"/>
            <a:ext cx="177800" cy="177800"/>
          </a:xfrm>
          <a:prstGeom prst="rect">
            <a:avLst/>
          </a:prstGeom>
        </p:spPr>
      </p:pic>
      <p:sp>
        <p:nvSpPr>
          <p:cNvPr id="8" name="Text 4"/>
          <p:cNvSpPr/>
          <p:nvPr/>
        </p:nvSpPr>
        <p:spPr>
          <a:xfrm>
            <a:off x="1337733" y="242986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Information HairMela chooses to share, and a survey</a:t>
            </a:r>
            <a:endParaRPr lang="en-US" sz="1300" dirty="0"/>
          </a:p>
        </p:txBody>
      </p:sp>
      <p:pic>
        <p:nvPicPr>
          <p:cNvPr id="9" name="Image 2" descr="Check">    </p:cNvPr>
          <p:cNvPicPr>
            <a:picLocks noChangeAspect="1"/>
          </p:cNvPicPr>
          <p:nvPr/>
        </p:nvPicPr>
        <p:blipFill>
          <a:blip r:embed="rId3"/>
          <a:srcRect l="0" r="0" t="0" b="0"/>
          <a:stretch/>
        </p:blipFill>
        <p:spPr>
          <a:xfrm>
            <a:off x="1071033" y="2737182"/>
            <a:ext cx="177800" cy="177800"/>
          </a:xfrm>
          <a:prstGeom prst="rect">
            <a:avLst/>
          </a:prstGeom>
        </p:spPr>
      </p:pic>
      <p:sp>
        <p:nvSpPr>
          <p:cNvPr id="10" name="Text 5"/>
          <p:cNvSpPr/>
          <p:nvPr/>
        </p:nvSpPr>
        <p:spPr>
          <a:xfrm>
            <a:off x="1337733" y="2737182"/>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Agreed online interviews (the survey covers this)</a:t>
            </a:r>
            <a:endParaRPr lang="en-US" sz="1300" dirty="0"/>
          </a:p>
        </p:txBody>
      </p:sp>
      <p:pic>
        <p:nvPicPr>
          <p:cNvPr id="11" name="Image 3" descr="Check">    </p:cNvPr>
          <p:cNvPicPr>
            <a:picLocks noChangeAspect="1"/>
          </p:cNvPicPr>
          <p:nvPr/>
        </p:nvPicPr>
        <p:blipFill>
          <a:blip r:embed="rId4"/>
          <a:srcRect l="0" r="0" t="0" b="0"/>
          <a:stretch/>
        </p:blipFill>
        <p:spPr>
          <a:xfrm>
            <a:off x="1071033" y="3044495"/>
            <a:ext cx="177800" cy="177800"/>
          </a:xfrm>
          <a:prstGeom prst="rect">
            <a:avLst/>
          </a:prstGeom>
        </p:spPr>
      </p:pic>
      <p:sp>
        <p:nvSpPr>
          <p:cNvPr id="12" name="Text 6"/>
          <p:cNvSpPr/>
          <p:nvPr/>
        </p:nvSpPr>
        <p:spPr>
          <a:xfrm>
            <a:off x="1337733" y="304449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Using the app as a normal customer on my own account</a:t>
            </a:r>
            <a:endParaRPr lang="en-US" sz="1300" dirty="0"/>
          </a:p>
        </p:txBody>
      </p:sp>
      <p:sp>
        <p:nvSpPr>
          <p:cNvPr id="13" name="Shape 7"/>
          <p:cNvSpPr/>
          <p:nvPr/>
        </p:nvSpPr>
        <p:spPr>
          <a:xfrm>
            <a:off x="6200775" y="1466190"/>
            <a:ext cx="5175250" cy="2064478"/>
          </a:xfrm>
          <a:prstGeom prst="roundRect">
            <a:avLst>
              <a:gd name="adj" fmla="val 4768"/>
            </a:avLst>
          </a:prstGeom>
          <a:solidFill>
            <a:srgbClr val="FBFAF7"/>
          </a:solidFill>
          <a:ln w="6350">
            <a:solidFill>
              <a:srgbClr val="DDD9CE"/>
            </a:solidFill>
            <a:prstDash val="solid"/>
          </a:ln>
        </p:spPr>
      </p:sp>
      <p:sp>
        <p:nvSpPr>
          <p:cNvPr id="14" name="Text 8"/>
          <p:cNvSpPr/>
          <p:nvPr/>
        </p:nvSpPr>
        <p:spPr>
          <a:xfrm>
            <a:off x="64558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0392B"/>
                </a:solidFill>
                <a:latin typeface="Arial" pitchFamily="34" charset="0"/>
                <a:ea typeface="Arial" pitchFamily="34" charset="-122"/>
                <a:cs typeface="Arial" pitchFamily="34" charset="-120"/>
              </a:rPr>
              <a:t>What was not authorised, and not done</a:t>
            </a:r>
            <a:endParaRPr lang="en-US" sz="1800" dirty="0"/>
          </a:p>
        </p:txBody>
      </p:sp>
      <p:pic>
        <p:nvPicPr>
          <p:cNvPr id="15" name="Image 4" descr="Lock">    </p:cNvPr>
          <p:cNvPicPr>
            <a:picLocks noChangeAspect="1"/>
          </p:cNvPicPr>
          <p:nvPr/>
        </p:nvPicPr>
        <p:blipFill>
          <a:blip r:embed="rId5"/>
          <a:srcRect l="0" r="0" t="0" b="0"/>
          <a:stretch/>
        </p:blipFill>
        <p:spPr>
          <a:xfrm>
            <a:off x="6455833" y="2122554"/>
            <a:ext cx="177800" cy="177800"/>
          </a:xfrm>
          <a:prstGeom prst="rect">
            <a:avLst/>
          </a:prstGeom>
        </p:spPr>
      </p:pic>
      <p:sp>
        <p:nvSpPr>
          <p:cNvPr id="16" name="Text 9"/>
          <p:cNvSpPr/>
          <p:nvPr/>
        </p:nvSpPr>
        <p:spPr>
          <a:xfrm>
            <a:off x="6722534" y="2122554"/>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Scanning or testing the website, app or servers</a:t>
            </a:r>
            <a:endParaRPr lang="en-US" sz="1300" dirty="0"/>
          </a:p>
        </p:txBody>
      </p:sp>
      <p:pic>
        <p:nvPicPr>
          <p:cNvPr id="17" name="Image 5" descr="Lock">    </p:cNvPr>
          <p:cNvPicPr>
            <a:picLocks noChangeAspect="1"/>
          </p:cNvPicPr>
          <p:nvPr/>
        </p:nvPicPr>
        <p:blipFill>
          <a:blip r:embed="rId6"/>
          <a:srcRect l="0" r="0" t="0" b="0"/>
          <a:stretch/>
        </p:blipFill>
        <p:spPr>
          <a:xfrm>
            <a:off x="6455833" y="2429867"/>
            <a:ext cx="177800" cy="177800"/>
          </a:xfrm>
          <a:prstGeom prst="rect">
            <a:avLst/>
          </a:prstGeom>
        </p:spPr>
      </p:pic>
      <p:sp>
        <p:nvSpPr>
          <p:cNvPr id="18" name="Text 10"/>
          <p:cNvSpPr/>
          <p:nvPr/>
        </p:nvSpPr>
        <p:spPr>
          <a:xfrm>
            <a:off x="6722534" y="242986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Access to accounts, systems or customer data</a:t>
            </a:r>
            <a:endParaRPr lang="en-US" sz="1300" dirty="0"/>
          </a:p>
        </p:txBody>
      </p:sp>
      <p:pic>
        <p:nvPicPr>
          <p:cNvPr id="19" name="Image 6" descr="Lock">    </p:cNvPr>
          <p:cNvPicPr>
            <a:picLocks noChangeAspect="1"/>
          </p:cNvPicPr>
          <p:nvPr/>
        </p:nvPicPr>
        <p:blipFill>
          <a:blip r:embed="rId7"/>
          <a:srcRect l="0" r="0" t="0" b="0"/>
          <a:stretch/>
        </p:blipFill>
        <p:spPr>
          <a:xfrm>
            <a:off x="6455833" y="2737182"/>
            <a:ext cx="177800" cy="177800"/>
          </a:xfrm>
          <a:prstGeom prst="rect">
            <a:avLst/>
          </a:prstGeom>
        </p:spPr>
      </p:pic>
      <p:sp>
        <p:nvSpPr>
          <p:cNvPr id="20" name="Text 11"/>
          <p:cNvSpPr/>
          <p:nvPr/>
        </p:nvSpPr>
        <p:spPr>
          <a:xfrm>
            <a:off x="6722534" y="2737182"/>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Requests for internal documents: HairMela shares only what is public</a:t>
            </a:r>
            <a:endParaRPr lang="en-US" sz="1300" dirty="0"/>
          </a:p>
        </p:txBody>
      </p:sp>
      <p:sp>
        <p:nvSpPr>
          <p:cNvPr id="21" name="Text 12"/>
          <p:cNvSpPr/>
          <p:nvPr/>
        </p:nvSpPr>
        <p:spPr>
          <a:xfrm>
            <a:off x="812800" y="3737042"/>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Permission came from HairMela in writing, by email and WhatsApp. The survey is voluntary and its answers stay confidential.</a:t>
            </a:r>
            <a:endParaRPr lang="en-US" sz="1300" dirty="0"/>
          </a:p>
        </p:txBody>
      </p:sp>
      <p:sp>
        <p:nvSpPr>
          <p:cNvPr id="22"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How the audit was done</a:t>
            </a:r>
            <a:endParaRPr lang="en-US" sz="3200" dirty="0"/>
          </a:p>
        </p:txBody>
      </p:sp>
      <p:sp>
        <p:nvSpPr>
          <p:cNvPr id="3" name="Shape 1"/>
          <p:cNvSpPr/>
          <p:nvPr/>
        </p:nvSpPr>
        <p:spPr>
          <a:xfrm>
            <a:off x="815975" y="1466190"/>
            <a:ext cx="1944357" cy="2044105"/>
          </a:xfrm>
          <a:prstGeom prst="roundRect">
            <a:avLst>
              <a:gd name="adj" fmla="val 5062"/>
            </a:avLst>
          </a:prstGeom>
          <a:solidFill>
            <a:srgbClr val="FBFAF7"/>
          </a:solidFill>
          <a:ln w="6350">
            <a:solidFill>
              <a:srgbClr val="DDD9CE"/>
            </a:solidFill>
            <a:prstDash val="solid"/>
          </a:ln>
        </p:spPr>
      </p:sp>
      <p:sp>
        <p:nvSpPr>
          <p:cNvPr id="4" name="Text 2"/>
          <p:cNvSpPr/>
          <p:nvPr/>
        </p:nvSpPr>
        <p:spPr>
          <a:xfrm>
            <a:off x="994833" y="1645047"/>
            <a:ext cx="163744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347F5"/>
                </a:solidFill>
                <a:latin typeface="Arial" pitchFamily="34" charset="0"/>
                <a:ea typeface="Arial" pitchFamily="34" charset="-122"/>
                <a:cs typeface="Arial" pitchFamily="34" charset="-120"/>
              </a:rPr>
              <a:t>1</a:t>
            </a:r>
            <a:endParaRPr lang="en-US" sz="3600" dirty="0"/>
          </a:p>
        </p:txBody>
      </p:sp>
      <p:sp>
        <p:nvSpPr>
          <p:cNvPr id="5" name="Text 3"/>
          <p:cNvSpPr/>
          <p:nvPr/>
        </p:nvSpPr>
        <p:spPr>
          <a:xfrm>
            <a:off x="994833" y="2153047"/>
            <a:ext cx="16374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A33"/>
                </a:solidFill>
                <a:latin typeface="Arial" pitchFamily="34" charset="0"/>
                <a:ea typeface="Arial" pitchFamily="34" charset="-122"/>
                <a:cs typeface="Arial" pitchFamily="34" charset="-120"/>
              </a:rPr>
              <a:t>Permission</a:t>
            </a:r>
            <a:endParaRPr lang="en-US" sz="1600" dirty="0"/>
          </a:p>
        </p:txBody>
      </p:sp>
      <p:sp>
        <p:nvSpPr>
          <p:cNvPr id="6" name="Text 4"/>
          <p:cNvSpPr/>
          <p:nvPr/>
        </p:nvSpPr>
        <p:spPr>
          <a:xfrm>
            <a:off x="994833" y="2447661"/>
            <a:ext cx="1637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Written agreement from HairMela by email and WhatsApp.</a:t>
            </a:r>
            <a:endParaRPr lang="en-US" sz="1200" dirty="0"/>
          </a:p>
        </p:txBody>
      </p:sp>
      <p:sp>
        <p:nvSpPr>
          <p:cNvPr id="7" name="Shape 5"/>
          <p:cNvSpPr/>
          <p:nvPr/>
        </p:nvSpPr>
        <p:spPr>
          <a:xfrm>
            <a:off x="2969882" y="1466190"/>
            <a:ext cx="1944423" cy="2044105"/>
          </a:xfrm>
          <a:prstGeom prst="roundRect">
            <a:avLst>
              <a:gd name="adj" fmla="val 5062"/>
            </a:avLst>
          </a:prstGeom>
          <a:solidFill>
            <a:srgbClr val="FBFAF7"/>
          </a:solidFill>
          <a:ln w="6350">
            <a:solidFill>
              <a:srgbClr val="DDD9CE"/>
            </a:solidFill>
            <a:prstDash val="solid"/>
          </a:ln>
        </p:spPr>
      </p:sp>
      <p:sp>
        <p:nvSpPr>
          <p:cNvPr id="8" name="Text 6"/>
          <p:cNvSpPr/>
          <p:nvPr/>
        </p:nvSpPr>
        <p:spPr>
          <a:xfrm>
            <a:off x="3148740" y="1645047"/>
            <a:ext cx="163750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347F5"/>
                </a:solidFill>
                <a:latin typeface="Arial" pitchFamily="34" charset="0"/>
                <a:ea typeface="Arial" pitchFamily="34" charset="-122"/>
                <a:cs typeface="Arial" pitchFamily="34" charset="-120"/>
              </a:rPr>
              <a:t>2</a:t>
            </a:r>
            <a:endParaRPr lang="en-US" sz="3600" dirty="0"/>
          </a:p>
        </p:txBody>
      </p:sp>
      <p:sp>
        <p:nvSpPr>
          <p:cNvPr id="9" name="Text 7"/>
          <p:cNvSpPr/>
          <p:nvPr/>
        </p:nvSpPr>
        <p:spPr>
          <a:xfrm>
            <a:off x="3148740" y="2153047"/>
            <a:ext cx="16375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A33"/>
                </a:solidFill>
                <a:latin typeface="Arial" pitchFamily="34" charset="0"/>
                <a:ea typeface="Arial" pitchFamily="34" charset="-122"/>
                <a:cs typeface="Arial" pitchFamily="34" charset="-120"/>
              </a:rPr>
              <a:t>Public pages</a:t>
            </a:r>
            <a:endParaRPr lang="en-US" sz="1600" dirty="0"/>
          </a:p>
        </p:txBody>
      </p:sp>
      <p:sp>
        <p:nvSpPr>
          <p:cNvPr id="10" name="Text 8"/>
          <p:cNvSpPr/>
          <p:nvPr/>
        </p:nvSpPr>
        <p:spPr>
          <a:xfrm>
            <a:off x="3148740" y="2447661"/>
            <a:ext cx="16375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Read the privacy policy, terms of use and deletion page.</a:t>
            </a:r>
            <a:endParaRPr lang="en-US" sz="1200" dirty="0"/>
          </a:p>
        </p:txBody>
      </p:sp>
      <p:sp>
        <p:nvSpPr>
          <p:cNvPr id="11" name="Shape 9"/>
          <p:cNvSpPr/>
          <p:nvPr/>
        </p:nvSpPr>
        <p:spPr>
          <a:xfrm>
            <a:off x="5123855" y="1466190"/>
            <a:ext cx="1944357" cy="2044105"/>
          </a:xfrm>
          <a:prstGeom prst="roundRect">
            <a:avLst>
              <a:gd name="adj" fmla="val 5062"/>
            </a:avLst>
          </a:prstGeom>
          <a:solidFill>
            <a:srgbClr val="FBFAF7"/>
          </a:solidFill>
          <a:ln w="6350">
            <a:solidFill>
              <a:srgbClr val="DDD9CE"/>
            </a:solidFill>
            <a:prstDash val="solid"/>
          </a:ln>
        </p:spPr>
      </p:sp>
      <p:sp>
        <p:nvSpPr>
          <p:cNvPr id="12" name="Text 10"/>
          <p:cNvSpPr/>
          <p:nvPr/>
        </p:nvSpPr>
        <p:spPr>
          <a:xfrm>
            <a:off x="5302713" y="1645047"/>
            <a:ext cx="163744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347F5"/>
                </a:solidFill>
                <a:latin typeface="Arial" pitchFamily="34" charset="0"/>
                <a:ea typeface="Arial" pitchFamily="34" charset="-122"/>
                <a:cs typeface="Arial" pitchFamily="34" charset="-120"/>
              </a:rPr>
              <a:t>3</a:t>
            </a:r>
            <a:endParaRPr lang="en-US" sz="3600" dirty="0"/>
          </a:p>
        </p:txBody>
      </p:sp>
      <p:sp>
        <p:nvSpPr>
          <p:cNvPr id="13" name="Text 11"/>
          <p:cNvSpPr/>
          <p:nvPr/>
        </p:nvSpPr>
        <p:spPr>
          <a:xfrm>
            <a:off x="5302713" y="2153047"/>
            <a:ext cx="16374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A33"/>
                </a:solidFill>
                <a:latin typeface="Arial" pitchFamily="34" charset="0"/>
                <a:ea typeface="Arial" pitchFamily="34" charset="-122"/>
                <a:cs typeface="Arial" pitchFamily="34" charset="-120"/>
              </a:rPr>
              <a:t>The app</a:t>
            </a:r>
            <a:endParaRPr lang="en-US" sz="1600" dirty="0"/>
          </a:p>
        </p:txBody>
      </p:sp>
      <p:sp>
        <p:nvSpPr>
          <p:cNvPr id="14" name="Text 12"/>
          <p:cNvSpPr/>
          <p:nvPr/>
        </p:nvSpPr>
        <p:spPr>
          <a:xfrm>
            <a:off x="5302713" y="2447661"/>
            <a:ext cx="1637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Used it as a normal customer on my own account.</a:t>
            </a:r>
            <a:endParaRPr lang="en-US" sz="1200" dirty="0"/>
          </a:p>
        </p:txBody>
      </p:sp>
      <p:sp>
        <p:nvSpPr>
          <p:cNvPr id="15" name="Shape 13"/>
          <p:cNvSpPr/>
          <p:nvPr/>
        </p:nvSpPr>
        <p:spPr>
          <a:xfrm>
            <a:off x="7277762" y="1466190"/>
            <a:ext cx="1944357" cy="2044105"/>
          </a:xfrm>
          <a:prstGeom prst="roundRect">
            <a:avLst>
              <a:gd name="adj" fmla="val 5062"/>
            </a:avLst>
          </a:prstGeom>
          <a:solidFill>
            <a:srgbClr val="FBFAF7"/>
          </a:solidFill>
          <a:ln w="6350">
            <a:solidFill>
              <a:srgbClr val="DDD9CE"/>
            </a:solidFill>
            <a:prstDash val="solid"/>
          </a:ln>
        </p:spPr>
      </p:sp>
      <p:sp>
        <p:nvSpPr>
          <p:cNvPr id="16" name="Text 14"/>
          <p:cNvSpPr/>
          <p:nvPr/>
        </p:nvSpPr>
        <p:spPr>
          <a:xfrm>
            <a:off x="7456620" y="1645047"/>
            <a:ext cx="163744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347F5"/>
                </a:solidFill>
                <a:latin typeface="Arial" pitchFamily="34" charset="0"/>
                <a:ea typeface="Arial" pitchFamily="34" charset="-122"/>
                <a:cs typeface="Arial" pitchFamily="34" charset="-120"/>
              </a:rPr>
              <a:t>4</a:t>
            </a:r>
            <a:endParaRPr lang="en-US" sz="3600" dirty="0"/>
          </a:p>
        </p:txBody>
      </p:sp>
      <p:sp>
        <p:nvSpPr>
          <p:cNvPr id="17" name="Text 15"/>
          <p:cNvSpPr/>
          <p:nvPr/>
        </p:nvSpPr>
        <p:spPr>
          <a:xfrm>
            <a:off x="7456620" y="2153047"/>
            <a:ext cx="1637440"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A33"/>
                </a:solidFill>
                <a:latin typeface="Arial" pitchFamily="34" charset="0"/>
                <a:ea typeface="Arial" pitchFamily="34" charset="-122"/>
                <a:cs typeface="Arial" pitchFamily="34" charset="-120"/>
              </a:rPr>
              <a:t>Management survey</a:t>
            </a:r>
            <a:endParaRPr lang="en-US" sz="1600" dirty="0"/>
          </a:p>
        </p:txBody>
      </p:sp>
      <p:sp>
        <p:nvSpPr>
          <p:cNvPr id="18" name="Text 16"/>
          <p:cNvSpPr/>
          <p:nvPr/>
        </p:nvSpPr>
        <p:spPr>
          <a:xfrm>
            <a:off x="7456620" y="2691474"/>
            <a:ext cx="1637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HairMela's own answers on 20 practices.</a:t>
            </a:r>
            <a:endParaRPr lang="en-US" sz="1200" dirty="0"/>
          </a:p>
        </p:txBody>
      </p:sp>
      <p:sp>
        <p:nvSpPr>
          <p:cNvPr id="19" name="Shape 17"/>
          <p:cNvSpPr/>
          <p:nvPr/>
        </p:nvSpPr>
        <p:spPr>
          <a:xfrm>
            <a:off x="9431668" y="1466190"/>
            <a:ext cx="1944357" cy="2044105"/>
          </a:xfrm>
          <a:prstGeom prst="roundRect">
            <a:avLst>
              <a:gd name="adj" fmla="val 5062"/>
            </a:avLst>
          </a:prstGeom>
          <a:solidFill>
            <a:srgbClr val="FBFAF7"/>
          </a:solidFill>
          <a:ln w="6350">
            <a:solidFill>
              <a:srgbClr val="DDD9CE"/>
            </a:solidFill>
            <a:prstDash val="solid"/>
          </a:ln>
        </p:spPr>
      </p:sp>
      <p:sp>
        <p:nvSpPr>
          <p:cNvPr id="20" name="Text 18"/>
          <p:cNvSpPr/>
          <p:nvPr/>
        </p:nvSpPr>
        <p:spPr>
          <a:xfrm>
            <a:off x="9610527" y="1645047"/>
            <a:ext cx="163744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347F5"/>
                </a:solidFill>
                <a:latin typeface="Arial" pitchFamily="34" charset="0"/>
                <a:ea typeface="Arial" pitchFamily="34" charset="-122"/>
                <a:cs typeface="Arial" pitchFamily="34" charset="-120"/>
              </a:rPr>
              <a:t>5</a:t>
            </a:r>
            <a:endParaRPr lang="en-US" sz="3600" dirty="0"/>
          </a:p>
        </p:txBody>
      </p:sp>
      <p:sp>
        <p:nvSpPr>
          <p:cNvPr id="21" name="Text 19"/>
          <p:cNvSpPr/>
          <p:nvPr/>
        </p:nvSpPr>
        <p:spPr>
          <a:xfrm>
            <a:off x="9610527" y="2153047"/>
            <a:ext cx="16374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1A33"/>
                </a:solidFill>
                <a:latin typeface="Arial" pitchFamily="34" charset="0"/>
                <a:ea typeface="Arial" pitchFamily="34" charset="-122"/>
                <a:cs typeface="Arial" pitchFamily="34" charset="-120"/>
              </a:rPr>
              <a:t>Score</a:t>
            </a:r>
            <a:endParaRPr lang="en-US" sz="1600" dirty="0"/>
          </a:p>
        </p:txBody>
      </p:sp>
      <p:sp>
        <p:nvSpPr>
          <p:cNvPr id="22" name="Text 20"/>
          <p:cNvSpPr/>
          <p:nvPr/>
        </p:nvSpPr>
        <p:spPr>
          <a:xfrm>
            <a:off x="9610527" y="2447661"/>
            <a:ext cx="1637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Rated 25 controls and 14 risks, then wrote fixes.</a:t>
            </a:r>
            <a:endParaRPr lang="en-US" sz="1200" dirty="0"/>
          </a:p>
        </p:txBody>
      </p:sp>
      <p:sp>
        <p:nvSpPr>
          <p:cNvPr id="23" name="Text 21"/>
          <p:cNvSpPr/>
          <p:nvPr/>
        </p:nvSpPr>
        <p:spPr>
          <a:xfrm>
            <a:off x="812800" y="3716669"/>
            <a:ext cx="10566400" cy="756907"/>
          </a:xfrm>
          <a:prstGeom prst="roundRect">
            <a:avLst>
              <a:gd name="adj" fmla="val 13423"/>
            </a:avLst>
          </a:prstGeom>
          <a:solidFill>
            <a:srgbClr val="121A33"/>
          </a:solidFill>
          <a:ln/>
        </p:spPr>
        <p:txBody>
          <a:bodyPr wrap="square" lIns="224242" tIns="224242" rIns="0" bIns="198842" rtlCol="0" anchor="t">
            <a:normAutofit/>
          </a:bodyPr>
          <a:lstStyle/>
          <a:p>
            <a:pPr algn="l" indent="0" marL="0">
              <a:lnSpc>
                <a:spcPts val="1960"/>
              </a:lnSpc>
              <a:buNone/>
            </a:pPr>
            <a:r>
              <a:rPr lang="en-US" sz="1400" b="1" dirty="0">
                <a:solidFill>
                  <a:srgbClr val="F6F4EF"/>
                </a:solidFill>
                <a:latin typeface="Arial" pitchFamily="34" charset="0"/>
                <a:ea typeface="Arial" pitchFamily="34" charset="-122"/>
                <a:cs typeface="Arial" pitchFamily="34" charset="-120"/>
              </a:rPr>
              <a:t>What came out of it: a control scorecard, a risk register, policy templates, an awareness flyer and a report for HairMela.</a:t>
            </a:r>
            <a:endParaRPr lang="en-US" sz="1400" dirty="0"/>
          </a:p>
        </p:txBody>
      </p:sp>
      <p:sp>
        <p:nvSpPr>
          <p:cNvPr id="24"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How controls and risks are scored</a:t>
            </a:r>
            <a:endParaRPr lang="en-US" sz="3200" dirty="0"/>
          </a:p>
        </p:txBody>
      </p:sp>
      <p:sp>
        <p:nvSpPr>
          <p:cNvPr id="3" name="Shape 1"/>
          <p:cNvSpPr/>
          <p:nvPr/>
        </p:nvSpPr>
        <p:spPr>
          <a:xfrm>
            <a:off x="815975" y="1466190"/>
            <a:ext cx="3380317" cy="1957851"/>
          </a:xfrm>
          <a:prstGeom prst="roundRect">
            <a:avLst>
              <a:gd name="adj" fmla="val 5027"/>
            </a:avLst>
          </a:prstGeom>
          <a:solidFill>
            <a:srgbClr val="FBFAF7"/>
          </a:solidFill>
          <a:ln w="6350">
            <a:solidFill>
              <a:srgbClr val="DDD9CE"/>
            </a:solidFill>
            <a:prstDash val="solid"/>
          </a:ln>
        </p:spPr>
      </p:sp>
      <p:sp>
        <p:nvSpPr>
          <p:cNvPr id="4" name="Text 2"/>
          <p:cNvSpPr/>
          <p:nvPr/>
        </p:nvSpPr>
        <p:spPr>
          <a:xfrm>
            <a:off x="1071033" y="1721247"/>
            <a:ext cx="29563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47F5"/>
                </a:solidFill>
                <a:latin typeface="Arial" pitchFamily="34" charset="0"/>
                <a:ea typeface="Arial" pitchFamily="34" charset="-122"/>
                <a:cs typeface="Arial" pitchFamily="34" charset="-120"/>
              </a:rPr>
              <a:t>2</a:t>
            </a:r>
            <a:endParaRPr lang="en-US" sz="4800" dirty="0"/>
          </a:p>
        </p:txBody>
      </p:sp>
      <p:sp>
        <p:nvSpPr>
          <p:cNvPr id="5" name="Text 3"/>
          <p:cNvSpPr/>
          <p:nvPr/>
        </p:nvSpPr>
        <p:spPr>
          <a:xfrm>
            <a:off x="1071033" y="23816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Implemented</a:t>
            </a:r>
            <a:endParaRPr lang="en-US" sz="1800" dirty="0"/>
          </a:p>
        </p:txBody>
      </p:sp>
      <p:sp>
        <p:nvSpPr>
          <p:cNvPr id="6" name="Text 4"/>
          <p:cNvSpPr/>
          <p:nvPr/>
        </p:nvSpPr>
        <p:spPr>
          <a:xfrm>
            <a:off x="1071033" y="2706756"/>
            <a:ext cx="295630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In place and working, as reported by management or seen.</a:t>
            </a:r>
            <a:endParaRPr lang="en-US" sz="1300" dirty="0"/>
          </a:p>
        </p:txBody>
      </p:sp>
      <p:sp>
        <p:nvSpPr>
          <p:cNvPr id="7" name="Shape 5"/>
          <p:cNvSpPr/>
          <p:nvPr/>
        </p:nvSpPr>
        <p:spPr>
          <a:xfrm>
            <a:off x="4405842" y="1466190"/>
            <a:ext cx="3380317" cy="1957851"/>
          </a:xfrm>
          <a:prstGeom prst="roundRect">
            <a:avLst>
              <a:gd name="adj" fmla="val 5027"/>
            </a:avLst>
          </a:prstGeom>
          <a:solidFill>
            <a:srgbClr val="FBFAF7"/>
          </a:solidFill>
          <a:ln w="6350">
            <a:solidFill>
              <a:srgbClr val="DDD9CE"/>
            </a:solidFill>
            <a:prstDash val="solid"/>
          </a:ln>
        </p:spPr>
      </p:sp>
      <p:sp>
        <p:nvSpPr>
          <p:cNvPr id="8" name="Text 6"/>
          <p:cNvSpPr/>
          <p:nvPr/>
        </p:nvSpPr>
        <p:spPr>
          <a:xfrm>
            <a:off x="4660900" y="1721247"/>
            <a:ext cx="29563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A6A00"/>
                </a:solidFill>
                <a:latin typeface="Arial" pitchFamily="34" charset="0"/>
                <a:ea typeface="Arial" pitchFamily="34" charset="-122"/>
                <a:cs typeface="Arial" pitchFamily="34" charset="-120"/>
              </a:rPr>
              <a:t>1</a:t>
            </a:r>
            <a:endParaRPr lang="en-US" sz="4800" dirty="0"/>
          </a:p>
        </p:txBody>
      </p:sp>
      <p:sp>
        <p:nvSpPr>
          <p:cNvPr id="9" name="Text 7"/>
          <p:cNvSpPr/>
          <p:nvPr/>
        </p:nvSpPr>
        <p:spPr>
          <a:xfrm>
            <a:off x="4660900" y="23816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Partial</a:t>
            </a:r>
            <a:endParaRPr lang="en-US" sz="1800" dirty="0"/>
          </a:p>
        </p:txBody>
      </p:sp>
      <p:sp>
        <p:nvSpPr>
          <p:cNvPr id="10" name="Text 8"/>
          <p:cNvSpPr/>
          <p:nvPr/>
        </p:nvSpPr>
        <p:spPr>
          <a:xfrm>
            <a:off x="4660900" y="2706756"/>
            <a:ext cx="295630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Partly in place, or not followed by everyone.</a:t>
            </a:r>
            <a:endParaRPr lang="en-US" sz="1300" dirty="0"/>
          </a:p>
        </p:txBody>
      </p:sp>
      <p:sp>
        <p:nvSpPr>
          <p:cNvPr id="11" name="Shape 9"/>
          <p:cNvSpPr/>
          <p:nvPr/>
        </p:nvSpPr>
        <p:spPr>
          <a:xfrm>
            <a:off x="7995709" y="1466190"/>
            <a:ext cx="3380317" cy="1957851"/>
          </a:xfrm>
          <a:prstGeom prst="roundRect">
            <a:avLst>
              <a:gd name="adj" fmla="val 5027"/>
            </a:avLst>
          </a:prstGeom>
          <a:solidFill>
            <a:srgbClr val="FBFAF7"/>
          </a:solidFill>
          <a:ln w="6350">
            <a:solidFill>
              <a:srgbClr val="DDD9CE"/>
            </a:solidFill>
            <a:prstDash val="solid"/>
          </a:ln>
        </p:spPr>
      </p:sp>
      <p:sp>
        <p:nvSpPr>
          <p:cNvPr id="12" name="Text 10"/>
          <p:cNvSpPr/>
          <p:nvPr/>
        </p:nvSpPr>
        <p:spPr>
          <a:xfrm>
            <a:off x="8250767" y="1721247"/>
            <a:ext cx="295630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0392B"/>
                </a:solidFill>
                <a:latin typeface="Arial" pitchFamily="34" charset="0"/>
                <a:ea typeface="Arial" pitchFamily="34" charset="-122"/>
                <a:cs typeface="Arial" pitchFamily="34" charset="-120"/>
              </a:rPr>
              <a:t>0</a:t>
            </a:r>
            <a:endParaRPr lang="en-US" sz="4800" dirty="0"/>
          </a:p>
        </p:txBody>
      </p:sp>
      <p:sp>
        <p:nvSpPr>
          <p:cNvPr id="13" name="Text 11"/>
          <p:cNvSpPr/>
          <p:nvPr/>
        </p:nvSpPr>
        <p:spPr>
          <a:xfrm>
            <a:off x="8250767" y="23816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Not implemented</a:t>
            </a:r>
            <a:endParaRPr lang="en-US" sz="1800" dirty="0"/>
          </a:p>
        </p:txBody>
      </p:sp>
      <p:sp>
        <p:nvSpPr>
          <p:cNvPr id="14" name="Text 12"/>
          <p:cNvSpPr/>
          <p:nvPr/>
        </p:nvSpPr>
        <p:spPr>
          <a:xfrm>
            <a:off x="8250767" y="2706756"/>
            <a:ext cx="295630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Missing, or no sign that it exists.</a:t>
            </a:r>
            <a:endParaRPr lang="en-US" sz="1300" dirty="0"/>
          </a:p>
        </p:txBody>
      </p:sp>
      <p:sp>
        <p:nvSpPr>
          <p:cNvPr id="15" name="Shape 13"/>
          <p:cNvSpPr/>
          <p:nvPr/>
        </p:nvSpPr>
        <p:spPr>
          <a:xfrm>
            <a:off x="812800" y="3630414"/>
            <a:ext cx="10566400" cy="1678848"/>
          </a:xfrm>
          <a:prstGeom prst="roundRect">
            <a:avLst>
              <a:gd name="adj" fmla="val 6052"/>
            </a:avLst>
          </a:prstGeom>
          <a:solidFill>
            <a:srgbClr val="121A33"/>
          </a:solidFill>
          <a:ln/>
        </p:spPr>
      </p:sp>
      <p:sp>
        <p:nvSpPr>
          <p:cNvPr id="16" name="Text 14"/>
          <p:cNvSpPr/>
          <p:nvPr/>
        </p:nvSpPr>
        <p:spPr>
          <a:xfrm>
            <a:off x="1066800" y="3884414"/>
            <a:ext cx="10360152"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F"/>
                </a:solidFill>
                <a:latin typeface="Arial" pitchFamily="34" charset="0"/>
                <a:ea typeface="Arial" pitchFamily="34" charset="-122"/>
                <a:cs typeface="Arial" pitchFamily="34" charset="-120"/>
              </a:rPr>
              <a:t>Score % = points earned ÷ (controls assessed × 2)</a:t>
            </a:r>
            <a:endParaRPr lang="en-US" sz="1800" dirty="0"/>
          </a:p>
        </p:txBody>
      </p:sp>
      <p:sp>
        <p:nvSpPr>
          <p:cNvPr id="17" name="Text 15"/>
          <p:cNvSpPr/>
          <p:nvPr/>
        </p:nvSpPr>
        <p:spPr>
          <a:xfrm>
            <a:off x="1066800" y="4331429"/>
            <a:ext cx="1928614" cy="383514"/>
          </a:xfrm>
          <a:prstGeom prst="roundRect">
            <a:avLst>
              <a:gd name="adj" fmla="val 50000"/>
            </a:avLst>
          </a:prstGeom>
          <a:solidFill>
            <a:srgbClr val="C6EFCE"/>
          </a:solidFill>
          <a:ln/>
        </p:spPr>
        <p:txBody>
          <a:bodyPr wrap="none" lIns="0" tIns="0" rIns="0" bIns="0" rtlCol="0" anchor="ctr">
            <a:normAutofit/>
          </a:bodyPr>
          <a:lstStyle/>
          <a:p>
            <a:pPr algn="ctr" indent="0" marL="0">
              <a:lnSpc>
                <a:spcPts val="1820"/>
              </a:lnSpc>
              <a:buNone/>
            </a:pPr>
            <a:r>
              <a:rPr lang="en-US" sz="1300" b="1" dirty="0">
                <a:solidFill>
                  <a:srgbClr val="121A33"/>
                </a:solidFill>
                <a:latin typeface="Arial" pitchFamily="34" charset="0"/>
                <a:ea typeface="Arial" pitchFamily="34" charset="-122"/>
                <a:cs typeface="Arial" pitchFamily="34" charset="-120"/>
              </a:rPr>
              <a:t>Strong: 80% or more</a:t>
            </a:r>
            <a:endParaRPr lang="en-US" sz="1300" dirty="0"/>
          </a:p>
        </p:txBody>
      </p:sp>
      <p:sp>
        <p:nvSpPr>
          <p:cNvPr id="18" name="Text 16"/>
          <p:cNvSpPr/>
          <p:nvPr/>
        </p:nvSpPr>
        <p:spPr>
          <a:xfrm>
            <a:off x="3122414" y="4331429"/>
            <a:ext cx="2203979" cy="383514"/>
          </a:xfrm>
          <a:prstGeom prst="roundRect">
            <a:avLst>
              <a:gd name="adj" fmla="val 50000"/>
            </a:avLst>
          </a:prstGeom>
          <a:solidFill>
            <a:srgbClr val="FFEB9C"/>
          </a:solidFill>
          <a:ln/>
        </p:spPr>
        <p:txBody>
          <a:bodyPr wrap="none" lIns="0" tIns="0" rIns="0" bIns="0" rtlCol="0" anchor="ctr">
            <a:normAutofit/>
          </a:bodyPr>
          <a:lstStyle/>
          <a:p>
            <a:pPr algn="ctr" indent="0" marL="0">
              <a:lnSpc>
                <a:spcPts val="1820"/>
              </a:lnSpc>
              <a:buNone/>
            </a:pPr>
            <a:r>
              <a:rPr lang="en-US" sz="1300" b="1" dirty="0">
                <a:solidFill>
                  <a:srgbClr val="121A33"/>
                </a:solidFill>
                <a:latin typeface="Arial" pitchFamily="34" charset="0"/>
                <a:ea typeface="Arial" pitchFamily="34" charset="-122"/>
                <a:cs typeface="Arial" pitchFamily="34" charset="-120"/>
              </a:rPr>
              <a:t>Developing: 50% to 79%</a:t>
            </a:r>
            <a:endParaRPr lang="en-US" sz="1300" dirty="0"/>
          </a:p>
        </p:txBody>
      </p:sp>
      <p:sp>
        <p:nvSpPr>
          <p:cNvPr id="19" name="Text 17"/>
          <p:cNvSpPr/>
          <p:nvPr/>
        </p:nvSpPr>
        <p:spPr>
          <a:xfrm>
            <a:off x="5453393" y="4331429"/>
            <a:ext cx="1668926" cy="383514"/>
          </a:xfrm>
          <a:prstGeom prst="roundRect">
            <a:avLst>
              <a:gd name="adj" fmla="val 50000"/>
            </a:avLst>
          </a:prstGeom>
          <a:solidFill>
            <a:srgbClr val="FFC7CE"/>
          </a:solidFill>
          <a:ln/>
        </p:spPr>
        <p:txBody>
          <a:bodyPr wrap="none" lIns="0" tIns="0" rIns="0" bIns="0" rtlCol="0" anchor="ctr">
            <a:normAutofit/>
          </a:bodyPr>
          <a:lstStyle/>
          <a:p>
            <a:pPr algn="ctr" indent="0" marL="0">
              <a:lnSpc>
                <a:spcPts val="1820"/>
              </a:lnSpc>
              <a:buNone/>
            </a:pPr>
            <a:r>
              <a:rPr lang="en-US" sz="1300" b="1" dirty="0">
                <a:solidFill>
                  <a:srgbClr val="121A33"/>
                </a:solidFill>
                <a:latin typeface="Arial" pitchFamily="34" charset="0"/>
                <a:ea typeface="Arial" pitchFamily="34" charset="-122"/>
                <a:cs typeface="Arial" pitchFamily="34" charset="-120"/>
              </a:rPr>
              <a:t>Weak: under 50%</a:t>
            </a:r>
            <a:endParaRPr lang="en-US" sz="1300" dirty="0"/>
          </a:p>
        </p:txBody>
      </p:sp>
      <p:sp>
        <p:nvSpPr>
          <p:cNvPr id="20" name="Text 18"/>
          <p:cNvSpPr/>
          <p:nvPr/>
        </p:nvSpPr>
        <p:spPr>
          <a:xfrm>
            <a:off x="1066800" y="4841943"/>
            <a:ext cx="103601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F0"/>
                </a:solidFill>
                <a:latin typeface="Arial" pitchFamily="34" charset="0"/>
                <a:ea typeface="Arial" pitchFamily="34" charset="-122"/>
                <a:cs typeface="Arial" pitchFamily="34" charset="-120"/>
              </a:rPr>
              <a:t>Risk = Likelihood × Impact, each from 1 to 5. Controls not assessed are left out. The cut-offs are a working assumption.</a:t>
            </a:r>
            <a:endParaRPr lang="en-US" sz="1200" dirty="0"/>
          </a:p>
        </p:txBody>
      </p:sp>
      <p:sp>
        <p:nvSpPr>
          <p:cNvPr id="21"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How the overall result is worked out</a:t>
            </a:r>
            <a:endParaRPr lang="en-US" sz="3200" dirty="0"/>
          </a:p>
        </p:txBody>
      </p:sp>
      <p:sp>
        <p:nvSpPr>
          <p:cNvPr id="3" name="Shape 1"/>
          <p:cNvSpPr/>
          <p:nvPr/>
        </p:nvSpPr>
        <p:spPr>
          <a:xfrm>
            <a:off x="815975" y="1466190"/>
            <a:ext cx="2520950" cy="2282957"/>
          </a:xfrm>
          <a:prstGeom prst="roundRect">
            <a:avLst>
              <a:gd name="adj" fmla="val 4311"/>
            </a:avLst>
          </a:prstGeom>
          <a:solidFill>
            <a:srgbClr val="FBFAF7"/>
          </a:solidFill>
          <a:ln w="6350">
            <a:solidFill>
              <a:srgbClr val="DDD9CE"/>
            </a:solidFill>
            <a:prstDash val="solid"/>
          </a:ln>
        </p:spPr>
      </p:sp>
      <p:sp>
        <p:nvSpPr>
          <p:cNvPr id="4" name="Text 2"/>
          <p:cNvSpPr/>
          <p:nvPr/>
        </p:nvSpPr>
        <p:spPr>
          <a:xfrm>
            <a:off x="1071033" y="1721247"/>
            <a:ext cx="207115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47F5"/>
                </a:solidFill>
                <a:latin typeface="Arial" pitchFamily="34" charset="0"/>
                <a:ea typeface="Arial" pitchFamily="34" charset="-122"/>
                <a:cs typeface="Arial" pitchFamily="34" charset="-120"/>
              </a:rPr>
              <a:t>1</a:t>
            </a:r>
            <a:endParaRPr lang="en-US" sz="4800" dirty="0"/>
          </a:p>
        </p:txBody>
      </p:sp>
      <p:sp>
        <p:nvSpPr>
          <p:cNvPr id="5" name="Text 3"/>
          <p:cNvSpPr/>
          <p:nvPr/>
        </p:nvSpPr>
        <p:spPr>
          <a:xfrm>
            <a:off x="1071033" y="2407047"/>
            <a:ext cx="207115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Rate each control</a:t>
            </a:r>
            <a:endParaRPr lang="en-US" sz="1800" dirty="0"/>
          </a:p>
        </p:txBody>
      </p:sp>
      <p:sp>
        <p:nvSpPr>
          <p:cNvPr id="6" name="Text 4"/>
          <p:cNvSpPr/>
          <p:nvPr/>
        </p:nvSpPr>
        <p:spPr>
          <a:xfrm>
            <a:off x="1071033" y="2757556"/>
            <a:ext cx="20711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Implemented 2, Partial 1, Not implemented 0.</a:t>
            </a:r>
            <a:endParaRPr lang="en-US" sz="1300" dirty="0"/>
          </a:p>
        </p:txBody>
      </p:sp>
      <p:sp>
        <p:nvSpPr>
          <p:cNvPr id="7" name="Shape 5"/>
          <p:cNvSpPr/>
          <p:nvPr/>
        </p:nvSpPr>
        <p:spPr>
          <a:xfrm>
            <a:off x="3495675" y="1466190"/>
            <a:ext cx="2520950" cy="2282957"/>
          </a:xfrm>
          <a:prstGeom prst="roundRect">
            <a:avLst>
              <a:gd name="adj" fmla="val 4311"/>
            </a:avLst>
          </a:prstGeom>
          <a:solidFill>
            <a:srgbClr val="FBFAF7"/>
          </a:solidFill>
          <a:ln w="6350">
            <a:solidFill>
              <a:srgbClr val="DDD9CE"/>
            </a:solidFill>
            <a:prstDash val="solid"/>
          </a:ln>
        </p:spPr>
      </p:sp>
      <p:sp>
        <p:nvSpPr>
          <p:cNvPr id="8" name="Text 6"/>
          <p:cNvSpPr/>
          <p:nvPr/>
        </p:nvSpPr>
        <p:spPr>
          <a:xfrm>
            <a:off x="3750733" y="1721247"/>
            <a:ext cx="207115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47F5"/>
                </a:solidFill>
                <a:latin typeface="Arial" pitchFamily="34" charset="0"/>
                <a:ea typeface="Arial" pitchFamily="34" charset="-122"/>
                <a:cs typeface="Arial" pitchFamily="34" charset="-120"/>
              </a:rPr>
              <a:t>2</a:t>
            </a:r>
            <a:endParaRPr lang="en-US" sz="4800" dirty="0"/>
          </a:p>
        </p:txBody>
      </p:sp>
      <p:sp>
        <p:nvSpPr>
          <p:cNvPr id="9" name="Text 7"/>
          <p:cNvSpPr/>
          <p:nvPr/>
        </p:nvSpPr>
        <p:spPr>
          <a:xfrm>
            <a:off x="3750733" y="2407047"/>
            <a:ext cx="207115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Add the points</a:t>
            </a:r>
            <a:endParaRPr lang="en-US" sz="1800" dirty="0"/>
          </a:p>
        </p:txBody>
      </p:sp>
      <p:sp>
        <p:nvSpPr>
          <p:cNvPr id="10" name="Text 8"/>
          <p:cNvSpPr/>
          <p:nvPr/>
        </p:nvSpPr>
        <p:spPr>
          <a:xfrm>
            <a:off x="3750733" y="2757556"/>
            <a:ext cx="207115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Total the points for every control that could be assessed.</a:t>
            </a:r>
            <a:endParaRPr lang="en-US" sz="1300" dirty="0"/>
          </a:p>
        </p:txBody>
      </p:sp>
      <p:sp>
        <p:nvSpPr>
          <p:cNvPr id="11" name="Shape 9"/>
          <p:cNvSpPr/>
          <p:nvPr/>
        </p:nvSpPr>
        <p:spPr>
          <a:xfrm>
            <a:off x="6175375" y="1466190"/>
            <a:ext cx="2520950" cy="2282957"/>
          </a:xfrm>
          <a:prstGeom prst="roundRect">
            <a:avLst>
              <a:gd name="adj" fmla="val 4311"/>
            </a:avLst>
          </a:prstGeom>
          <a:solidFill>
            <a:srgbClr val="FBFAF7"/>
          </a:solidFill>
          <a:ln w="6350">
            <a:solidFill>
              <a:srgbClr val="DDD9CE"/>
            </a:solidFill>
            <a:prstDash val="solid"/>
          </a:ln>
        </p:spPr>
      </p:sp>
      <p:sp>
        <p:nvSpPr>
          <p:cNvPr id="12" name="Text 10"/>
          <p:cNvSpPr/>
          <p:nvPr/>
        </p:nvSpPr>
        <p:spPr>
          <a:xfrm>
            <a:off x="6430433" y="1721247"/>
            <a:ext cx="207115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47F5"/>
                </a:solidFill>
                <a:latin typeface="Arial" pitchFamily="34" charset="0"/>
                <a:ea typeface="Arial" pitchFamily="34" charset="-122"/>
                <a:cs typeface="Arial" pitchFamily="34" charset="-120"/>
              </a:rPr>
              <a:t>3</a:t>
            </a:r>
            <a:endParaRPr lang="en-US" sz="4800" dirty="0"/>
          </a:p>
        </p:txBody>
      </p:sp>
      <p:sp>
        <p:nvSpPr>
          <p:cNvPr id="13" name="Text 11"/>
          <p:cNvSpPr/>
          <p:nvPr/>
        </p:nvSpPr>
        <p:spPr>
          <a:xfrm>
            <a:off x="6430433" y="2407047"/>
            <a:ext cx="2071158"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Divide by the most possible</a:t>
            </a:r>
            <a:endParaRPr lang="en-US" sz="1800" dirty="0"/>
          </a:p>
        </p:txBody>
      </p:sp>
      <p:sp>
        <p:nvSpPr>
          <p:cNvPr id="14" name="Text 12"/>
          <p:cNvSpPr/>
          <p:nvPr/>
        </p:nvSpPr>
        <p:spPr>
          <a:xfrm>
            <a:off x="6430433" y="3031861"/>
            <a:ext cx="20711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Controls assessed × 2 is the best score possible.</a:t>
            </a:r>
            <a:endParaRPr lang="en-US" sz="1300" dirty="0"/>
          </a:p>
        </p:txBody>
      </p:sp>
      <p:sp>
        <p:nvSpPr>
          <p:cNvPr id="15" name="Shape 13"/>
          <p:cNvSpPr/>
          <p:nvPr/>
        </p:nvSpPr>
        <p:spPr>
          <a:xfrm>
            <a:off x="8855075" y="1466190"/>
            <a:ext cx="2520950" cy="2282957"/>
          </a:xfrm>
          <a:prstGeom prst="roundRect">
            <a:avLst>
              <a:gd name="adj" fmla="val 4311"/>
            </a:avLst>
          </a:prstGeom>
          <a:solidFill>
            <a:srgbClr val="FBFAF7"/>
          </a:solidFill>
          <a:ln w="6350">
            <a:solidFill>
              <a:srgbClr val="DDD9CE"/>
            </a:solidFill>
            <a:prstDash val="solid"/>
          </a:ln>
        </p:spPr>
      </p:sp>
      <p:sp>
        <p:nvSpPr>
          <p:cNvPr id="16" name="Text 14"/>
          <p:cNvSpPr/>
          <p:nvPr/>
        </p:nvSpPr>
        <p:spPr>
          <a:xfrm>
            <a:off x="9110134" y="1721247"/>
            <a:ext cx="207115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347F5"/>
                </a:solidFill>
                <a:latin typeface="Arial" pitchFamily="34" charset="0"/>
                <a:ea typeface="Arial" pitchFamily="34" charset="-122"/>
                <a:cs typeface="Arial" pitchFamily="34" charset="-120"/>
              </a:rPr>
              <a:t>4</a:t>
            </a:r>
            <a:endParaRPr lang="en-US" sz="4800" dirty="0"/>
          </a:p>
        </p:txBody>
      </p:sp>
      <p:sp>
        <p:nvSpPr>
          <p:cNvPr id="17" name="Text 15"/>
          <p:cNvSpPr/>
          <p:nvPr/>
        </p:nvSpPr>
        <p:spPr>
          <a:xfrm>
            <a:off x="9110134" y="2407047"/>
            <a:ext cx="207115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A33"/>
                </a:solidFill>
                <a:latin typeface="Arial" pitchFamily="34" charset="0"/>
                <a:ea typeface="Arial" pitchFamily="34" charset="-122"/>
                <a:cs typeface="Arial" pitchFamily="34" charset="-120"/>
              </a:rPr>
              <a:t>Match to a band</a:t>
            </a:r>
            <a:endParaRPr lang="en-US" sz="1800" dirty="0"/>
          </a:p>
        </p:txBody>
      </p:sp>
      <p:sp>
        <p:nvSpPr>
          <p:cNvPr id="18" name="Text 16"/>
          <p:cNvSpPr/>
          <p:nvPr/>
        </p:nvSpPr>
        <p:spPr>
          <a:xfrm>
            <a:off x="9110134" y="2757556"/>
            <a:ext cx="20711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Strong, Developing or Weak.</a:t>
            </a:r>
            <a:endParaRPr lang="en-US" sz="1300" dirty="0"/>
          </a:p>
        </p:txBody>
      </p:sp>
      <p:sp>
        <p:nvSpPr>
          <p:cNvPr id="19" name="Shape 17"/>
          <p:cNvSpPr/>
          <p:nvPr/>
        </p:nvSpPr>
        <p:spPr>
          <a:xfrm>
            <a:off x="812800" y="3955523"/>
            <a:ext cx="10566400" cy="1391841"/>
          </a:xfrm>
          <a:prstGeom prst="roundRect">
            <a:avLst>
              <a:gd name="adj" fmla="val 7300"/>
            </a:avLst>
          </a:prstGeom>
          <a:solidFill>
            <a:srgbClr val="121A33"/>
          </a:solidFill>
          <a:ln/>
        </p:spPr>
      </p:sp>
      <p:sp>
        <p:nvSpPr>
          <p:cNvPr id="20" name="Text 18"/>
          <p:cNvSpPr/>
          <p:nvPr/>
        </p:nvSpPr>
        <p:spPr>
          <a:xfrm>
            <a:off x="1066800" y="4209523"/>
            <a:ext cx="10360152"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F"/>
                </a:solidFill>
                <a:latin typeface="Arial" pitchFamily="34" charset="0"/>
                <a:ea typeface="Arial" pitchFamily="34" charset="-122"/>
                <a:cs typeface="Arial" pitchFamily="34" charset="-120"/>
              </a:rPr>
              <a:t>Score % = points earned ÷ (controls assessed × 2)</a:t>
            </a:r>
            <a:endParaRPr lang="en-US" sz="1800" dirty="0"/>
          </a:p>
        </p:txBody>
      </p:sp>
      <p:sp>
        <p:nvSpPr>
          <p:cNvPr id="21" name="Text 19"/>
          <p:cNvSpPr/>
          <p:nvPr/>
        </p:nvSpPr>
        <p:spPr>
          <a:xfrm>
            <a:off x="1066800" y="4631134"/>
            <a:ext cx="1036015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F0"/>
                </a:solidFill>
                <a:latin typeface="Arial" pitchFamily="34" charset="0"/>
                <a:ea typeface="Arial" pitchFamily="34" charset="-122"/>
                <a:cs typeface="Arial" pitchFamily="34" charset="-120"/>
              </a:rPr>
              <a:t>Controls with no evidence are left out, not counted as zero. Each area (Protect, Detect and so on) is scored the same way, using only its own controls. Implemented means management reported it.</a:t>
            </a:r>
            <a:endParaRPr lang="en-US" sz="1300" dirty="0"/>
          </a:p>
        </p:txBody>
      </p:sp>
      <p:sp>
        <p:nvSpPr>
          <p:cNvPr id="22"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Management survey: baseline results</a:t>
            </a:r>
            <a:endParaRPr lang="en-US" sz="3200" dirty="0"/>
          </a:p>
        </p:txBody>
      </p:sp>
      <p:sp>
        <p:nvSpPr>
          <p:cNvPr id="3" name="Shape 1"/>
          <p:cNvSpPr/>
          <p:nvPr/>
        </p:nvSpPr>
        <p:spPr>
          <a:xfrm>
            <a:off x="812800" y="1463015"/>
            <a:ext cx="3060700" cy="3671822"/>
          </a:xfrm>
          <a:prstGeom prst="roundRect">
            <a:avLst>
              <a:gd name="adj" fmla="val 3320"/>
            </a:avLst>
          </a:prstGeom>
          <a:solidFill>
            <a:srgbClr val="121A33"/>
          </a:solidFill>
          <a:ln/>
        </p:spPr>
      </p:sp>
      <p:sp>
        <p:nvSpPr>
          <p:cNvPr id="4" name="Text 2"/>
          <p:cNvSpPr/>
          <p:nvPr/>
        </p:nvSpPr>
        <p:spPr>
          <a:xfrm>
            <a:off x="1117600" y="1767815"/>
            <a:ext cx="2524633"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23F"/>
                </a:solidFill>
                <a:latin typeface="Arial" pitchFamily="34" charset="0"/>
                <a:ea typeface="Arial" pitchFamily="34" charset="-122"/>
                <a:cs typeface="Arial" pitchFamily="34" charset="-120"/>
              </a:rPr>
              <a:t>MANAGEMENT CONFIDENCE</a:t>
            </a:r>
            <a:endParaRPr lang="en-US" sz="1200" dirty="0"/>
          </a:p>
        </p:txBody>
      </p:sp>
      <p:sp>
        <p:nvSpPr>
          <p:cNvPr id="5" name="Text 3"/>
          <p:cNvSpPr/>
          <p:nvPr/>
        </p:nvSpPr>
        <p:spPr>
          <a:xfrm>
            <a:off x="1117600" y="2270655"/>
            <a:ext cx="2524633" cy="977900"/>
          </a:xfrm>
          <a:prstGeom prst="rect">
            <a:avLst/>
          </a:prstGeom>
          <a:noFill/>
          <a:ln/>
        </p:spPr>
        <p:txBody>
          <a:bodyPr wrap="square" lIns="0" tIns="0" rIns="0" bIns="0" rtlCol="0" anchor="t">
            <a:normAutofit/>
          </a:bodyPr>
          <a:lstStyle/>
          <a:p>
            <a:pPr algn="l" indent="0" marL="0">
              <a:lnSpc>
                <a:spcPts val="7500"/>
              </a:lnSpc>
              <a:buNone/>
            </a:pPr>
            <a:r>
              <a:rPr lang="en-US" sz="7500" b="1" dirty="0">
                <a:solidFill>
                  <a:srgbClr val="F6F4EF"/>
                </a:solidFill>
                <a:latin typeface="Arial" pitchFamily="34" charset="0"/>
                <a:ea typeface="Arial" pitchFamily="34" charset="-122"/>
                <a:cs typeface="Arial" pitchFamily="34" charset="-120"/>
              </a:rPr>
              <a:t>5</a:t>
            </a:r>
            <a:r>
              <a:rPr lang="en-US" sz="7500" b="1" dirty="0">
                <a:solidFill>
                  <a:srgbClr val="C9D2F0"/>
                </a:solidFill>
                <a:latin typeface="Arial" pitchFamily="34" charset="0"/>
                <a:ea typeface="Arial" pitchFamily="34" charset="-122"/>
                <a:cs typeface="Arial" pitchFamily="34" charset="-120"/>
              </a:rPr>
              <a:t>/5</a:t>
            </a:r>
            <a:endParaRPr lang="en-US" sz="7500" dirty="0"/>
          </a:p>
        </p:txBody>
      </p:sp>
      <p:sp>
        <p:nvSpPr>
          <p:cNvPr id="6" name="Text 4"/>
          <p:cNvSpPr/>
          <p:nvPr/>
        </p:nvSpPr>
        <p:spPr>
          <a:xfrm>
            <a:off x="1117600" y="3299355"/>
            <a:ext cx="252463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F0"/>
                </a:solidFill>
                <a:latin typeface="Arial" pitchFamily="34" charset="0"/>
                <a:ea typeface="Arial" pitchFamily="34" charset="-122"/>
                <a:cs typeface="Arial" pitchFamily="34" charset="-120"/>
              </a:rPr>
              <a:t>Very confident in HairMela's data protection.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89400" y="1475715"/>
          <a:ext cx="6972300" cy="3659121"/>
        </p:xfrm>
        <a:graphic>
          <a:graphicData uri="http://schemas.openxmlformats.org/drawingml/2006/table">
            <a:tbl>
              <a:tblPr/>
              <a:tblGrid>
                <a:gridCol w="4601718"/>
                <a:gridCol w="2370582"/>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Topic</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Management answer</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Own login; access limited to the job; access removed on exit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Strong passwords and two-step sign-in</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Devices protected and kept updated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Customer details kept off personal WhatsApp and phones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 kept off</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Backups, with a tested restore</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Incident record kept; knows when to report a breach</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Security training and a written policy</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Privacy notice, consent, customer requests, retention</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Written agreements with vendors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Public Wi-Fi avoided for work</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7A5200"/>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Text 5"/>
          <p:cNvSpPr/>
          <p:nvPr/>
        </p:nvSpPr>
        <p:spPr>
          <a:xfrm>
            <a:off x="812800" y="533803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Self-reported by HairMela's management and taken as given. Documents were not seen.</a:t>
            </a:r>
            <a:endParaRPr lang="en-US" sz="1200" dirty="0"/>
          </a:p>
        </p:txBody>
      </p:sp>
      <p:sp>
        <p:nvSpPr>
          <p:cNvPr id="9"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Rating the controls: Governance and identify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5"/>
          <a:ext cx="10553700" cy="3395134"/>
        </p:xfrm>
        <a:graphic>
          <a:graphicData uri="http://schemas.openxmlformats.org/drawingml/2006/table">
            <a:tbl>
              <a:tblPr/>
              <a:tblGrid>
                <a:gridCol w="738759"/>
                <a:gridCol w="4327017"/>
                <a:gridCol w="2110740"/>
                <a:gridCol w="2005203"/>
                <a:gridCol w="1371981"/>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Basis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NIST · NDPA</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written security and data protection policy exists, and staff have read it.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GV.PO · 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named person is responsible for data protection.</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GV.RR · s.32 where it applies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GV-03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Vendors that handle data have written data protection agreements.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GV.SC · s.29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An inventory exists of systems, devices and where personal data lives.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No question asked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ID.AM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5B6475"/>
                          </a:solidFill>
                          <a:latin typeface="Arial" pitchFamily="34" charset="0"/>
                          <a:ea typeface="Arial" pitchFamily="34" charset="-122"/>
                          <a:cs typeface="Arial" pitchFamily="34" charset="-120"/>
                        </a:rPr>
                        <a:t>Not assessed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It is known what data is collected, why, who has access and how long it is kept.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ID.AM · 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ID-03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Risks to personal data are assessed regularly.</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No question asked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ID.RA · s.28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5B6475"/>
                          </a:solidFill>
                          <a:latin typeface="Arial" pitchFamily="34" charset="0"/>
                          <a:ea typeface="Arial" pitchFamily="34" charset="-122"/>
                          <a:cs typeface="Arial" pitchFamily="34" charset="-120"/>
                        </a:rPr>
                        <a:t>Not assessed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074047"/>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Implemented means management reported it; documents were not seen. Partial means only partly in place. Not assessed controls are left out of the score.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Rating the controls: Protect: access and accounts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209205"/>
        </p:xfrm>
        <a:graphic>
          <a:graphicData uri="http://schemas.openxmlformats.org/drawingml/2006/table">
            <a:tbl>
              <a:tblPr/>
              <a:tblGrid>
                <a:gridCol w="738759"/>
                <a:gridCol w="4327017"/>
                <a:gridCol w="2110740"/>
                <a:gridCol w="2005203"/>
                <a:gridCol w="1371981"/>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Basis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NIST · NDPA</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Each person has their own login, with no shared accounts.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PR.AA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Strong passwords and two-factor sign-in on important accounts.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PR.AA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Access is limited to what each job needs.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PR.AA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Access is removed promptly when someone leaves.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PR.AA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PR-05</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Staff receive security and data protection training.</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PR.AT · s.39, 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3888122"/>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Implemented means management reported it; documents were not seen. Partial means only partly in place. Not assessed controls are left out of the score.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Rating the controls: Protect: data, devices and awareness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922729"/>
          <a:ext cx="10553700" cy="2968493"/>
        </p:xfrm>
        <a:graphic>
          <a:graphicData uri="http://schemas.openxmlformats.org/drawingml/2006/table">
            <a:tbl>
              <a:tblPr/>
              <a:tblGrid>
                <a:gridCol w="738759"/>
                <a:gridCol w="4327017"/>
                <a:gridCol w="2110740"/>
                <a:gridCol w="2005203"/>
                <a:gridCol w="1371981"/>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Basis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NIST · NDPA</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PR-06</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Customer details are kept off personal WhatsApp and personal phones.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PR.DS · s.39, 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retention and deletion process exists and is followed.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PR.DS · s.39, 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Work devices have screen locks and are kept updated.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PR.PS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PR-09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Public Wi-Fi is avoided for work tasks.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PR.IR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7A5200"/>
                          </a:solidFill>
                          <a:latin typeface="Arial" pitchFamily="34" charset="0"/>
                          <a:ea typeface="Arial" pitchFamily="34" charset="-122"/>
                          <a:cs typeface="Arial" pitchFamily="34" charset="-120"/>
                        </a:rPr>
                        <a:t>Partial</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DE-01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Unusual sign-ins or account activity would be noticed.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No question asked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DE.CM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5B6475"/>
                          </a:solidFill>
                          <a:latin typeface="Arial" pitchFamily="34" charset="0"/>
                          <a:ea typeface="Arial" pitchFamily="34" charset="-122"/>
                          <a:cs typeface="Arial" pitchFamily="34" charset="-120"/>
                        </a:rPr>
                        <a:t>Not assessed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DE-02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Staff can spot phishing or a suspected breach and know who to tell.</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DE.AE · s.40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094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Implemented means management reported it; documents were not seen. Partial means only partly in place. Not assessed controls are left out of the score.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Rating the controls: Detect, respond and recover</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089878"/>
        </p:xfrm>
        <a:graphic>
          <a:graphicData uri="http://schemas.openxmlformats.org/drawingml/2006/table">
            <a:tbl>
              <a:tblPr/>
              <a:tblGrid>
                <a:gridCol w="738759"/>
                <a:gridCol w="4327017"/>
                <a:gridCol w="2110740"/>
                <a:gridCol w="2005203"/>
                <a:gridCol w="1371981"/>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Basis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NIST · NDPA</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documented incident and breach response procedure exists.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RS.MA · s.40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breach register records incidents, even small ones.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RS.CO · s.40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RS-03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It is known when and how to report a breach to the NDPC and to customers.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RS.CO · s.40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RC-01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Important data is backed up, and a restore has been tested.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RC.RP · 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3768793"/>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Implemented means management reported it; documents were not seen. Partial means only partly in place. Not assessed controls are left out of the score.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Rating the controls: Personal data duties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516518"/>
        </p:xfrm>
        <a:graphic>
          <a:graphicData uri="http://schemas.openxmlformats.org/drawingml/2006/table">
            <a:tbl>
              <a:tblPr/>
              <a:tblGrid>
                <a:gridCol w="738759"/>
                <a:gridCol w="4327017"/>
                <a:gridCol w="2110740"/>
                <a:gridCol w="2005203"/>
                <a:gridCol w="1371981"/>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Basis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NIST · NDPA</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NP-01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Customers see a clear privacy notice explaining how their data is used.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NP-02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Consent is requested where needed, and records are kept.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s.25, s.26</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NP-03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 clear process handles customer requests to access, correct or delete their data.</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answers; public pages thinner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s.34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2F6B3B"/>
                          </a:solidFill>
                          <a:latin typeface="Arial" pitchFamily="34" charset="0"/>
                          <a:ea typeface="Arial" pitchFamily="34" charset="-122"/>
                          <a:cs typeface="Arial" pitchFamily="34" charset="-120"/>
                        </a:rPr>
                        <a:t>Implemented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NP-04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Duties to the regulator (NDPC), such as registration, are met where they apply.</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No question asked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s.44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5B6475"/>
                          </a:solidFill>
                          <a:latin typeface="Arial" pitchFamily="34" charset="0"/>
                          <a:ea typeface="Arial" pitchFamily="34" charset="-122"/>
                          <a:cs typeface="Arial" pitchFamily="34" charset="-120"/>
                        </a:rPr>
                        <a:t>Not assessed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19543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Implemented means management reported it; documents were not seen. Partial means only partly in place. Not assessed controls are left out of the score.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06598"/>
          </a:xfrm>
          <a:prstGeom prst="rect">
            <a:avLst/>
          </a:prstGeom>
          <a:noFill/>
          <a:ln/>
        </p:spPr>
        <p:txBody>
          <a:bodyPr wrap="square" lIns="0" tIns="0" rIns="0" bIns="0" rtlCol="0" anchor="t">
            <a:normAutofit/>
          </a:bodyPr>
          <a:lstStyle/>
          <a:p>
            <a:pPr algn="l" indent="0" marL="0">
              <a:lnSpc>
                <a:spcPts val="3014"/>
              </a:lnSpc>
              <a:buNone/>
            </a:pPr>
            <a:r>
              <a:rPr lang="en-US" sz="2740" b="1" i="0" dirty="0">
                <a:solidFill>
                  <a:srgbClr val="121A33"/>
                </a:solidFill>
                <a:latin typeface="Arial" pitchFamily="34" charset="0"/>
                <a:ea typeface="Arial" pitchFamily="34" charset="-122"/>
                <a:cs typeface="Arial" pitchFamily="34" charset="-120"/>
              </a:rPr>
              <a:t>Overall result</a:t>
            </a:r>
            <a:endParaRPr lang="en-US" sz="2740" dirty="0"/>
          </a:p>
        </p:txBody>
      </p:sp>
      <p:sp>
        <p:nvSpPr>
          <p:cNvPr id="3" name="Shape 1"/>
          <p:cNvSpPr/>
          <p:nvPr/>
        </p:nvSpPr>
        <p:spPr>
          <a:xfrm>
            <a:off x="812800" y="1397198"/>
            <a:ext cx="2730500" cy="3847373"/>
          </a:xfrm>
          <a:prstGeom prst="roundRect">
            <a:avLst>
              <a:gd name="adj" fmla="val 3721"/>
            </a:avLst>
          </a:prstGeom>
          <a:solidFill>
            <a:srgbClr val="121A33"/>
          </a:solidFill>
          <a:ln/>
        </p:spPr>
      </p:sp>
      <p:sp>
        <p:nvSpPr>
          <p:cNvPr id="4" name="Text 2"/>
          <p:cNvSpPr/>
          <p:nvPr/>
        </p:nvSpPr>
        <p:spPr>
          <a:xfrm>
            <a:off x="1117600" y="1701998"/>
            <a:ext cx="2184527" cy="374981"/>
          </a:xfrm>
          <a:prstGeom prst="rect">
            <a:avLst/>
          </a:prstGeom>
          <a:noFill/>
          <a:ln/>
        </p:spPr>
        <p:txBody>
          <a:bodyPr wrap="square" lIns="0" tIns="0" rIns="0" bIns="0" rtlCol="0" anchor="t">
            <a:normAutofit/>
          </a:bodyPr>
          <a:lstStyle/>
          <a:p>
            <a:pPr algn="l" indent="0" marL="0">
              <a:lnSpc>
                <a:spcPts val="1386"/>
              </a:lnSpc>
              <a:buNone/>
            </a:pPr>
            <a:r>
              <a:rPr lang="en-US" sz="990" b="1" spc="150" kern="0" dirty="0">
                <a:solidFill>
                  <a:srgbClr val="FFD23F"/>
                </a:solidFill>
                <a:latin typeface="Arial" pitchFamily="34" charset="0"/>
                <a:ea typeface="Arial" pitchFamily="34" charset="-122"/>
                <a:cs typeface="Arial" pitchFamily="34" charset="-120"/>
              </a:rPr>
              <a:t>OVERALL CONTROL SCORE</a:t>
            </a:r>
            <a:endParaRPr lang="en-US" sz="990" dirty="0"/>
          </a:p>
        </p:txBody>
      </p:sp>
      <p:sp>
        <p:nvSpPr>
          <p:cNvPr id="5" name="Text 3"/>
          <p:cNvSpPr/>
          <p:nvPr/>
        </p:nvSpPr>
        <p:spPr>
          <a:xfrm>
            <a:off x="1117600" y="2127783"/>
            <a:ext cx="2184527" cy="1898518"/>
          </a:xfrm>
          <a:prstGeom prst="rect">
            <a:avLst/>
          </a:prstGeom>
          <a:noFill/>
          <a:ln/>
        </p:spPr>
        <p:txBody>
          <a:bodyPr wrap="square" lIns="0" tIns="0" rIns="0" bIns="0" rtlCol="0" anchor="t">
            <a:normAutofit/>
          </a:bodyPr>
          <a:lstStyle/>
          <a:p>
            <a:pPr algn="l" indent="0" marL="0">
              <a:lnSpc>
                <a:spcPts val="7369"/>
              </a:lnSpc>
              <a:buNone/>
            </a:pPr>
            <a:r>
              <a:rPr lang="en-US" sz="7369" b="1" dirty="0">
                <a:solidFill>
                  <a:srgbClr val="F6F4EF"/>
                </a:solidFill>
                <a:latin typeface="Arial" pitchFamily="34" charset="0"/>
                <a:ea typeface="Arial" pitchFamily="34" charset="-122"/>
                <a:cs typeface="Arial" pitchFamily="34" charset="-120"/>
              </a:rPr>
              <a:t>98%</a:t>
            </a:r>
            <a:endParaRPr lang="en-US" sz="7369" dirty="0"/>
          </a:p>
        </p:txBody>
      </p:sp>
      <p:sp>
        <p:nvSpPr>
          <p:cNvPr id="6" name="Text 4"/>
          <p:cNvSpPr/>
          <p:nvPr/>
        </p:nvSpPr>
        <p:spPr>
          <a:xfrm>
            <a:off x="1117600" y="4077097"/>
            <a:ext cx="2184527" cy="287536"/>
          </a:xfrm>
          <a:prstGeom prst="rect">
            <a:avLst/>
          </a:prstGeom>
          <a:noFill/>
          <a:ln/>
        </p:spPr>
        <p:txBody>
          <a:bodyPr wrap="square" lIns="0" tIns="0" rIns="0" bIns="0" rtlCol="0" anchor="t">
            <a:normAutofit/>
          </a:bodyPr>
          <a:lstStyle/>
          <a:p>
            <a:pPr algn="l" indent="0" marL="0">
              <a:lnSpc>
                <a:spcPts val="2071"/>
              </a:lnSpc>
              <a:buNone/>
            </a:pPr>
            <a:r>
              <a:rPr lang="en-US" sz="1479" b="1" dirty="0">
                <a:solidFill>
                  <a:srgbClr val="F6F4EF"/>
                </a:solidFill>
                <a:latin typeface="Arial" pitchFamily="34" charset="0"/>
                <a:ea typeface="Arial" pitchFamily="34" charset="-122"/>
                <a:cs typeface="Arial" pitchFamily="34" charset="-120"/>
              </a:rPr>
              <a:t>Strong</a:t>
            </a:r>
            <a:endParaRPr lang="en-US" sz="1479" dirty="0"/>
          </a:p>
        </p:txBody>
      </p:sp>
      <p:sp>
        <p:nvSpPr>
          <p:cNvPr id="7" name="Text 5"/>
          <p:cNvSpPr/>
          <p:nvPr/>
        </p:nvSpPr>
        <p:spPr>
          <a:xfrm>
            <a:off x="1117600" y="4415433"/>
            <a:ext cx="2184527" cy="549738"/>
          </a:xfrm>
          <a:prstGeom prst="rect">
            <a:avLst/>
          </a:prstGeom>
          <a:noFill/>
          <a:ln/>
        </p:spPr>
        <p:txBody>
          <a:bodyPr wrap="square" lIns="0" tIns="0" rIns="0" bIns="0" rtlCol="0" anchor="t">
            <a:normAutofit/>
          </a:bodyPr>
          <a:lstStyle/>
          <a:p>
            <a:pPr algn="l" indent="0" marL="0">
              <a:lnSpc>
                <a:spcPts val="1391"/>
              </a:lnSpc>
              <a:buNone/>
            </a:pPr>
            <a:r>
              <a:rPr lang="en-US" sz="994" dirty="0">
                <a:solidFill>
                  <a:srgbClr val="C9D2F0"/>
                </a:solidFill>
                <a:latin typeface="Arial" pitchFamily="34" charset="0"/>
                <a:ea typeface="Arial" pitchFamily="34" charset="-122"/>
                <a:cs typeface="Arial" pitchFamily="34" charset="-120"/>
              </a:rPr>
              <a:t>21 of 25 controls assessed: 20 implemented, 1 partial, none missing. 4 not yet assessed.</a:t>
            </a:r>
            <a:endParaRPr lang="en-US" sz="994" dirty="0"/>
          </a:p>
        </p:txBody>
      </p:sp>
      <p:sp>
        <p:nvSpPr>
          <p:cNvPr id="8" name="Text 6"/>
          <p:cNvSpPr/>
          <p:nvPr/>
        </p:nvSpPr>
        <p:spPr>
          <a:xfrm>
            <a:off x="3848100" y="1472146"/>
            <a:ext cx="222377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Govern and Identify</a:t>
            </a:r>
            <a:endParaRPr lang="en-US" sz="1300" dirty="0"/>
          </a:p>
        </p:txBody>
      </p:sp>
      <p:sp>
        <p:nvSpPr>
          <p:cNvPr id="9" name="Shape 7"/>
          <p:cNvSpPr/>
          <p:nvPr/>
        </p:nvSpPr>
        <p:spPr>
          <a:xfrm>
            <a:off x="6134100" y="1447998"/>
            <a:ext cx="3810000" cy="279400"/>
          </a:xfrm>
          <a:prstGeom prst="roundRect">
            <a:avLst>
              <a:gd name="adj" fmla="val 22727"/>
            </a:avLst>
          </a:prstGeom>
          <a:solidFill>
            <a:srgbClr val="E4E1D6"/>
          </a:solidFill>
          <a:ln/>
        </p:spPr>
      </p:sp>
      <p:sp>
        <p:nvSpPr>
          <p:cNvPr id="10" name="Shape 8"/>
          <p:cNvSpPr/>
          <p:nvPr/>
        </p:nvSpPr>
        <p:spPr>
          <a:xfrm>
            <a:off x="6134100" y="1447998"/>
            <a:ext cx="3810000" cy="279400"/>
          </a:xfrm>
          <a:prstGeom prst="roundRect">
            <a:avLst>
              <a:gd name="adj" fmla="val 22727"/>
            </a:avLst>
          </a:prstGeom>
          <a:solidFill>
            <a:srgbClr val="2347F5"/>
          </a:solidFill>
          <a:ln/>
        </p:spPr>
      </p:sp>
      <p:sp>
        <p:nvSpPr>
          <p:cNvPr id="11" name="Text 9"/>
          <p:cNvSpPr/>
          <p:nvPr/>
        </p:nvSpPr>
        <p:spPr>
          <a:xfrm>
            <a:off x="10071100" y="1463216"/>
            <a:ext cx="7493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100%</a:t>
            </a:r>
            <a:endParaRPr lang="en-US" sz="1400" dirty="0"/>
          </a:p>
        </p:txBody>
      </p:sp>
      <p:sp>
        <p:nvSpPr>
          <p:cNvPr id="12" name="Text 10"/>
          <p:cNvSpPr/>
          <p:nvPr/>
        </p:nvSpPr>
        <p:spPr>
          <a:xfrm>
            <a:off x="3848100" y="1891246"/>
            <a:ext cx="222377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Protect</a:t>
            </a:r>
            <a:endParaRPr lang="en-US" sz="1300" dirty="0"/>
          </a:p>
        </p:txBody>
      </p:sp>
      <p:sp>
        <p:nvSpPr>
          <p:cNvPr id="13" name="Shape 11"/>
          <p:cNvSpPr/>
          <p:nvPr/>
        </p:nvSpPr>
        <p:spPr>
          <a:xfrm>
            <a:off x="6134100" y="1867098"/>
            <a:ext cx="3810000" cy="279400"/>
          </a:xfrm>
          <a:prstGeom prst="roundRect">
            <a:avLst>
              <a:gd name="adj" fmla="val 22727"/>
            </a:avLst>
          </a:prstGeom>
          <a:solidFill>
            <a:srgbClr val="E4E1D6"/>
          </a:solidFill>
          <a:ln/>
        </p:spPr>
      </p:sp>
      <p:sp>
        <p:nvSpPr>
          <p:cNvPr id="14" name="Shape 12"/>
          <p:cNvSpPr/>
          <p:nvPr/>
        </p:nvSpPr>
        <p:spPr>
          <a:xfrm>
            <a:off x="6134100" y="1867098"/>
            <a:ext cx="3581400" cy="279400"/>
          </a:xfrm>
          <a:prstGeom prst="roundRect">
            <a:avLst>
              <a:gd name="adj" fmla="val 22727"/>
            </a:avLst>
          </a:prstGeom>
          <a:solidFill>
            <a:srgbClr val="2347F5"/>
          </a:solidFill>
          <a:ln/>
        </p:spPr>
      </p:sp>
      <p:sp>
        <p:nvSpPr>
          <p:cNvPr id="15" name="Text 13"/>
          <p:cNvSpPr/>
          <p:nvPr/>
        </p:nvSpPr>
        <p:spPr>
          <a:xfrm>
            <a:off x="10071100" y="1882316"/>
            <a:ext cx="7493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94%</a:t>
            </a:r>
            <a:endParaRPr lang="en-US" sz="1400" dirty="0"/>
          </a:p>
        </p:txBody>
      </p:sp>
      <p:sp>
        <p:nvSpPr>
          <p:cNvPr id="16" name="Text 14"/>
          <p:cNvSpPr/>
          <p:nvPr/>
        </p:nvSpPr>
        <p:spPr>
          <a:xfrm>
            <a:off x="3848100" y="2310346"/>
            <a:ext cx="222377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Detect</a:t>
            </a:r>
            <a:endParaRPr lang="en-US" sz="1300" dirty="0"/>
          </a:p>
        </p:txBody>
      </p:sp>
      <p:sp>
        <p:nvSpPr>
          <p:cNvPr id="17" name="Shape 15"/>
          <p:cNvSpPr/>
          <p:nvPr/>
        </p:nvSpPr>
        <p:spPr>
          <a:xfrm>
            <a:off x="6134100" y="2286198"/>
            <a:ext cx="3810000" cy="279400"/>
          </a:xfrm>
          <a:prstGeom prst="roundRect">
            <a:avLst>
              <a:gd name="adj" fmla="val 22727"/>
            </a:avLst>
          </a:prstGeom>
          <a:solidFill>
            <a:srgbClr val="E4E1D6"/>
          </a:solidFill>
          <a:ln/>
        </p:spPr>
      </p:sp>
      <p:sp>
        <p:nvSpPr>
          <p:cNvPr id="18" name="Shape 16"/>
          <p:cNvSpPr/>
          <p:nvPr/>
        </p:nvSpPr>
        <p:spPr>
          <a:xfrm>
            <a:off x="6134100" y="2286198"/>
            <a:ext cx="3810000" cy="279400"/>
          </a:xfrm>
          <a:prstGeom prst="roundRect">
            <a:avLst>
              <a:gd name="adj" fmla="val 22727"/>
            </a:avLst>
          </a:prstGeom>
          <a:solidFill>
            <a:srgbClr val="2347F5"/>
          </a:solidFill>
          <a:ln/>
        </p:spPr>
      </p:sp>
      <p:sp>
        <p:nvSpPr>
          <p:cNvPr id="19" name="Text 17"/>
          <p:cNvSpPr/>
          <p:nvPr/>
        </p:nvSpPr>
        <p:spPr>
          <a:xfrm>
            <a:off x="10071100" y="2301416"/>
            <a:ext cx="7493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100%</a:t>
            </a:r>
            <a:endParaRPr lang="en-US" sz="1400" dirty="0"/>
          </a:p>
        </p:txBody>
      </p:sp>
      <p:sp>
        <p:nvSpPr>
          <p:cNvPr id="20" name="Text 18"/>
          <p:cNvSpPr/>
          <p:nvPr/>
        </p:nvSpPr>
        <p:spPr>
          <a:xfrm>
            <a:off x="3848100" y="2729446"/>
            <a:ext cx="222377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Respond and Recover</a:t>
            </a:r>
            <a:endParaRPr lang="en-US" sz="1300" dirty="0"/>
          </a:p>
        </p:txBody>
      </p:sp>
      <p:sp>
        <p:nvSpPr>
          <p:cNvPr id="21" name="Shape 19"/>
          <p:cNvSpPr/>
          <p:nvPr/>
        </p:nvSpPr>
        <p:spPr>
          <a:xfrm>
            <a:off x="6134100" y="2705298"/>
            <a:ext cx="3810000" cy="279400"/>
          </a:xfrm>
          <a:prstGeom prst="roundRect">
            <a:avLst>
              <a:gd name="adj" fmla="val 22727"/>
            </a:avLst>
          </a:prstGeom>
          <a:solidFill>
            <a:srgbClr val="E4E1D6"/>
          </a:solidFill>
          <a:ln/>
        </p:spPr>
      </p:sp>
      <p:sp>
        <p:nvSpPr>
          <p:cNvPr id="22" name="Shape 20"/>
          <p:cNvSpPr/>
          <p:nvPr/>
        </p:nvSpPr>
        <p:spPr>
          <a:xfrm>
            <a:off x="6134100" y="2705298"/>
            <a:ext cx="3810000" cy="279400"/>
          </a:xfrm>
          <a:prstGeom prst="roundRect">
            <a:avLst>
              <a:gd name="adj" fmla="val 22727"/>
            </a:avLst>
          </a:prstGeom>
          <a:solidFill>
            <a:srgbClr val="2347F5"/>
          </a:solidFill>
          <a:ln/>
        </p:spPr>
      </p:sp>
      <p:sp>
        <p:nvSpPr>
          <p:cNvPr id="23" name="Text 21"/>
          <p:cNvSpPr/>
          <p:nvPr/>
        </p:nvSpPr>
        <p:spPr>
          <a:xfrm>
            <a:off x="10071100" y="2720516"/>
            <a:ext cx="7493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100%</a:t>
            </a:r>
            <a:endParaRPr lang="en-US" sz="1400" dirty="0"/>
          </a:p>
        </p:txBody>
      </p:sp>
      <p:sp>
        <p:nvSpPr>
          <p:cNvPr id="24" name="Text 22"/>
          <p:cNvSpPr/>
          <p:nvPr/>
        </p:nvSpPr>
        <p:spPr>
          <a:xfrm>
            <a:off x="3848100" y="3148546"/>
            <a:ext cx="222377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Privacy duties (NDPA)</a:t>
            </a:r>
            <a:endParaRPr lang="en-US" sz="1300" dirty="0"/>
          </a:p>
        </p:txBody>
      </p:sp>
      <p:sp>
        <p:nvSpPr>
          <p:cNvPr id="25" name="Shape 23"/>
          <p:cNvSpPr/>
          <p:nvPr/>
        </p:nvSpPr>
        <p:spPr>
          <a:xfrm>
            <a:off x="6134100" y="3124398"/>
            <a:ext cx="3810000" cy="279400"/>
          </a:xfrm>
          <a:prstGeom prst="roundRect">
            <a:avLst>
              <a:gd name="adj" fmla="val 22727"/>
            </a:avLst>
          </a:prstGeom>
          <a:solidFill>
            <a:srgbClr val="E4E1D6"/>
          </a:solidFill>
          <a:ln/>
        </p:spPr>
      </p:sp>
      <p:sp>
        <p:nvSpPr>
          <p:cNvPr id="26" name="Shape 24"/>
          <p:cNvSpPr/>
          <p:nvPr/>
        </p:nvSpPr>
        <p:spPr>
          <a:xfrm>
            <a:off x="6134100" y="3124398"/>
            <a:ext cx="3810000" cy="279400"/>
          </a:xfrm>
          <a:prstGeom prst="roundRect">
            <a:avLst>
              <a:gd name="adj" fmla="val 22727"/>
            </a:avLst>
          </a:prstGeom>
          <a:solidFill>
            <a:srgbClr val="2347F5"/>
          </a:solidFill>
          <a:ln/>
        </p:spPr>
      </p:sp>
      <p:sp>
        <p:nvSpPr>
          <p:cNvPr id="27" name="Text 25"/>
          <p:cNvSpPr/>
          <p:nvPr/>
        </p:nvSpPr>
        <p:spPr>
          <a:xfrm>
            <a:off x="10071100" y="3139616"/>
            <a:ext cx="7493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100%</a:t>
            </a:r>
            <a:endParaRPr lang="en-US" sz="1400" dirty="0"/>
          </a:p>
        </p:txBody>
      </p:sp>
      <p:sp>
        <p:nvSpPr>
          <p:cNvPr id="28" name="Text 26"/>
          <p:cNvSpPr/>
          <p:nvPr/>
        </p:nvSpPr>
        <p:spPr>
          <a:xfrm>
            <a:off x="812800" y="5447773"/>
            <a:ext cx="11379200" cy="419629"/>
          </a:xfrm>
          <a:prstGeom prst="rect">
            <a:avLst/>
          </a:prstGeom>
          <a:noFill/>
          <a:ln/>
        </p:spPr>
        <p:txBody>
          <a:bodyPr wrap="square" lIns="0" tIns="0" rIns="0" bIns="0" rtlCol="0" anchor="t">
            <a:normAutofit/>
          </a:bodyPr>
          <a:lstStyle/>
          <a:p>
            <a:pPr algn="l" indent="0" marL="0">
              <a:lnSpc>
                <a:spcPts val="1649"/>
              </a:lnSpc>
              <a:buNone/>
            </a:pPr>
            <a:r>
              <a:rPr lang="en-US" sz="1178" dirty="0">
                <a:solidFill>
                  <a:srgbClr val="3A4150"/>
                </a:solidFill>
                <a:latin typeface="Arial" pitchFamily="34" charset="0"/>
                <a:ea typeface="Arial" pitchFamily="34" charset="-122"/>
                <a:cs typeface="Arial" pitchFamily="34" charset="-120"/>
              </a:rPr>
              <a:t>Management-reported: the scores rest on HairMela's own answers, and documents were not seen. The public pages and the app still show gaps, covered next.</a:t>
            </a:r>
            <a:endParaRPr lang="en-US" sz="1178" dirty="0"/>
          </a:p>
        </p:txBody>
      </p:sp>
      <p:sp>
        <p:nvSpPr>
          <p:cNvPr id="29" name="Text 2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Public policy: strengths and gaps</a:t>
            </a:r>
            <a:endParaRPr lang="en-US" sz="3200" dirty="0"/>
          </a:p>
        </p:txBody>
      </p:sp>
      <p:sp>
        <p:nvSpPr>
          <p:cNvPr id="3" name="Shape 1"/>
          <p:cNvSpPr/>
          <p:nvPr/>
        </p:nvSpPr>
        <p:spPr>
          <a:xfrm>
            <a:off x="815975" y="1466193"/>
            <a:ext cx="5175250" cy="3293732"/>
          </a:xfrm>
          <a:prstGeom prst="roundRect">
            <a:avLst>
              <a:gd name="adj" fmla="val 2988"/>
            </a:avLst>
          </a:prstGeom>
          <a:solidFill>
            <a:srgbClr val="FBFAF7"/>
          </a:solidFill>
          <a:ln w="6350">
            <a:solidFill>
              <a:srgbClr val="DDD9CE"/>
            </a:solidFill>
            <a:prstDash val="solid"/>
          </a:ln>
        </p:spPr>
      </p:sp>
      <p:sp>
        <p:nvSpPr>
          <p:cNvPr id="4" name="Text 2"/>
          <p:cNvSpPr/>
          <p:nvPr/>
        </p:nvSpPr>
        <p:spPr>
          <a:xfrm>
            <a:off x="10710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B3B"/>
                </a:solidFill>
                <a:latin typeface="Arial" pitchFamily="34" charset="0"/>
                <a:ea typeface="Arial" pitchFamily="34" charset="-122"/>
                <a:cs typeface="Arial" pitchFamily="34" charset="-120"/>
              </a:rPr>
              <a:t>Does well (6)</a:t>
            </a:r>
            <a:endParaRPr lang="en-US" sz="1800" dirty="0"/>
          </a:p>
        </p:txBody>
      </p:sp>
      <p:pic>
        <p:nvPicPr>
          <p:cNvPr id="5" name="Image 0" descr="Check">    </p:cNvPr>
          <p:cNvPicPr>
            <a:picLocks noChangeAspect="1"/>
          </p:cNvPicPr>
          <p:nvPr/>
        </p:nvPicPr>
        <p:blipFill>
          <a:blip r:embed="rId1"/>
          <a:srcRect l="0" r="0" t="0" b="0"/>
          <a:stretch/>
        </p:blipFill>
        <p:spPr>
          <a:xfrm>
            <a:off x="1071033" y="2122556"/>
            <a:ext cx="177800" cy="177800"/>
          </a:xfrm>
          <a:prstGeom prst="rect">
            <a:avLst/>
          </a:prstGeom>
        </p:spPr>
      </p:pic>
      <p:sp>
        <p:nvSpPr>
          <p:cNvPr id="6" name="Text 3"/>
          <p:cNvSpPr/>
          <p:nvPr/>
        </p:nvSpPr>
        <p:spPr>
          <a:xfrm>
            <a:off x="1337733" y="2122556"/>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Plain, readable language</a:t>
            </a:r>
            <a:endParaRPr lang="en-US" sz="1300" dirty="0"/>
          </a:p>
        </p:txBody>
      </p:sp>
      <p:pic>
        <p:nvPicPr>
          <p:cNvPr id="7" name="Image 1" descr="Check">    </p:cNvPr>
          <p:cNvPicPr>
            <a:picLocks noChangeAspect="1"/>
          </p:cNvPicPr>
          <p:nvPr/>
        </p:nvPicPr>
        <p:blipFill>
          <a:blip r:embed="rId2"/>
          <a:srcRect l="0" r="0" t="0" b="0"/>
          <a:stretch/>
        </p:blipFill>
        <p:spPr>
          <a:xfrm>
            <a:off x="1071033" y="2429867"/>
            <a:ext cx="177800" cy="177800"/>
          </a:xfrm>
          <a:prstGeom prst="rect">
            <a:avLst/>
          </a:prstGeom>
        </p:spPr>
      </p:pic>
      <p:sp>
        <p:nvSpPr>
          <p:cNvPr id="8" name="Text 4"/>
          <p:cNvSpPr/>
          <p:nvPr/>
        </p:nvSpPr>
        <p:spPr>
          <a:xfrm>
            <a:off x="1337733" y="242986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Collects little: name, email, optional phone</a:t>
            </a:r>
            <a:endParaRPr lang="en-US" sz="1300" dirty="0"/>
          </a:p>
        </p:txBody>
      </p:sp>
      <p:pic>
        <p:nvPicPr>
          <p:cNvPr id="9" name="Image 2" descr="Check">    </p:cNvPr>
          <p:cNvPicPr>
            <a:picLocks noChangeAspect="1"/>
          </p:cNvPicPr>
          <p:nvPr/>
        </p:nvPicPr>
        <p:blipFill>
          <a:blip r:embed="rId3"/>
          <a:srcRect l="0" r="0" t="0" b="0"/>
          <a:stretch/>
        </p:blipFill>
        <p:spPr>
          <a:xfrm>
            <a:off x="1071033" y="2737185"/>
            <a:ext cx="177800" cy="177800"/>
          </a:xfrm>
          <a:prstGeom prst="rect">
            <a:avLst/>
          </a:prstGeom>
        </p:spPr>
      </p:pic>
      <p:sp>
        <p:nvSpPr>
          <p:cNvPr id="10" name="Text 5"/>
          <p:cNvSpPr/>
          <p:nvPr/>
        </p:nvSpPr>
        <p:spPr>
          <a:xfrm>
            <a:off x="1337733" y="273718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States it does not sell personal data</a:t>
            </a:r>
            <a:endParaRPr lang="en-US" sz="1300" dirty="0"/>
          </a:p>
        </p:txBody>
      </p:sp>
      <p:pic>
        <p:nvPicPr>
          <p:cNvPr id="11" name="Image 3" descr="Check">    </p:cNvPr>
          <p:cNvPicPr>
            <a:picLocks noChangeAspect="1"/>
          </p:cNvPicPr>
          <p:nvPr/>
        </p:nvPicPr>
        <p:blipFill>
          <a:blip r:embed="rId4"/>
          <a:srcRect l="0" r="0" t="0" b="0"/>
          <a:stretch/>
        </p:blipFill>
        <p:spPr>
          <a:xfrm>
            <a:off x="1071033" y="3044496"/>
            <a:ext cx="177800" cy="177800"/>
          </a:xfrm>
          <a:prstGeom prst="rect">
            <a:avLst/>
          </a:prstGeom>
        </p:spPr>
      </p:pic>
      <p:sp>
        <p:nvSpPr>
          <p:cNvPr id="12" name="Text 6"/>
          <p:cNvSpPr/>
          <p:nvPr/>
        </p:nvSpPr>
        <p:spPr>
          <a:xfrm>
            <a:off x="1337733" y="3044496"/>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Meta Pixel only after opt-in cookie consent</a:t>
            </a:r>
            <a:endParaRPr lang="en-US" sz="1300" dirty="0"/>
          </a:p>
        </p:txBody>
      </p:sp>
      <p:pic>
        <p:nvPicPr>
          <p:cNvPr id="13" name="Image 4" descr="Check">    </p:cNvPr>
          <p:cNvPicPr>
            <a:picLocks noChangeAspect="1"/>
          </p:cNvPicPr>
          <p:nvPr/>
        </p:nvPicPr>
        <p:blipFill>
          <a:blip r:embed="rId5"/>
          <a:srcRect l="0" r="0" t="0" b="0"/>
          <a:stretch/>
        </p:blipFill>
        <p:spPr>
          <a:xfrm>
            <a:off x="1071033" y="3351808"/>
            <a:ext cx="177800" cy="177800"/>
          </a:xfrm>
          <a:prstGeom prst="rect">
            <a:avLst/>
          </a:prstGeom>
        </p:spPr>
      </p:pic>
      <p:sp>
        <p:nvSpPr>
          <p:cNvPr id="14" name="Text 7"/>
          <p:cNvSpPr/>
          <p:nvPr/>
        </p:nvSpPr>
        <p:spPr>
          <a:xfrm>
            <a:off x="1337733" y="3351808"/>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Clear deletion page with a 30-day timeline</a:t>
            </a:r>
            <a:endParaRPr lang="en-US" sz="1300" dirty="0"/>
          </a:p>
        </p:txBody>
      </p:sp>
      <p:pic>
        <p:nvPicPr>
          <p:cNvPr id="15" name="Image 5" descr="Check">    </p:cNvPr>
          <p:cNvPicPr>
            <a:picLocks noChangeAspect="1"/>
          </p:cNvPicPr>
          <p:nvPr/>
        </p:nvPicPr>
        <p:blipFill>
          <a:blip r:embed="rId6"/>
          <a:srcRect l="0" r="0" t="0" b="0"/>
          <a:stretch/>
        </p:blipFill>
        <p:spPr>
          <a:xfrm>
            <a:off x="1071033" y="3659125"/>
            <a:ext cx="177800" cy="177800"/>
          </a:xfrm>
          <a:prstGeom prst="rect">
            <a:avLst/>
          </a:prstGeom>
        </p:spPr>
      </p:pic>
      <p:sp>
        <p:nvSpPr>
          <p:cNvPr id="16" name="Text 8"/>
          <p:cNvSpPr/>
          <p:nvPr/>
        </p:nvSpPr>
        <p:spPr>
          <a:xfrm>
            <a:off x="1337733" y="365912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Push notifications are opt-in</a:t>
            </a:r>
            <a:endParaRPr lang="en-US" sz="1300" dirty="0"/>
          </a:p>
        </p:txBody>
      </p:sp>
      <p:sp>
        <p:nvSpPr>
          <p:cNvPr id="17" name="Shape 9"/>
          <p:cNvSpPr/>
          <p:nvPr/>
        </p:nvSpPr>
        <p:spPr>
          <a:xfrm>
            <a:off x="6200775" y="1466193"/>
            <a:ext cx="5175250" cy="3293732"/>
          </a:xfrm>
          <a:prstGeom prst="roundRect">
            <a:avLst>
              <a:gd name="adj" fmla="val 2988"/>
            </a:avLst>
          </a:prstGeom>
          <a:solidFill>
            <a:srgbClr val="FBFAF7"/>
          </a:solidFill>
          <a:ln w="6350">
            <a:solidFill>
              <a:srgbClr val="DDD9CE"/>
            </a:solidFill>
            <a:prstDash val="solid"/>
          </a:ln>
        </p:spPr>
      </p:sp>
      <p:sp>
        <p:nvSpPr>
          <p:cNvPr id="18" name="Text 10"/>
          <p:cNvSpPr/>
          <p:nvPr/>
        </p:nvSpPr>
        <p:spPr>
          <a:xfrm>
            <a:off x="64558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A5200"/>
                </a:solidFill>
                <a:latin typeface="Arial" pitchFamily="34" charset="0"/>
                <a:ea typeface="Arial" pitchFamily="34" charset="-122"/>
                <a:cs typeface="Arial" pitchFamily="34" charset="-120"/>
              </a:rPr>
              <a:t>Thin or missing (8)</a:t>
            </a:r>
            <a:endParaRPr lang="en-US" sz="1800" dirty="0"/>
          </a:p>
        </p:txBody>
      </p:sp>
      <p:pic>
        <p:nvPicPr>
          <p:cNvPr id="19" name="Image 6" descr="Warning">    </p:cNvPr>
          <p:cNvPicPr>
            <a:picLocks noChangeAspect="1"/>
          </p:cNvPicPr>
          <p:nvPr/>
        </p:nvPicPr>
        <p:blipFill>
          <a:blip r:embed="rId7"/>
          <a:srcRect l="0" r="0" t="0" b="0"/>
          <a:stretch/>
        </p:blipFill>
        <p:spPr>
          <a:xfrm>
            <a:off x="6455833" y="2122556"/>
            <a:ext cx="177800" cy="177800"/>
          </a:xfrm>
          <a:prstGeom prst="rect">
            <a:avLst/>
          </a:prstGeom>
        </p:spPr>
      </p:pic>
      <p:sp>
        <p:nvSpPr>
          <p:cNvPr id="20" name="Text 11"/>
          <p:cNvSpPr/>
          <p:nvPr/>
        </p:nvSpPr>
        <p:spPr>
          <a:xfrm>
            <a:off x="6722534" y="2122556"/>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mention of the NDPA or the NDPC</a:t>
            </a:r>
            <a:endParaRPr lang="en-US" sz="1300" dirty="0"/>
          </a:p>
        </p:txBody>
      </p:sp>
      <p:pic>
        <p:nvPicPr>
          <p:cNvPr id="21" name="Image 7" descr="Warning">    </p:cNvPr>
          <p:cNvPicPr>
            <a:picLocks noChangeAspect="1"/>
          </p:cNvPicPr>
          <p:nvPr/>
        </p:nvPicPr>
        <p:blipFill>
          <a:blip r:embed="rId8"/>
          <a:srcRect l="0" r="0" t="0" b="0"/>
          <a:stretch/>
        </p:blipFill>
        <p:spPr>
          <a:xfrm>
            <a:off x="6455833" y="2429867"/>
            <a:ext cx="177800" cy="177800"/>
          </a:xfrm>
          <a:prstGeom prst="rect">
            <a:avLst/>
          </a:prstGeom>
        </p:spPr>
      </p:pic>
      <p:sp>
        <p:nvSpPr>
          <p:cNvPr id="22" name="Text 12"/>
          <p:cNvSpPr/>
          <p:nvPr/>
        </p:nvSpPr>
        <p:spPr>
          <a:xfrm>
            <a:off x="6722534" y="242986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Consent assumed from browsing or use</a:t>
            </a:r>
            <a:endParaRPr lang="en-US" sz="1300" dirty="0"/>
          </a:p>
        </p:txBody>
      </p:sp>
      <p:pic>
        <p:nvPicPr>
          <p:cNvPr id="23" name="Image 8" descr="Warning">    </p:cNvPr>
          <p:cNvPicPr>
            <a:picLocks noChangeAspect="1"/>
          </p:cNvPicPr>
          <p:nvPr/>
        </p:nvPicPr>
        <p:blipFill>
          <a:blip r:embed="rId9"/>
          <a:srcRect l="0" r="0" t="0" b="0"/>
          <a:stretch/>
        </p:blipFill>
        <p:spPr>
          <a:xfrm>
            <a:off x="6455833" y="2737185"/>
            <a:ext cx="177800" cy="177800"/>
          </a:xfrm>
          <a:prstGeom prst="rect">
            <a:avLst/>
          </a:prstGeom>
        </p:spPr>
      </p:pic>
      <p:sp>
        <p:nvSpPr>
          <p:cNvPr id="24" name="Text 13"/>
          <p:cNvSpPr/>
          <p:nvPr/>
        </p:nvSpPr>
        <p:spPr>
          <a:xfrm>
            <a:off x="6722534" y="273718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Withdrawing consent means leaving the service</a:t>
            </a:r>
            <a:endParaRPr lang="en-US" sz="1300" dirty="0"/>
          </a:p>
        </p:txBody>
      </p:sp>
      <p:pic>
        <p:nvPicPr>
          <p:cNvPr id="25" name="Image 9" descr="Warning">    </p:cNvPr>
          <p:cNvPicPr>
            <a:picLocks noChangeAspect="1"/>
          </p:cNvPicPr>
          <p:nvPr/>
        </p:nvPicPr>
        <p:blipFill>
          <a:blip r:embed="rId10"/>
          <a:srcRect l="0" r="0" t="0" b="0"/>
          <a:stretch/>
        </p:blipFill>
        <p:spPr>
          <a:xfrm>
            <a:off x="6455833" y="3044496"/>
            <a:ext cx="177800" cy="177800"/>
          </a:xfrm>
          <a:prstGeom prst="rect">
            <a:avLst/>
          </a:prstGeom>
        </p:spPr>
      </p:pic>
      <p:sp>
        <p:nvSpPr>
          <p:cNvPr id="26" name="Text 14"/>
          <p:cNvSpPr/>
          <p:nvPr/>
        </p:nvSpPr>
        <p:spPr>
          <a:xfrm>
            <a:off x="6722534" y="3044496"/>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access, correction or complaint rights</a:t>
            </a:r>
            <a:endParaRPr lang="en-US" sz="1300" dirty="0"/>
          </a:p>
        </p:txBody>
      </p:sp>
      <p:pic>
        <p:nvPicPr>
          <p:cNvPr id="27" name="Image 10" descr="Warning">    </p:cNvPr>
          <p:cNvPicPr>
            <a:picLocks noChangeAspect="1"/>
          </p:cNvPicPr>
          <p:nvPr/>
        </p:nvPicPr>
        <p:blipFill>
          <a:blip r:embed="rId11"/>
          <a:srcRect l="0" r="0" t="0" b="0"/>
          <a:stretch/>
        </p:blipFill>
        <p:spPr>
          <a:xfrm>
            <a:off x="6455833" y="3351808"/>
            <a:ext cx="177800" cy="177800"/>
          </a:xfrm>
          <a:prstGeom prst="rect">
            <a:avLst/>
          </a:prstGeom>
        </p:spPr>
      </p:pic>
      <p:sp>
        <p:nvSpPr>
          <p:cNvPr id="28" name="Text 15"/>
          <p:cNvSpPr/>
          <p:nvPr/>
        </p:nvSpPr>
        <p:spPr>
          <a:xfrm>
            <a:off x="6722534" y="3351808"/>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Retention is "as long as needed"</a:t>
            </a:r>
            <a:endParaRPr lang="en-US" sz="1300" dirty="0"/>
          </a:p>
        </p:txBody>
      </p:sp>
      <p:pic>
        <p:nvPicPr>
          <p:cNvPr id="29" name="Image 11" descr="Warning">    </p:cNvPr>
          <p:cNvPicPr>
            <a:picLocks noChangeAspect="1"/>
          </p:cNvPicPr>
          <p:nvPr/>
        </p:nvPicPr>
        <p:blipFill>
          <a:blip r:embed="rId12"/>
          <a:srcRect l="0" r="0" t="0" b="0"/>
          <a:stretch/>
        </p:blipFill>
        <p:spPr>
          <a:xfrm>
            <a:off x="6455833" y="3659125"/>
            <a:ext cx="177800" cy="177800"/>
          </a:xfrm>
          <a:prstGeom prst="rect">
            <a:avLst/>
          </a:prstGeom>
        </p:spPr>
      </p:pic>
      <p:sp>
        <p:nvSpPr>
          <p:cNvPr id="30" name="Text 16"/>
          <p:cNvSpPr/>
          <p:nvPr/>
        </p:nvSpPr>
        <p:spPr>
          <a:xfrm>
            <a:off x="6722534" y="365912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HairMela and salon roles not spelled out</a:t>
            </a:r>
            <a:endParaRPr lang="en-US" sz="1300" dirty="0"/>
          </a:p>
        </p:txBody>
      </p:sp>
      <p:pic>
        <p:nvPicPr>
          <p:cNvPr id="31" name="Image 12" descr="Warning">    </p:cNvPr>
          <p:cNvPicPr>
            <a:picLocks noChangeAspect="1"/>
          </p:cNvPicPr>
          <p:nvPr/>
        </p:nvPicPr>
        <p:blipFill>
          <a:blip r:embed="rId13"/>
          <a:srcRect l="0" r="0" t="0" b="0"/>
          <a:stretch/>
        </p:blipFill>
        <p:spPr>
          <a:xfrm>
            <a:off x="6455833" y="3966437"/>
            <a:ext cx="177800" cy="177800"/>
          </a:xfrm>
          <a:prstGeom prst="rect">
            <a:avLst/>
          </a:prstGeom>
        </p:spPr>
      </p:pic>
      <p:sp>
        <p:nvSpPr>
          <p:cNvPr id="32" name="Text 17"/>
          <p:cNvSpPr/>
          <p:nvPr/>
        </p:nvSpPr>
        <p:spPr>
          <a:xfrm>
            <a:off x="6722534" y="396643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breach or incident statement</a:t>
            </a:r>
            <a:endParaRPr lang="en-US" sz="1300" dirty="0"/>
          </a:p>
        </p:txBody>
      </p:sp>
      <p:pic>
        <p:nvPicPr>
          <p:cNvPr id="33" name="Image 13" descr="Warning">    </p:cNvPr>
          <p:cNvPicPr>
            <a:picLocks noChangeAspect="1"/>
          </p:cNvPicPr>
          <p:nvPr/>
        </p:nvPicPr>
        <p:blipFill>
          <a:blip r:embed="rId14"/>
          <a:srcRect l="0" r="0" t="0" b="0"/>
          <a:stretch/>
        </p:blipFill>
        <p:spPr>
          <a:xfrm>
            <a:off x="6455833" y="4273748"/>
            <a:ext cx="177800" cy="177800"/>
          </a:xfrm>
          <a:prstGeom prst="rect">
            <a:avLst/>
          </a:prstGeom>
        </p:spPr>
      </p:pic>
      <p:sp>
        <p:nvSpPr>
          <p:cNvPr id="34" name="Text 18"/>
          <p:cNvSpPr/>
          <p:nvPr/>
        </p:nvSpPr>
        <p:spPr>
          <a:xfrm>
            <a:off x="6722534" y="4273748"/>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Vendors unnamed, no agreements mentioned</a:t>
            </a:r>
            <a:endParaRPr lang="en-US" sz="1300" dirty="0"/>
          </a:p>
        </p:txBody>
      </p:sp>
      <p:sp>
        <p:nvSpPr>
          <p:cNvPr id="35"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Policy review: what management says and what the pages show</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922729"/>
          <a:ext cx="10553700" cy="3208470"/>
        </p:xfrm>
        <a:graphic>
          <a:graphicData uri="http://schemas.openxmlformats.org/drawingml/2006/table">
            <a:tbl>
              <a:tblPr/>
              <a:tblGrid>
                <a:gridCol w="2321814"/>
                <a:gridCol w="2321814"/>
                <a:gridCol w="5910072"/>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Control</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Management says</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Public pages and app show</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90418">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NP-01 Privacy notice</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Clear notice given</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A plain-language notice exists. It lists no rights, names no controller and does not mention the NDPA.</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418">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NP-02 Consent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Consent is asked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Consent is assumed from use; only cookies are opt-in. No consent line seen beside the sign-up button.</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418">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NP-03 Customer requests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Clear process in place</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Deletion on request within 30 days. No route to ask for a copy of data, and no delete option in the app.</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PR-07 Retention</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Known and followed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Data kept "as long as needed"; no fixed periods are published.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GV-03 Vendor agreements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Written agreements exist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Hosting and push providers are mentioned but not named.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RS-03 Breach reporting</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Knows when and how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Nothing is stated publicly about breaches.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33439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Management's answers set the score. The pages show what customers can see. The gaps are mostly wording: make the public pages match practice.</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What the sign-up page shows</a:t>
            </a:r>
            <a:endParaRPr lang="en-US" sz="3200" dirty="0"/>
          </a:p>
        </p:txBody>
      </p:sp>
      <p:sp>
        <p:nvSpPr>
          <p:cNvPr id="3" name="Shape 1"/>
          <p:cNvSpPr/>
          <p:nvPr/>
        </p:nvSpPr>
        <p:spPr>
          <a:xfrm>
            <a:off x="812800" y="1463018"/>
            <a:ext cx="5080000" cy="2330450"/>
          </a:xfrm>
          <a:prstGeom prst="roundRect">
            <a:avLst>
              <a:gd name="adj" fmla="val 3270"/>
            </a:avLst>
          </a:prstGeom>
          <a:solidFill>
            <a:srgbClr val="FFFFFF"/>
          </a:solidFill>
          <a:ln/>
        </p:spPr>
      </p:sp>
      <p:pic>
        <p:nvPicPr>
          <p:cNvPr id="4" name="Image 0" descr="HairMela create-an-account form with first name, last name, email, password (minimum 8 characters) and phone fields, and a Create account button">    </p:cNvPr>
          <p:cNvPicPr>
            <a:picLocks noChangeAspect="1"/>
          </p:cNvPicPr>
          <p:nvPr/>
        </p:nvPicPr>
        <p:blipFill>
          <a:blip r:embed="rId1"/>
          <a:srcRect l="-167" r="-167" t="0" b="0"/>
          <a:stretch/>
        </p:blipFill>
        <p:spPr>
          <a:xfrm>
            <a:off x="819150" y="1469368"/>
            <a:ext cx="5067300" cy="2317750"/>
          </a:xfrm>
          <a:prstGeom prst="roundRect">
            <a:avLst>
              <a:gd name="adj" fmla="val 3014"/>
            </a:avLst>
          </a:prstGeom>
        </p:spPr>
      </p:pic>
      <p:sp>
        <p:nvSpPr>
          <p:cNvPr id="5" name="Shape 2"/>
          <p:cNvSpPr/>
          <p:nvPr/>
        </p:nvSpPr>
        <p:spPr>
          <a:xfrm>
            <a:off x="815975" y="1466193"/>
            <a:ext cx="5073650" cy="2324100"/>
          </a:xfrm>
          <a:prstGeom prst="roundRect">
            <a:avLst>
              <a:gd name="adj" fmla="val 3142"/>
            </a:avLst>
          </a:prstGeom>
          <a:noFill/>
          <a:ln w="6350">
            <a:solidFill>
              <a:srgbClr val="DDD9CE"/>
            </a:solidFill>
            <a:prstDash val="solid"/>
          </a:ln>
        </p:spPr>
      </p:sp>
      <p:pic>
        <p:nvPicPr>
          <p:cNvPr id="6" name="Image 1" descr="Check">    </p:cNvPr>
          <p:cNvPicPr>
            <a:picLocks noChangeAspect="1"/>
          </p:cNvPicPr>
          <p:nvPr/>
        </p:nvPicPr>
        <p:blipFill>
          <a:blip r:embed="rId2"/>
          <a:srcRect l="0" r="0" t="0" b="0"/>
          <a:stretch/>
        </p:blipFill>
        <p:spPr>
          <a:xfrm>
            <a:off x="6197600" y="1463018"/>
            <a:ext cx="177800" cy="177800"/>
          </a:xfrm>
          <a:prstGeom prst="rect">
            <a:avLst/>
          </a:prstGeom>
        </p:spPr>
      </p:pic>
      <p:sp>
        <p:nvSpPr>
          <p:cNvPr id="7" name="Text 3"/>
          <p:cNvSpPr/>
          <p:nvPr/>
        </p:nvSpPr>
        <p:spPr>
          <a:xfrm>
            <a:off x="6464300" y="1463018"/>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Asks for name, email, password and phone only</a:t>
            </a:r>
            <a:endParaRPr lang="en-US" sz="1300" dirty="0"/>
          </a:p>
        </p:txBody>
      </p:sp>
      <p:pic>
        <p:nvPicPr>
          <p:cNvPr id="8" name="Image 2" descr="Check">    </p:cNvPr>
          <p:cNvPicPr>
            <a:picLocks noChangeAspect="1"/>
          </p:cNvPicPr>
          <p:nvPr/>
        </p:nvPicPr>
        <p:blipFill>
          <a:blip r:embed="rId3"/>
          <a:srcRect l="0" r="0" t="0" b="0"/>
          <a:stretch/>
        </p:blipFill>
        <p:spPr>
          <a:xfrm>
            <a:off x="6197600" y="1795735"/>
            <a:ext cx="177800" cy="177800"/>
          </a:xfrm>
          <a:prstGeom prst="rect">
            <a:avLst/>
          </a:prstGeom>
        </p:spPr>
      </p:pic>
      <p:sp>
        <p:nvSpPr>
          <p:cNvPr id="9" name="Text 4"/>
          <p:cNvSpPr/>
          <p:nvPr/>
        </p:nvSpPr>
        <p:spPr>
          <a:xfrm>
            <a:off x="6464300" y="1795735"/>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Offers sign-in with Google</a:t>
            </a:r>
            <a:endParaRPr lang="en-US" sz="1300" dirty="0"/>
          </a:p>
        </p:txBody>
      </p:sp>
      <p:pic>
        <p:nvPicPr>
          <p:cNvPr id="10" name="Image 3" descr="Check">    </p:cNvPr>
          <p:cNvPicPr>
            <a:picLocks noChangeAspect="1"/>
          </p:cNvPicPr>
          <p:nvPr/>
        </p:nvPicPr>
        <p:blipFill>
          <a:blip r:embed="rId4"/>
          <a:srcRect l="0" r="0" t="0" b="0"/>
          <a:stretch/>
        </p:blipFill>
        <p:spPr>
          <a:xfrm>
            <a:off x="6197600" y="2128441"/>
            <a:ext cx="177800" cy="177800"/>
          </a:xfrm>
          <a:prstGeom prst="rect">
            <a:avLst/>
          </a:prstGeom>
        </p:spPr>
      </p:pic>
      <p:sp>
        <p:nvSpPr>
          <p:cNvPr id="11" name="Text 5"/>
          <p:cNvSpPr/>
          <p:nvPr/>
        </p:nvSpPr>
        <p:spPr>
          <a:xfrm>
            <a:off x="6464300" y="2128441"/>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States a minimum password length of 8 characters</a:t>
            </a:r>
            <a:endParaRPr lang="en-US" sz="1300" dirty="0"/>
          </a:p>
        </p:txBody>
      </p:sp>
      <p:pic>
        <p:nvPicPr>
          <p:cNvPr id="12" name="Image 4" descr="Warning">    </p:cNvPr>
          <p:cNvPicPr>
            <a:picLocks noChangeAspect="1"/>
          </p:cNvPicPr>
          <p:nvPr/>
        </p:nvPicPr>
        <p:blipFill>
          <a:blip r:embed="rId5"/>
          <a:srcRect l="0" r="0" t="0" b="0"/>
          <a:stretch/>
        </p:blipFill>
        <p:spPr>
          <a:xfrm>
            <a:off x="6197600" y="2461158"/>
            <a:ext cx="177800" cy="177800"/>
          </a:xfrm>
          <a:prstGeom prst="rect">
            <a:avLst/>
          </a:prstGeom>
        </p:spPr>
      </p:pic>
      <p:sp>
        <p:nvSpPr>
          <p:cNvPr id="13" name="Text 6"/>
          <p:cNvSpPr/>
          <p:nvPr/>
        </p:nvSpPr>
        <p:spPr>
          <a:xfrm>
            <a:off x="6464300" y="2461158"/>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consent box or privacy link beside the button</a:t>
            </a:r>
            <a:endParaRPr lang="en-US" sz="1300" dirty="0"/>
          </a:p>
        </p:txBody>
      </p:sp>
      <p:pic>
        <p:nvPicPr>
          <p:cNvPr id="14" name="Image 5" descr="Warning">    </p:cNvPr>
          <p:cNvPicPr>
            <a:picLocks noChangeAspect="1"/>
          </p:cNvPicPr>
          <p:nvPr/>
        </p:nvPicPr>
        <p:blipFill>
          <a:blip r:embed="rId6"/>
          <a:srcRect l="0" r="0" t="0" b="0"/>
          <a:stretch/>
        </p:blipFill>
        <p:spPr>
          <a:xfrm>
            <a:off x="6197600" y="2793876"/>
            <a:ext cx="177800" cy="177800"/>
          </a:xfrm>
          <a:prstGeom prst="rect">
            <a:avLst/>
          </a:prstGeom>
        </p:spPr>
      </p:pic>
      <p:sp>
        <p:nvSpPr>
          <p:cNvPr id="15" name="Text 7"/>
          <p:cNvSpPr/>
          <p:nvPr/>
        </p:nvSpPr>
        <p:spPr>
          <a:xfrm>
            <a:off x="6464300" y="2793876"/>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Phone has no "optional" label, yet the policy says optional</a:t>
            </a:r>
            <a:endParaRPr lang="en-US" sz="1300" dirty="0"/>
          </a:p>
        </p:txBody>
      </p:sp>
      <p:pic>
        <p:nvPicPr>
          <p:cNvPr id="16" name="Image 6" descr="Warning">    </p:cNvPr>
          <p:cNvPicPr>
            <a:picLocks noChangeAspect="1"/>
          </p:cNvPicPr>
          <p:nvPr/>
        </p:nvPicPr>
        <p:blipFill>
          <a:blip r:embed="rId7"/>
          <a:srcRect l="0" r="0" t="0" b="0"/>
          <a:stretch/>
        </p:blipFill>
        <p:spPr>
          <a:xfrm>
            <a:off x="6197600" y="3126581"/>
            <a:ext cx="177800" cy="177800"/>
          </a:xfrm>
          <a:prstGeom prst="rect">
            <a:avLst/>
          </a:prstGeom>
        </p:spPr>
      </p:pic>
      <p:sp>
        <p:nvSpPr>
          <p:cNvPr id="17" name="Text 8"/>
          <p:cNvSpPr/>
          <p:nvPr/>
        </p:nvSpPr>
        <p:spPr>
          <a:xfrm>
            <a:off x="6464300" y="3126581"/>
            <a:ext cx="50623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two-factor option or strength guidance seen</a:t>
            </a:r>
            <a:endParaRPr lang="en-US" sz="1300" dirty="0"/>
          </a:p>
        </p:txBody>
      </p:sp>
      <p:sp>
        <p:nvSpPr>
          <p:cNvPr id="18" name="Text 9"/>
          <p:cNvSpPr/>
          <p:nvPr/>
        </p:nvSpPr>
        <p:spPr>
          <a:xfrm>
            <a:off x="812800" y="399666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Screens captured on the assessor's own account in normal use. No testing was done.</a:t>
            </a:r>
            <a:endParaRPr lang="en-US" sz="1200" dirty="0"/>
          </a:p>
        </p:txBody>
      </p:sp>
      <p:sp>
        <p:nvSpPr>
          <p:cNvPr id="19"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Inside a normal account</a:t>
            </a:r>
            <a:endParaRPr lang="en-US" sz="3200" dirty="0"/>
          </a:p>
        </p:txBody>
      </p:sp>
      <p:sp>
        <p:nvSpPr>
          <p:cNvPr id="3" name="Shape 1"/>
          <p:cNvSpPr/>
          <p:nvPr/>
        </p:nvSpPr>
        <p:spPr>
          <a:xfrm>
            <a:off x="815975" y="1466193"/>
            <a:ext cx="5175250" cy="2986418"/>
          </a:xfrm>
          <a:prstGeom prst="roundRect">
            <a:avLst>
              <a:gd name="adj" fmla="val 3296"/>
            </a:avLst>
          </a:prstGeom>
          <a:solidFill>
            <a:srgbClr val="FBFAF7"/>
          </a:solidFill>
          <a:ln w="6350">
            <a:solidFill>
              <a:srgbClr val="DDD9CE"/>
            </a:solidFill>
            <a:prstDash val="solid"/>
          </a:ln>
        </p:spPr>
      </p:sp>
      <p:sp>
        <p:nvSpPr>
          <p:cNvPr id="4" name="Text 2"/>
          <p:cNvSpPr/>
          <p:nvPr/>
        </p:nvSpPr>
        <p:spPr>
          <a:xfrm>
            <a:off x="10710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B3B"/>
                </a:solidFill>
                <a:latin typeface="Arial" pitchFamily="34" charset="0"/>
                <a:ea typeface="Arial" pitchFamily="34" charset="-122"/>
                <a:cs typeface="Arial" pitchFamily="34" charset="-120"/>
              </a:rPr>
              <a:t>Seen (7)</a:t>
            </a:r>
            <a:endParaRPr lang="en-US" sz="1800" dirty="0"/>
          </a:p>
        </p:txBody>
      </p:sp>
      <p:pic>
        <p:nvPicPr>
          <p:cNvPr id="5" name="Image 0" descr="Check">    </p:cNvPr>
          <p:cNvPicPr>
            <a:picLocks noChangeAspect="1"/>
          </p:cNvPicPr>
          <p:nvPr/>
        </p:nvPicPr>
        <p:blipFill>
          <a:blip r:embed="rId1"/>
          <a:srcRect l="0" r="0" t="0" b="0"/>
          <a:stretch/>
        </p:blipFill>
        <p:spPr>
          <a:xfrm>
            <a:off x="1071033" y="2122562"/>
            <a:ext cx="177800" cy="177800"/>
          </a:xfrm>
          <a:prstGeom prst="rect">
            <a:avLst/>
          </a:prstGeom>
        </p:spPr>
      </p:pic>
      <p:sp>
        <p:nvSpPr>
          <p:cNvPr id="6" name="Text 3"/>
          <p:cNvSpPr/>
          <p:nvPr/>
        </p:nvSpPr>
        <p:spPr>
          <a:xfrm>
            <a:off x="1337733" y="2122562"/>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Profile is editable; nickname and phone marked optional</a:t>
            </a:r>
            <a:endParaRPr lang="en-US" sz="1300" dirty="0"/>
          </a:p>
        </p:txBody>
      </p:sp>
      <p:pic>
        <p:nvPicPr>
          <p:cNvPr id="7" name="Image 1" descr="Check">    </p:cNvPr>
          <p:cNvPicPr>
            <a:picLocks noChangeAspect="1"/>
          </p:cNvPicPr>
          <p:nvPr/>
        </p:nvPicPr>
        <p:blipFill>
          <a:blip r:embed="rId2"/>
          <a:srcRect l="0" r="0" t="0" b="0"/>
          <a:stretch/>
        </p:blipFill>
        <p:spPr>
          <a:xfrm>
            <a:off x="1071033" y="2429867"/>
            <a:ext cx="177800" cy="177800"/>
          </a:xfrm>
          <a:prstGeom prst="rect">
            <a:avLst/>
          </a:prstGeom>
        </p:spPr>
      </p:pic>
      <p:sp>
        <p:nvSpPr>
          <p:cNvPr id="8" name="Text 4"/>
          <p:cNvSpPr/>
          <p:nvPr/>
        </p:nvSpPr>
        <p:spPr>
          <a:xfrm>
            <a:off x="1337733" y="2429867"/>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Other customers' names are not shown on the site</a:t>
            </a:r>
            <a:endParaRPr lang="en-US" sz="1300" dirty="0"/>
          </a:p>
        </p:txBody>
      </p:sp>
      <p:pic>
        <p:nvPicPr>
          <p:cNvPr id="9" name="Image 2" descr="Check">    </p:cNvPr>
          <p:cNvPicPr>
            <a:picLocks noChangeAspect="1"/>
          </p:cNvPicPr>
          <p:nvPr/>
        </p:nvPicPr>
        <p:blipFill>
          <a:blip r:embed="rId3"/>
          <a:srcRect l="0" r="0" t="0" b="0"/>
          <a:stretch/>
        </p:blipFill>
        <p:spPr>
          <a:xfrm>
            <a:off x="1071033" y="2737185"/>
            <a:ext cx="177800" cy="177800"/>
          </a:xfrm>
          <a:prstGeom prst="rect">
            <a:avLst/>
          </a:prstGeom>
        </p:spPr>
      </p:pic>
      <p:sp>
        <p:nvSpPr>
          <p:cNvPr id="10" name="Text 5"/>
          <p:cNvSpPr/>
          <p:nvPr/>
        </p:nvSpPr>
        <p:spPr>
          <a:xfrm>
            <a:off x="1337733" y="273718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Settings shows email verified status</a:t>
            </a:r>
            <a:endParaRPr lang="en-US" sz="1300" dirty="0"/>
          </a:p>
        </p:txBody>
      </p:sp>
      <p:pic>
        <p:nvPicPr>
          <p:cNvPr id="11" name="Image 3" descr="Check">    </p:cNvPr>
          <p:cNvPicPr>
            <a:picLocks noChangeAspect="1"/>
          </p:cNvPicPr>
          <p:nvPr/>
        </p:nvPicPr>
        <p:blipFill>
          <a:blip r:embed="rId4"/>
          <a:srcRect l="0" r="0" t="0" b="0"/>
          <a:stretch/>
        </p:blipFill>
        <p:spPr>
          <a:xfrm>
            <a:off x="1071033" y="3044503"/>
            <a:ext cx="177800" cy="177800"/>
          </a:xfrm>
          <a:prstGeom prst="rect">
            <a:avLst/>
          </a:prstGeom>
        </p:spPr>
      </p:pic>
      <p:sp>
        <p:nvSpPr>
          <p:cNvPr id="12" name="Text 6"/>
          <p:cNvSpPr/>
          <p:nvPr/>
        </p:nvSpPr>
        <p:spPr>
          <a:xfrm>
            <a:off x="1337733" y="3044503"/>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Password reset by an emailed link</a:t>
            </a:r>
            <a:endParaRPr lang="en-US" sz="1300" dirty="0"/>
          </a:p>
        </p:txBody>
      </p:sp>
      <p:pic>
        <p:nvPicPr>
          <p:cNvPr id="13" name="Image 4" descr="Check">    </p:cNvPr>
          <p:cNvPicPr>
            <a:picLocks noChangeAspect="1"/>
          </p:cNvPicPr>
          <p:nvPr/>
        </p:nvPicPr>
        <p:blipFill>
          <a:blip r:embed="rId5"/>
          <a:srcRect l="0" r="0" t="0" b="0"/>
          <a:stretch/>
        </p:blipFill>
        <p:spPr>
          <a:xfrm>
            <a:off x="1071033" y="3351808"/>
            <a:ext cx="177800" cy="177800"/>
          </a:xfrm>
          <a:prstGeom prst="rect">
            <a:avLst/>
          </a:prstGeom>
        </p:spPr>
      </p:pic>
      <p:sp>
        <p:nvSpPr>
          <p:cNvPr id="14" name="Text 7"/>
          <p:cNvSpPr/>
          <p:nvPr/>
        </p:nvSpPr>
        <p:spPr>
          <a:xfrm>
            <a:off x="1337733" y="3351808"/>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Google account link is shown in Settings</a:t>
            </a:r>
            <a:endParaRPr lang="en-US" sz="1300" dirty="0"/>
          </a:p>
        </p:txBody>
      </p:sp>
      <p:pic>
        <p:nvPicPr>
          <p:cNvPr id="15" name="Image 5" descr="Check">    </p:cNvPr>
          <p:cNvPicPr>
            <a:picLocks noChangeAspect="1"/>
          </p:cNvPicPr>
          <p:nvPr/>
        </p:nvPicPr>
        <p:blipFill>
          <a:blip r:embed="rId6"/>
          <a:srcRect l="0" r="0" t="0" b="0"/>
          <a:stretch/>
        </p:blipFill>
        <p:spPr>
          <a:xfrm>
            <a:off x="1071033" y="3659125"/>
            <a:ext cx="177800" cy="177800"/>
          </a:xfrm>
          <a:prstGeom prst="rect">
            <a:avLst/>
          </a:prstGeom>
        </p:spPr>
      </p:pic>
      <p:sp>
        <p:nvSpPr>
          <p:cNvPr id="16" name="Text 8"/>
          <p:cNvSpPr/>
          <p:nvPr/>
        </p:nvSpPr>
        <p:spPr>
          <a:xfrm>
            <a:off x="1337733" y="365912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Notifications are off until the user turns them on</a:t>
            </a:r>
            <a:endParaRPr lang="en-US" sz="1300" dirty="0"/>
          </a:p>
        </p:txBody>
      </p:sp>
      <p:pic>
        <p:nvPicPr>
          <p:cNvPr id="17" name="Image 6" descr="Check">    </p:cNvPr>
          <p:cNvPicPr>
            <a:picLocks noChangeAspect="1"/>
          </p:cNvPicPr>
          <p:nvPr/>
        </p:nvPicPr>
        <p:blipFill>
          <a:blip r:embed="rId7"/>
          <a:srcRect l="0" r="0" t="0" b="0"/>
          <a:stretch/>
        </p:blipFill>
        <p:spPr>
          <a:xfrm>
            <a:off x="1071033" y="3966443"/>
            <a:ext cx="177800" cy="177800"/>
          </a:xfrm>
          <a:prstGeom prst="rect">
            <a:avLst/>
          </a:prstGeom>
        </p:spPr>
      </p:pic>
      <p:sp>
        <p:nvSpPr>
          <p:cNvPr id="18" name="Text 9"/>
          <p:cNvSpPr/>
          <p:nvPr/>
        </p:nvSpPr>
        <p:spPr>
          <a:xfrm>
            <a:off x="1337733" y="3966443"/>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In-app help guide for customers and salons</a:t>
            </a:r>
            <a:endParaRPr lang="en-US" sz="1300" dirty="0"/>
          </a:p>
        </p:txBody>
      </p:sp>
      <p:sp>
        <p:nvSpPr>
          <p:cNvPr id="19" name="Shape 10"/>
          <p:cNvSpPr/>
          <p:nvPr/>
        </p:nvSpPr>
        <p:spPr>
          <a:xfrm>
            <a:off x="6200775" y="1466193"/>
            <a:ext cx="5175250" cy="2986418"/>
          </a:xfrm>
          <a:prstGeom prst="roundRect">
            <a:avLst>
              <a:gd name="adj" fmla="val 3296"/>
            </a:avLst>
          </a:prstGeom>
          <a:solidFill>
            <a:srgbClr val="FBFAF7"/>
          </a:solidFill>
          <a:ln w="6350">
            <a:solidFill>
              <a:srgbClr val="DDD9CE"/>
            </a:solidFill>
            <a:prstDash val="solid"/>
          </a:ln>
        </p:spPr>
      </p:sp>
      <p:sp>
        <p:nvSpPr>
          <p:cNvPr id="20" name="Text 11"/>
          <p:cNvSpPr/>
          <p:nvPr/>
        </p:nvSpPr>
        <p:spPr>
          <a:xfrm>
            <a:off x="64558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A5200"/>
                </a:solidFill>
                <a:latin typeface="Arial" pitchFamily="34" charset="0"/>
                <a:ea typeface="Arial" pitchFamily="34" charset="-122"/>
                <a:cs typeface="Arial" pitchFamily="34" charset="-120"/>
              </a:rPr>
              <a:t>Gaps found (2)</a:t>
            </a:r>
            <a:endParaRPr lang="en-US" sz="1800" dirty="0"/>
          </a:p>
        </p:txBody>
      </p:sp>
      <p:pic>
        <p:nvPicPr>
          <p:cNvPr id="21" name="Image 7" descr="Warning">    </p:cNvPr>
          <p:cNvPicPr>
            <a:picLocks noChangeAspect="1"/>
          </p:cNvPicPr>
          <p:nvPr/>
        </p:nvPicPr>
        <p:blipFill>
          <a:blip r:embed="rId8"/>
          <a:srcRect l="0" r="0" t="0" b="0"/>
          <a:stretch/>
        </p:blipFill>
        <p:spPr>
          <a:xfrm>
            <a:off x="6455833" y="2122562"/>
            <a:ext cx="177800" cy="177800"/>
          </a:xfrm>
          <a:prstGeom prst="rect">
            <a:avLst/>
          </a:prstGeom>
        </p:spPr>
      </p:pic>
      <p:sp>
        <p:nvSpPr>
          <p:cNvPr id="22" name="Text 12"/>
          <p:cNvSpPr/>
          <p:nvPr/>
        </p:nvSpPr>
        <p:spPr>
          <a:xfrm>
            <a:off x="6722534" y="2122562"/>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privacy policy link found inside the app</a:t>
            </a:r>
            <a:endParaRPr lang="en-US" sz="1300" dirty="0"/>
          </a:p>
        </p:txBody>
      </p:sp>
      <p:pic>
        <p:nvPicPr>
          <p:cNvPr id="23" name="Image 8" descr="Warning">    </p:cNvPr>
          <p:cNvPicPr>
            <a:picLocks noChangeAspect="1"/>
          </p:cNvPicPr>
          <p:nvPr/>
        </p:nvPicPr>
        <p:blipFill>
          <a:blip r:embed="rId9"/>
          <a:srcRect l="0" r="0" t="0" b="0"/>
          <a:stretch/>
        </p:blipFill>
        <p:spPr>
          <a:xfrm>
            <a:off x="6455833" y="2429867"/>
            <a:ext cx="177800" cy="177800"/>
          </a:xfrm>
          <a:prstGeom prst="rect">
            <a:avLst/>
          </a:prstGeom>
        </p:spPr>
      </p:pic>
      <p:sp>
        <p:nvSpPr>
          <p:cNvPr id="24" name="Text 13"/>
          <p:cNvSpPr/>
          <p:nvPr/>
        </p:nvSpPr>
        <p:spPr>
          <a:xfrm>
            <a:off x="6722534" y="2429867"/>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delete-account option in the app; deletion is by contacting HairMela</a:t>
            </a:r>
            <a:endParaRPr lang="en-US" sz="1300" dirty="0"/>
          </a:p>
        </p:txBody>
      </p:sp>
      <p:sp>
        <p:nvSpPr>
          <p:cNvPr id="25" name="Text 14"/>
          <p:cNvSpPr/>
          <p:nvPr/>
        </p:nvSpPr>
        <p:spPr>
          <a:xfrm>
            <a:off x="812800" y="46589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Observed on the assessor's own account in normal use. No testing was done.</a:t>
            </a:r>
            <a:endParaRPr lang="en-US" sz="1200" dirty="0"/>
          </a:p>
        </p:txBody>
      </p:sp>
      <p:sp>
        <p:nvSpPr>
          <p:cNvPr id="26"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Risk register (1 of 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874433"/>
        </p:xfrm>
        <a:graphic>
          <a:graphicData uri="http://schemas.openxmlformats.org/drawingml/2006/table">
            <a:tbl>
              <a:tblPr/>
              <a:tblGrid>
                <a:gridCol w="844296"/>
                <a:gridCol w="6754368"/>
                <a:gridCol w="2955036"/>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What could go wrong</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Related checklist controls</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Staff account taken over through weak or reused passwords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Phishing message tricks staff into giving access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PR-05, DE-02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Customer details shared on personal chats or phones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Shared accounts hide who did what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Former staff or contractors keep access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PR-03, PR-04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Lost or stolen unlocked device exposes data</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R-07</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Breach not noticed, recorded or reported in time</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RS-01, RS-02, RS-03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55334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Starting list from common risks for a booking platform, adjusted using what the audit found. Scoring comes next.</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Risk register (2 of 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874433"/>
        </p:xfrm>
        <a:graphic>
          <a:graphicData uri="http://schemas.openxmlformats.org/drawingml/2006/table">
            <a:tbl>
              <a:tblPr/>
              <a:tblGrid>
                <a:gridCol w="844296"/>
                <a:gridCol w="6754368"/>
                <a:gridCol w="2955036"/>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What could go wrong</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Related checklist controls</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Customer request to see, fix or delete data mishandled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NP-03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R-09</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Vendor mishandles data, no written agreement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GV-03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R-10</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Data lost because backups were never tested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RC-01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Data kept far longer than needed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PR-07</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Untrained staff do not know what to do in an incident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PR-05, RS-01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Consent and privacy policy not clearly shown at sign-up</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NP-01, NP-02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Work on public Wi-Fi exposes data</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PR-09</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55334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Starting list from common risks for a booking platform, adjusted using what the audit found. Scoring comes next.</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Risk matrix: Likelihood × Impact</a:t>
            </a:r>
            <a:endParaRPr lang="en-US" sz="3200" dirty="0"/>
          </a:p>
        </p:txBody>
      </p:sp>
      <p:sp>
        <p:nvSpPr>
          <p:cNvPr id="3" name="Text 1"/>
          <p:cNvSpPr/>
          <p:nvPr/>
        </p:nvSpPr>
        <p:spPr>
          <a:xfrm>
            <a:off x="1373505" y="1676338"/>
            <a:ext cx="82359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Arial" pitchFamily="34" charset="0"/>
                <a:ea typeface="Arial" pitchFamily="34" charset="-122"/>
                <a:cs typeface="Arial" pitchFamily="34" charset="-120"/>
              </a:rPr>
              <a:t>Likelihood</a:t>
            </a:r>
            <a:endParaRPr lang="en-US" sz="1200" dirty="0"/>
          </a:p>
        </p:txBody>
      </p:sp>
      <p:sp>
        <p:nvSpPr>
          <p:cNvPr id="4" name="Text 2"/>
          <p:cNvSpPr/>
          <p:nvPr/>
        </p:nvSpPr>
        <p:spPr>
          <a:xfrm>
            <a:off x="2738901" y="14630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A33"/>
                </a:solidFill>
                <a:latin typeface="Arial" pitchFamily="34" charset="0"/>
                <a:ea typeface="Arial" pitchFamily="34" charset="-122"/>
                <a:cs typeface="Arial" pitchFamily="34" charset="-120"/>
              </a:rPr>
              <a:t>1</a:t>
            </a:r>
            <a:endParaRPr lang="en-US" sz="1200" dirty="0"/>
          </a:p>
        </p:txBody>
      </p:sp>
      <p:sp>
        <p:nvSpPr>
          <p:cNvPr id="5" name="Text 3"/>
          <p:cNvSpPr/>
          <p:nvPr/>
        </p:nvSpPr>
        <p:spPr>
          <a:xfrm>
            <a:off x="2405069" y="1676338"/>
            <a:ext cx="80319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Negligible</a:t>
            </a:r>
            <a:endParaRPr lang="en-US" sz="1200" dirty="0"/>
          </a:p>
        </p:txBody>
      </p:sp>
      <p:sp>
        <p:nvSpPr>
          <p:cNvPr id="6" name="Text 4"/>
          <p:cNvSpPr/>
          <p:nvPr/>
        </p:nvSpPr>
        <p:spPr>
          <a:xfrm>
            <a:off x="3767601" y="14630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A33"/>
                </a:solidFill>
                <a:latin typeface="Arial" pitchFamily="34" charset="0"/>
                <a:ea typeface="Arial" pitchFamily="34" charset="-122"/>
                <a:cs typeface="Arial" pitchFamily="34" charset="-120"/>
              </a:rPr>
              <a:t>2</a:t>
            </a:r>
            <a:endParaRPr lang="en-US" sz="1200" dirty="0"/>
          </a:p>
        </p:txBody>
      </p:sp>
      <p:sp>
        <p:nvSpPr>
          <p:cNvPr id="7" name="Text 5"/>
          <p:cNvSpPr/>
          <p:nvPr/>
        </p:nvSpPr>
        <p:spPr>
          <a:xfrm>
            <a:off x="3606721" y="1676338"/>
            <a:ext cx="45735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Minor</a:t>
            </a:r>
            <a:endParaRPr lang="en-US" sz="1200" dirty="0"/>
          </a:p>
        </p:txBody>
      </p:sp>
      <p:sp>
        <p:nvSpPr>
          <p:cNvPr id="8" name="Text 6"/>
          <p:cNvSpPr/>
          <p:nvPr/>
        </p:nvSpPr>
        <p:spPr>
          <a:xfrm>
            <a:off x="4796301" y="14630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A33"/>
                </a:solidFill>
                <a:latin typeface="Arial" pitchFamily="34" charset="0"/>
                <a:ea typeface="Arial" pitchFamily="34" charset="-122"/>
                <a:cs typeface="Arial" pitchFamily="34" charset="-120"/>
              </a:rPr>
              <a:t>3</a:t>
            </a:r>
            <a:endParaRPr lang="en-US" sz="1200" dirty="0"/>
          </a:p>
        </p:txBody>
      </p:sp>
      <p:sp>
        <p:nvSpPr>
          <p:cNvPr id="9" name="Text 7"/>
          <p:cNvSpPr/>
          <p:nvPr/>
        </p:nvSpPr>
        <p:spPr>
          <a:xfrm>
            <a:off x="4477782" y="1676338"/>
            <a:ext cx="77263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Moderate</a:t>
            </a:r>
            <a:endParaRPr lang="en-US" sz="1200" dirty="0"/>
          </a:p>
        </p:txBody>
      </p:sp>
      <p:sp>
        <p:nvSpPr>
          <p:cNvPr id="10" name="Text 8"/>
          <p:cNvSpPr/>
          <p:nvPr/>
        </p:nvSpPr>
        <p:spPr>
          <a:xfrm>
            <a:off x="5825001" y="14630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A33"/>
                </a:solidFill>
                <a:latin typeface="Arial" pitchFamily="34" charset="0"/>
                <a:ea typeface="Arial" pitchFamily="34" charset="-122"/>
                <a:cs typeface="Arial" pitchFamily="34" charset="-120"/>
              </a:rPr>
              <a:t>4</a:t>
            </a:r>
            <a:endParaRPr lang="en-US" sz="1200" dirty="0"/>
          </a:p>
        </p:txBody>
      </p:sp>
      <p:sp>
        <p:nvSpPr>
          <p:cNvPr id="11" name="Text 9"/>
          <p:cNvSpPr/>
          <p:nvPr/>
        </p:nvSpPr>
        <p:spPr>
          <a:xfrm>
            <a:off x="5664121" y="1676338"/>
            <a:ext cx="45735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Major</a:t>
            </a:r>
            <a:endParaRPr lang="en-US" sz="1200" dirty="0"/>
          </a:p>
        </p:txBody>
      </p:sp>
      <p:sp>
        <p:nvSpPr>
          <p:cNvPr id="12" name="Text 10"/>
          <p:cNvSpPr/>
          <p:nvPr/>
        </p:nvSpPr>
        <p:spPr>
          <a:xfrm>
            <a:off x="6853701" y="1463018"/>
            <a:ext cx="13559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21A33"/>
                </a:solidFill>
                <a:latin typeface="Arial" pitchFamily="34" charset="0"/>
                <a:ea typeface="Arial" pitchFamily="34" charset="-122"/>
                <a:cs typeface="Arial" pitchFamily="34" charset="-120"/>
              </a:rPr>
              <a:t>5</a:t>
            </a:r>
            <a:endParaRPr lang="en-US" sz="1200" dirty="0"/>
          </a:p>
        </p:txBody>
      </p:sp>
      <p:sp>
        <p:nvSpPr>
          <p:cNvPr id="13" name="Text 11"/>
          <p:cNvSpPr/>
          <p:nvPr/>
        </p:nvSpPr>
        <p:spPr>
          <a:xfrm>
            <a:off x="6631708" y="1676338"/>
            <a:ext cx="57951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Severe</a:t>
            </a:r>
            <a:endParaRPr lang="en-US" sz="1200" dirty="0"/>
          </a:p>
        </p:txBody>
      </p:sp>
      <p:sp>
        <p:nvSpPr>
          <p:cNvPr id="14" name="Text 12"/>
          <p:cNvSpPr/>
          <p:nvPr/>
        </p:nvSpPr>
        <p:spPr>
          <a:xfrm>
            <a:off x="2061501" y="2019238"/>
            <a:ext cx="13559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21A33"/>
                </a:solidFill>
                <a:latin typeface="Arial" pitchFamily="34" charset="0"/>
                <a:ea typeface="Arial" pitchFamily="34" charset="-122"/>
                <a:cs typeface="Arial" pitchFamily="34" charset="-120"/>
              </a:rPr>
              <a:t>5</a:t>
            </a:r>
            <a:endParaRPr lang="en-US" sz="1200" dirty="0"/>
          </a:p>
        </p:txBody>
      </p:sp>
      <p:sp>
        <p:nvSpPr>
          <p:cNvPr id="15" name="Text 13"/>
          <p:cNvSpPr/>
          <p:nvPr/>
        </p:nvSpPr>
        <p:spPr>
          <a:xfrm>
            <a:off x="1038463" y="2232558"/>
            <a:ext cx="11586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A33"/>
                </a:solidFill>
                <a:latin typeface="Arial" pitchFamily="34" charset="0"/>
                <a:ea typeface="Arial" pitchFamily="34" charset="-122"/>
                <a:cs typeface="Arial" pitchFamily="34" charset="-120"/>
              </a:rPr>
              <a:t>Almost certain</a:t>
            </a:r>
            <a:endParaRPr lang="en-US" sz="1200" dirty="0"/>
          </a:p>
        </p:txBody>
      </p:sp>
      <p:sp>
        <p:nvSpPr>
          <p:cNvPr id="16" name="Text 14"/>
          <p:cNvSpPr/>
          <p:nvPr/>
        </p:nvSpPr>
        <p:spPr>
          <a:xfrm>
            <a:off x="2311400" y="1927758"/>
            <a:ext cx="990600" cy="609600"/>
          </a:xfrm>
          <a:prstGeom prst="roundRect">
            <a:avLst>
              <a:gd name="adj" fmla="val 10417"/>
            </a:avLst>
          </a:prstGeom>
          <a:solidFill>
            <a:srgbClr val="FFE08A"/>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5</a:t>
            </a:r>
            <a:endParaRPr lang="en-US" sz="1200" dirty="0"/>
          </a:p>
        </p:txBody>
      </p:sp>
      <p:sp>
        <p:nvSpPr>
          <p:cNvPr id="17" name="Text 15"/>
          <p:cNvSpPr/>
          <p:nvPr/>
        </p:nvSpPr>
        <p:spPr>
          <a:xfrm>
            <a:off x="3340100" y="1927758"/>
            <a:ext cx="990600" cy="609600"/>
          </a:xfrm>
          <a:prstGeom prst="roundRect">
            <a:avLst>
              <a:gd name="adj" fmla="val 10417"/>
            </a:avLst>
          </a:prstGeom>
          <a:solidFill>
            <a:srgbClr val="F4A259"/>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10</a:t>
            </a:r>
            <a:endParaRPr lang="en-US" sz="1200" dirty="0"/>
          </a:p>
        </p:txBody>
      </p:sp>
      <p:sp>
        <p:nvSpPr>
          <p:cNvPr id="18" name="Text 16"/>
          <p:cNvSpPr/>
          <p:nvPr/>
        </p:nvSpPr>
        <p:spPr>
          <a:xfrm>
            <a:off x="4368800" y="1927758"/>
            <a:ext cx="990600" cy="609600"/>
          </a:xfrm>
          <a:prstGeom prst="roundRect">
            <a:avLst>
              <a:gd name="adj" fmla="val 10417"/>
            </a:avLst>
          </a:prstGeom>
          <a:solidFill>
            <a:srgbClr val="F4A259"/>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15</a:t>
            </a:r>
            <a:endParaRPr lang="en-US" sz="1200" dirty="0"/>
          </a:p>
        </p:txBody>
      </p:sp>
      <p:sp>
        <p:nvSpPr>
          <p:cNvPr id="19" name="Text 17"/>
          <p:cNvSpPr/>
          <p:nvPr/>
        </p:nvSpPr>
        <p:spPr>
          <a:xfrm>
            <a:off x="5397500" y="1927758"/>
            <a:ext cx="990600" cy="609600"/>
          </a:xfrm>
          <a:prstGeom prst="roundRect">
            <a:avLst>
              <a:gd name="adj" fmla="val 10417"/>
            </a:avLst>
          </a:prstGeom>
          <a:solidFill>
            <a:srgbClr val="C0392B"/>
          </a:solidFill>
          <a:ln/>
        </p:spPr>
        <p:txBody>
          <a:bodyPr wrap="square" lIns="57601" tIns="32201" rIns="6801" bIns="32201"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20</a:t>
            </a:r>
            <a:endParaRPr lang="en-US" sz="1200" dirty="0"/>
          </a:p>
        </p:txBody>
      </p:sp>
      <p:sp>
        <p:nvSpPr>
          <p:cNvPr id="20" name="Text 18"/>
          <p:cNvSpPr/>
          <p:nvPr/>
        </p:nvSpPr>
        <p:spPr>
          <a:xfrm>
            <a:off x="6426200" y="1927758"/>
            <a:ext cx="990600" cy="609600"/>
          </a:xfrm>
          <a:prstGeom prst="roundRect">
            <a:avLst>
              <a:gd name="adj" fmla="val 10417"/>
            </a:avLst>
          </a:prstGeom>
          <a:solidFill>
            <a:srgbClr val="C0392B"/>
          </a:solidFill>
          <a:ln/>
        </p:spPr>
        <p:txBody>
          <a:bodyPr wrap="square" lIns="57601" tIns="32201" rIns="6801" bIns="32201"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25</a:t>
            </a:r>
            <a:endParaRPr lang="en-US" sz="1200" dirty="0"/>
          </a:p>
        </p:txBody>
      </p:sp>
      <p:sp>
        <p:nvSpPr>
          <p:cNvPr id="21" name="Text 19"/>
          <p:cNvSpPr/>
          <p:nvPr/>
        </p:nvSpPr>
        <p:spPr>
          <a:xfrm>
            <a:off x="2061501" y="2666938"/>
            <a:ext cx="13559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21A33"/>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1729502" y="2880258"/>
            <a:ext cx="46759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A33"/>
                </a:solidFill>
                <a:latin typeface="Arial" pitchFamily="34" charset="0"/>
                <a:ea typeface="Arial" pitchFamily="34" charset="-122"/>
                <a:cs typeface="Arial" pitchFamily="34" charset="-120"/>
              </a:rPr>
              <a:t>Likely</a:t>
            </a:r>
            <a:endParaRPr lang="en-US" sz="1200" dirty="0"/>
          </a:p>
        </p:txBody>
      </p:sp>
      <p:sp>
        <p:nvSpPr>
          <p:cNvPr id="23" name="Text 21"/>
          <p:cNvSpPr/>
          <p:nvPr/>
        </p:nvSpPr>
        <p:spPr>
          <a:xfrm>
            <a:off x="2311400" y="2575458"/>
            <a:ext cx="990600" cy="609600"/>
          </a:xfrm>
          <a:prstGeom prst="roundRect">
            <a:avLst>
              <a:gd name="adj" fmla="val 10417"/>
            </a:avLst>
          </a:prstGeom>
          <a:solidFill>
            <a:srgbClr val="B7E1A1"/>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4</a:t>
            </a:r>
            <a:endParaRPr lang="en-US" sz="1200" dirty="0"/>
          </a:p>
        </p:txBody>
      </p:sp>
      <p:sp>
        <p:nvSpPr>
          <p:cNvPr id="24" name="Text 22"/>
          <p:cNvSpPr/>
          <p:nvPr/>
        </p:nvSpPr>
        <p:spPr>
          <a:xfrm>
            <a:off x="3340100" y="2575458"/>
            <a:ext cx="990600" cy="609600"/>
          </a:xfrm>
          <a:prstGeom prst="roundRect">
            <a:avLst>
              <a:gd name="adj" fmla="val 10417"/>
            </a:avLst>
          </a:prstGeom>
          <a:solidFill>
            <a:srgbClr val="FFE08A"/>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8</a:t>
            </a:r>
            <a:endParaRPr lang="en-US" sz="1200" dirty="0"/>
          </a:p>
        </p:txBody>
      </p:sp>
      <p:sp>
        <p:nvSpPr>
          <p:cNvPr id="25" name="Text 23"/>
          <p:cNvSpPr/>
          <p:nvPr/>
        </p:nvSpPr>
        <p:spPr>
          <a:xfrm>
            <a:off x="4368800" y="2575458"/>
            <a:ext cx="990600" cy="609600"/>
          </a:xfrm>
          <a:prstGeom prst="roundRect">
            <a:avLst>
              <a:gd name="adj" fmla="val 10417"/>
            </a:avLst>
          </a:prstGeom>
          <a:solidFill>
            <a:srgbClr val="F4A259"/>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12</a:t>
            </a:r>
            <a:endParaRPr lang="en-US" sz="1200" dirty="0"/>
          </a:p>
        </p:txBody>
      </p:sp>
      <p:sp>
        <p:nvSpPr>
          <p:cNvPr id="26" name="Text 24"/>
          <p:cNvSpPr/>
          <p:nvPr/>
        </p:nvSpPr>
        <p:spPr>
          <a:xfrm>
            <a:off x="5397500" y="2575458"/>
            <a:ext cx="990600" cy="609600"/>
          </a:xfrm>
          <a:prstGeom prst="roundRect">
            <a:avLst>
              <a:gd name="adj" fmla="val 10417"/>
            </a:avLst>
          </a:prstGeom>
          <a:solidFill>
            <a:srgbClr val="C0392B"/>
          </a:solidFill>
          <a:ln/>
        </p:spPr>
        <p:txBody>
          <a:bodyPr wrap="square" lIns="57601" tIns="32201" rIns="6801" bIns="32201"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16</a:t>
            </a:r>
            <a:endParaRPr lang="en-US" sz="1200" dirty="0"/>
          </a:p>
        </p:txBody>
      </p:sp>
      <p:sp>
        <p:nvSpPr>
          <p:cNvPr id="27" name="Text 25"/>
          <p:cNvSpPr/>
          <p:nvPr/>
        </p:nvSpPr>
        <p:spPr>
          <a:xfrm>
            <a:off x="6426200" y="2575458"/>
            <a:ext cx="990600" cy="609600"/>
          </a:xfrm>
          <a:prstGeom prst="roundRect">
            <a:avLst>
              <a:gd name="adj" fmla="val 10417"/>
            </a:avLst>
          </a:prstGeom>
          <a:solidFill>
            <a:srgbClr val="C0392B"/>
          </a:solidFill>
          <a:ln/>
        </p:spPr>
        <p:txBody>
          <a:bodyPr wrap="square" lIns="57601" tIns="32201" rIns="6801" bIns="32201"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20</a:t>
            </a:r>
            <a:endParaRPr lang="en-US" sz="1200" dirty="0"/>
          </a:p>
        </p:txBody>
      </p:sp>
      <p:sp>
        <p:nvSpPr>
          <p:cNvPr id="28" name="Text 26"/>
          <p:cNvSpPr/>
          <p:nvPr/>
        </p:nvSpPr>
        <p:spPr>
          <a:xfrm>
            <a:off x="2061501" y="3314638"/>
            <a:ext cx="13559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21A33"/>
                </a:solidFill>
                <a:latin typeface="Arial" pitchFamily="34" charset="0"/>
                <a:ea typeface="Arial" pitchFamily="34" charset="-122"/>
                <a:cs typeface="Arial" pitchFamily="34" charset="-120"/>
              </a:rPr>
              <a:t>3</a:t>
            </a:r>
            <a:endParaRPr lang="en-US" sz="1200" dirty="0"/>
          </a:p>
        </p:txBody>
      </p:sp>
      <p:sp>
        <p:nvSpPr>
          <p:cNvPr id="29" name="Text 27"/>
          <p:cNvSpPr/>
          <p:nvPr/>
        </p:nvSpPr>
        <p:spPr>
          <a:xfrm>
            <a:off x="1505823" y="3527958"/>
            <a:ext cx="69127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A33"/>
                </a:solidFill>
                <a:latin typeface="Arial" pitchFamily="34" charset="0"/>
                <a:ea typeface="Arial" pitchFamily="34" charset="-122"/>
                <a:cs typeface="Arial" pitchFamily="34" charset="-120"/>
              </a:rPr>
              <a:t>Possible</a:t>
            </a:r>
            <a:endParaRPr lang="en-US" sz="1200" dirty="0"/>
          </a:p>
        </p:txBody>
      </p:sp>
      <p:sp>
        <p:nvSpPr>
          <p:cNvPr id="30" name="Text 28"/>
          <p:cNvSpPr/>
          <p:nvPr/>
        </p:nvSpPr>
        <p:spPr>
          <a:xfrm>
            <a:off x="2311400" y="3223158"/>
            <a:ext cx="990600" cy="609600"/>
          </a:xfrm>
          <a:prstGeom prst="roundRect">
            <a:avLst>
              <a:gd name="adj" fmla="val 10417"/>
            </a:avLst>
          </a:prstGeom>
          <a:solidFill>
            <a:srgbClr val="B7E1A1"/>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3</a:t>
            </a:r>
            <a:endParaRPr lang="en-US" sz="1200" dirty="0"/>
          </a:p>
        </p:txBody>
      </p:sp>
      <p:sp>
        <p:nvSpPr>
          <p:cNvPr id="31" name="Text 29"/>
          <p:cNvSpPr/>
          <p:nvPr/>
        </p:nvSpPr>
        <p:spPr>
          <a:xfrm>
            <a:off x="3340100" y="3223158"/>
            <a:ext cx="990600" cy="609600"/>
          </a:xfrm>
          <a:prstGeom prst="roundRect">
            <a:avLst>
              <a:gd name="adj" fmla="val 10417"/>
            </a:avLst>
          </a:prstGeom>
          <a:solidFill>
            <a:srgbClr val="FFE08A"/>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6</a:t>
            </a:r>
            <a:endParaRPr lang="en-US" sz="1200" dirty="0"/>
          </a:p>
        </p:txBody>
      </p:sp>
      <p:sp>
        <p:nvSpPr>
          <p:cNvPr id="32" name="Shape 30"/>
          <p:cNvSpPr/>
          <p:nvPr/>
        </p:nvSpPr>
        <p:spPr>
          <a:xfrm>
            <a:off x="4368800" y="3223158"/>
            <a:ext cx="990600" cy="609600"/>
          </a:xfrm>
          <a:prstGeom prst="roundRect">
            <a:avLst>
              <a:gd name="adj" fmla="val 10417"/>
            </a:avLst>
          </a:prstGeom>
          <a:solidFill>
            <a:srgbClr val="FFE08A"/>
          </a:solidFill>
          <a:ln/>
        </p:spPr>
      </p:sp>
      <p:sp>
        <p:nvSpPr>
          <p:cNvPr id="33" name="Text 31"/>
          <p:cNvSpPr/>
          <p:nvPr/>
        </p:nvSpPr>
        <p:spPr>
          <a:xfrm>
            <a:off x="4445000" y="3273958"/>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9</a:t>
            </a:r>
            <a:endParaRPr lang="en-US" sz="1200" dirty="0"/>
          </a:p>
        </p:txBody>
      </p:sp>
      <p:sp>
        <p:nvSpPr>
          <p:cNvPr id="34" name="Text 32"/>
          <p:cNvSpPr/>
          <p:nvPr/>
        </p:nvSpPr>
        <p:spPr>
          <a:xfrm>
            <a:off x="4445000" y="3487279"/>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R-13 R-14</a:t>
            </a:r>
            <a:endParaRPr lang="en-US" sz="1200" dirty="0"/>
          </a:p>
        </p:txBody>
      </p:sp>
      <p:sp>
        <p:nvSpPr>
          <p:cNvPr id="35" name="Text 33"/>
          <p:cNvSpPr/>
          <p:nvPr/>
        </p:nvSpPr>
        <p:spPr>
          <a:xfrm>
            <a:off x="5397500" y="3223158"/>
            <a:ext cx="990600" cy="609600"/>
          </a:xfrm>
          <a:prstGeom prst="roundRect">
            <a:avLst>
              <a:gd name="adj" fmla="val 10417"/>
            </a:avLst>
          </a:prstGeom>
          <a:solidFill>
            <a:srgbClr val="F4A259"/>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12</a:t>
            </a:r>
            <a:endParaRPr lang="en-US" sz="1200" dirty="0"/>
          </a:p>
        </p:txBody>
      </p:sp>
      <p:sp>
        <p:nvSpPr>
          <p:cNvPr id="36" name="Text 34"/>
          <p:cNvSpPr/>
          <p:nvPr/>
        </p:nvSpPr>
        <p:spPr>
          <a:xfrm>
            <a:off x="6426200" y="3223158"/>
            <a:ext cx="990600" cy="609600"/>
          </a:xfrm>
          <a:prstGeom prst="roundRect">
            <a:avLst>
              <a:gd name="adj" fmla="val 10417"/>
            </a:avLst>
          </a:prstGeom>
          <a:solidFill>
            <a:srgbClr val="F4A259"/>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15</a:t>
            </a:r>
            <a:endParaRPr lang="en-US" sz="1200" dirty="0"/>
          </a:p>
        </p:txBody>
      </p:sp>
      <p:sp>
        <p:nvSpPr>
          <p:cNvPr id="37" name="Text 35"/>
          <p:cNvSpPr/>
          <p:nvPr/>
        </p:nvSpPr>
        <p:spPr>
          <a:xfrm>
            <a:off x="2061501" y="4028281"/>
            <a:ext cx="13559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21A33"/>
                </a:solidFill>
                <a:latin typeface="Arial" pitchFamily="34" charset="0"/>
                <a:ea typeface="Arial" pitchFamily="34" charset="-122"/>
                <a:cs typeface="Arial" pitchFamily="34" charset="-120"/>
              </a:rPr>
              <a:t>2</a:t>
            </a:r>
            <a:endParaRPr lang="en-US" sz="1200" dirty="0"/>
          </a:p>
        </p:txBody>
      </p:sp>
      <p:sp>
        <p:nvSpPr>
          <p:cNvPr id="38" name="Text 36"/>
          <p:cNvSpPr/>
          <p:nvPr/>
        </p:nvSpPr>
        <p:spPr>
          <a:xfrm>
            <a:off x="1556782" y="4241602"/>
            <a:ext cx="6403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A33"/>
                </a:solidFill>
                <a:latin typeface="Arial" pitchFamily="34" charset="0"/>
                <a:ea typeface="Arial" pitchFamily="34" charset="-122"/>
                <a:cs typeface="Arial" pitchFamily="34" charset="-120"/>
              </a:rPr>
              <a:t>Unlikely</a:t>
            </a:r>
            <a:endParaRPr lang="en-US" sz="1200" dirty="0"/>
          </a:p>
        </p:txBody>
      </p:sp>
      <p:sp>
        <p:nvSpPr>
          <p:cNvPr id="39" name="Text 37"/>
          <p:cNvSpPr/>
          <p:nvPr/>
        </p:nvSpPr>
        <p:spPr>
          <a:xfrm>
            <a:off x="2311400" y="3870858"/>
            <a:ext cx="990600" cy="741561"/>
          </a:xfrm>
          <a:prstGeom prst="roundRect">
            <a:avLst>
              <a:gd name="adj" fmla="val 8563"/>
            </a:avLst>
          </a:prstGeom>
          <a:solidFill>
            <a:srgbClr val="B7E1A1"/>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2</a:t>
            </a:r>
            <a:endParaRPr lang="en-US" sz="1200" dirty="0"/>
          </a:p>
        </p:txBody>
      </p:sp>
      <p:sp>
        <p:nvSpPr>
          <p:cNvPr id="40" name="Shape 38"/>
          <p:cNvSpPr/>
          <p:nvPr/>
        </p:nvSpPr>
        <p:spPr>
          <a:xfrm>
            <a:off x="3340100" y="3870858"/>
            <a:ext cx="990600" cy="741561"/>
          </a:xfrm>
          <a:prstGeom prst="roundRect">
            <a:avLst>
              <a:gd name="adj" fmla="val 8563"/>
            </a:avLst>
          </a:prstGeom>
          <a:solidFill>
            <a:srgbClr val="B7E1A1"/>
          </a:solidFill>
          <a:ln/>
        </p:spPr>
      </p:sp>
      <p:sp>
        <p:nvSpPr>
          <p:cNvPr id="41" name="Text 39"/>
          <p:cNvSpPr/>
          <p:nvPr/>
        </p:nvSpPr>
        <p:spPr>
          <a:xfrm>
            <a:off x="3416300" y="3921658"/>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4</a:t>
            </a:r>
            <a:endParaRPr lang="en-US" sz="1200" dirty="0"/>
          </a:p>
        </p:txBody>
      </p:sp>
      <p:sp>
        <p:nvSpPr>
          <p:cNvPr id="42" name="Text 40"/>
          <p:cNvSpPr/>
          <p:nvPr/>
        </p:nvSpPr>
        <p:spPr>
          <a:xfrm>
            <a:off x="3416300" y="4134979"/>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R-11</a:t>
            </a:r>
            <a:endParaRPr lang="en-US" sz="1200" dirty="0"/>
          </a:p>
        </p:txBody>
      </p:sp>
      <p:sp>
        <p:nvSpPr>
          <p:cNvPr id="43" name="Shape 41"/>
          <p:cNvSpPr/>
          <p:nvPr/>
        </p:nvSpPr>
        <p:spPr>
          <a:xfrm>
            <a:off x="4368800" y="3870858"/>
            <a:ext cx="990600" cy="741561"/>
          </a:xfrm>
          <a:prstGeom prst="roundRect">
            <a:avLst>
              <a:gd name="adj" fmla="val 8563"/>
            </a:avLst>
          </a:prstGeom>
          <a:solidFill>
            <a:srgbClr val="FFE08A"/>
          </a:solidFill>
          <a:ln/>
        </p:spPr>
      </p:sp>
      <p:sp>
        <p:nvSpPr>
          <p:cNvPr id="44" name="Text 42"/>
          <p:cNvSpPr/>
          <p:nvPr/>
        </p:nvSpPr>
        <p:spPr>
          <a:xfrm>
            <a:off x="4445000" y="3921658"/>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6</a:t>
            </a:r>
            <a:endParaRPr lang="en-US" sz="1200" dirty="0"/>
          </a:p>
        </p:txBody>
      </p:sp>
      <p:sp>
        <p:nvSpPr>
          <p:cNvPr id="45" name="Text 43"/>
          <p:cNvSpPr/>
          <p:nvPr/>
        </p:nvSpPr>
        <p:spPr>
          <a:xfrm>
            <a:off x="4445000" y="4134979"/>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R-08 R-12</a:t>
            </a:r>
            <a:endParaRPr lang="en-US" sz="1200" dirty="0"/>
          </a:p>
        </p:txBody>
      </p:sp>
      <p:sp>
        <p:nvSpPr>
          <p:cNvPr id="46" name="Shape 44"/>
          <p:cNvSpPr/>
          <p:nvPr/>
        </p:nvSpPr>
        <p:spPr>
          <a:xfrm>
            <a:off x="5397500" y="3870858"/>
            <a:ext cx="990600" cy="741561"/>
          </a:xfrm>
          <a:prstGeom prst="roundRect">
            <a:avLst>
              <a:gd name="adj" fmla="val 8563"/>
            </a:avLst>
          </a:prstGeom>
          <a:solidFill>
            <a:srgbClr val="FFE08A"/>
          </a:solidFill>
          <a:ln/>
        </p:spPr>
      </p:sp>
      <p:sp>
        <p:nvSpPr>
          <p:cNvPr id="47" name="Text 45"/>
          <p:cNvSpPr/>
          <p:nvPr/>
        </p:nvSpPr>
        <p:spPr>
          <a:xfrm>
            <a:off x="5473700" y="3921658"/>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8</a:t>
            </a:r>
            <a:endParaRPr lang="en-US" sz="1200" dirty="0"/>
          </a:p>
        </p:txBody>
      </p:sp>
      <p:sp>
        <p:nvSpPr>
          <p:cNvPr id="48" name="Text 46"/>
          <p:cNvSpPr/>
          <p:nvPr/>
        </p:nvSpPr>
        <p:spPr>
          <a:xfrm>
            <a:off x="5473700" y="4134979"/>
            <a:ext cx="8890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R-01 R-02 R-09</a:t>
            </a:r>
            <a:endParaRPr lang="en-US" sz="1200" dirty="0"/>
          </a:p>
        </p:txBody>
      </p:sp>
      <p:sp>
        <p:nvSpPr>
          <p:cNvPr id="49" name="Shape 47"/>
          <p:cNvSpPr/>
          <p:nvPr/>
        </p:nvSpPr>
        <p:spPr>
          <a:xfrm>
            <a:off x="6426200" y="3870858"/>
            <a:ext cx="990600" cy="741561"/>
          </a:xfrm>
          <a:prstGeom prst="roundRect">
            <a:avLst>
              <a:gd name="adj" fmla="val 8563"/>
            </a:avLst>
          </a:prstGeom>
          <a:solidFill>
            <a:srgbClr val="F4A259"/>
          </a:solidFill>
          <a:ln/>
        </p:spPr>
      </p:sp>
      <p:sp>
        <p:nvSpPr>
          <p:cNvPr id="50" name="Text 48"/>
          <p:cNvSpPr/>
          <p:nvPr/>
        </p:nvSpPr>
        <p:spPr>
          <a:xfrm>
            <a:off x="6502400" y="3921658"/>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10</a:t>
            </a:r>
            <a:endParaRPr lang="en-US" sz="1200" dirty="0"/>
          </a:p>
        </p:txBody>
      </p:sp>
      <p:sp>
        <p:nvSpPr>
          <p:cNvPr id="51" name="Text 49"/>
          <p:cNvSpPr/>
          <p:nvPr/>
        </p:nvSpPr>
        <p:spPr>
          <a:xfrm>
            <a:off x="6502400" y="4134979"/>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R-07</a:t>
            </a:r>
            <a:endParaRPr lang="en-US" sz="1200" dirty="0"/>
          </a:p>
        </p:txBody>
      </p:sp>
      <p:sp>
        <p:nvSpPr>
          <p:cNvPr id="52" name="Text 50"/>
          <p:cNvSpPr/>
          <p:nvPr/>
        </p:nvSpPr>
        <p:spPr>
          <a:xfrm>
            <a:off x="2061501" y="4741999"/>
            <a:ext cx="13559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21A33"/>
                </a:solidFill>
                <a:latin typeface="Arial" pitchFamily="34" charset="0"/>
                <a:ea typeface="Arial" pitchFamily="34" charset="-122"/>
                <a:cs typeface="Arial" pitchFamily="34" charset="-120"/>
              </a:rPr>
              <a:t>1</a:t>
            </a:r>
            <a:endParaRPr lang="en-US" sz="1200" dirty="0"/>
          </a:p>
        </p:txBody>
      </p:sp>
      <p:sp>
        <p:nvSpPr>
          <p:cNvPr id="53" name="Text 51"/>
          <p:cNvSpPr/>
          <p:nvPr/>
        </p:nvSpPr>
        <p:spPr>
          <a:xfrm>
            <a:off x="1800701" y="4955319"/>
            <a:ext cx="39639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A33"/>
                </a:solidFill>
                <a:latin typeface="Arial" pitchFamily="34" charset="0"/>
                <a:ea typeface="Arial" pitchFamily="34" charset="-122"/>
                <a:cs typeface="Arial" pitchFamily="34" charset="-120"/>
              </a:rPr>
              <a:t>Rare</a:t>
            </a:r>
            <a:endParaRPr lang="en-US" sz="1200" dirty="0"/>
          </a:p>
        </p:txBody>
      </p:sp>
      <p:sp>
        <p:nvSpPr>
          <p:cNvPr id="54" name="Text 52"/>
          <p:cNvSpPr/>
          <p:nvPr/>
        </p:nvSpPr>
        <p:spPr>
          <a:xfrm>
            <a:off x="2311400" y="4650519"/>
            <a:ext cx="990600" cy="609600"/>
          </a:xfrm>
          <a:prstGeom prst="roundRect">
            <a:avLst>
              <a:gd name="adj" fmla="val 10417"/>
            </a:avLst>
          </a:prstGeom>
          <a:solidFill>
            <a:srgbClr val="B7E1A1"/>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1</a:t>
            </a:r>
            <a:endParaRPr lang="en-US" sz="1200" dirty="0"/>
          </a:p>
        </p:txBody>
      </p:sp>
      <p:sp>
        <p:nvSpPr>
          <p:cNvPr id="55" name="Text 53"/>
          <p:cNvSpPr/>
          <p:nvPr/>
        </p:nvSpPr>
        <p:spPr>
          <a:xfrm>
            <a:off x="3340100" y="4650519"/>
            <a:ext cx="990600" cy="609600"/>
          </a:xfrm>
          <a:prstGeom prst="roundRect">
            <a:avLst>
              <a:gd name="adj" fmla="val 10417"/>
            </a:avLst>
          </a:prstGeom>
          <a:solidFill>
            <a:srgbClr val="B7E1A1"/>
          </a:solidFill>
          <a:ln/>
        </p:spPr>
        <p:txBody>
          <a:bodyPr wrap="square" lIns="57601" tIns="32201" rIns="6801" bIns="32201"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2</a:t>
            </a:r>
            <a:endParaRPr lang="en-US" sz="1200" dirty="0"/>
          </a:p>
        </p:txBody>
      </p:sp>
      <p:sp>
        <p:nvSpPr>
          <p:cNvPr id="56" name="Shape 54"/>
          <p:cNvSpPr/>
          <p:nvPr/>
        </p:nvSpPr>
        <p:spPr>
          <a:xfrm>
            <a:off x="4368800" y="4650519"/>
            <a:ext cx="990600" cy="609600"/>
          </a:xfrm>
          <a:prstGeom prst="roundRect">
            <a:avLst>
              <a:gd name="adj" fmla="val 10417"/>
            </a:avLst>
          </a:prstGeom>
          <a:solidFill>
            <a:srgbClr val="B7E1A1"/>
          </a:solidFill>
          <a:ln/>
        </p:spPr>
      </p:sp>
      <p:sp>
        <p:nvSpPr>
          <p:cNvPr id="57" name="Text 55"/>
          <p:cNvSpPr/>
          <p:nvPr/>
        </p:nvSpPr>
        <p:spPr>
          <a:xfrm>
            <a:off x="4445000" y="4701319"/>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3</a:t>
            </a:r>
            <a:endParaRPr lang="en-US" sz="1200" dirty="0"/>
          </a:p>
        </p:txBody>
      </p:sp>
      <p:sp>
        <p:nvSpPr>
          <p:cNvPr id="58" name="Text 56"/>
          <p:cNvSpPr/>
          <p:nvPr/>
        </p:nvSpPr>
        <p:spPr>
          <a:xfrm>
            <a:off x="4445000" y="4914640"/>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R-03 R-04</a:t>
            </a:r>
            <a:endParaRPr lang="en-US" sz="1200" dirty="0"/>
          </a:p>
        </p:txBody>
      </p:sp>
      <p:sp>
        <p:nvSpPr>
          <p:cNvPr id="59" name="Shape 57"/>
          <p:cNvSpPr/>
          <p:nvPr/>
        </p:nvSpPr>
        <p:spPr>
          <a:xfrm>
            <a:off x="5397500" y="4650519"/>
            <a:ext cx="990600" cy="609600"/>
          </a:xfrm>
          <a:prstGeom prst="roundRect">
            <a:avLst>
              <a:gd name="adj" fmla="val 10417"/>
            </a:avLst>
          </a:prstGeom>
          <a:solidFill>
            <a:srgbClr val="B7E1A1"/>
          </a:solidFill>
          <a:ln/>
        </p:spPr>
      </p:sp>
      <p:sp>
        <p:nvSpPr>
          <p:cNvPr id="60" name="Text 58"/>
          <p:cNvSpPr/>
          <p:nvPr/>
        </p:nvSpPr>
        <p:spPr>
          <a:xfrm>
            <a:off x="5473700" y="4701319"/>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4</a:t>
            </a:r>
            <a:endParaRPr lang="en-US" sz="1200" dirty="0"/>
          </a:p>
        </p:txBody>
      </p:sp>
      <p:sp>
        <p:nvSpPr>
          <p:cNvPr id="61" name="Text 59"/>
          <p:cNvSpPr/>
          <p:nvPr/>
        </p:nvSpPr>
        <p:spPr>
          <a:xfrm>
            <a:off x="5473700" y="4914640"/>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R-05 R-06</a:t>
            </a:r>
            <a:endParaRPr lang="en-US" sz="1200" dirty="0"/>
          </a:p>
        </p:txBody>
      </p:sp>
      <p:sp>
        <p:nvSpPr>
          <p:cNvPr id="62" name="Shape 60"/>
          <p:cNvSpPr/>
          <p:nvPr/>
        </p:nvSpPr>
        <p:spPr>
          <a:xfrm>
            <a:off x="6426200" y="4650519"/>
            <a:ext cx="990600" cy="609600"/>
          </a:xfrm>
          <a:prstGeom prst="roundRect">
            <a:avLst>
              <a:gd name="adj" fmla="val 10417"/>
            </a:avLst>
          </a:prstGeom>
          <a:solidFill>
            <a:srgbClr val="FFE08A"/>
          </a:solidFill>
          <a:ln/>
        </p:spPr>
      </p:sp>
      <p:sp>
        <p:nvSpPr>
          <p:cNvPr id="63" name="Text 61"/>
          <p:cNvSpPr/>
          <p:nvPr/>
        </p:nvSpPr>
        <p:spPr>
          <a:xfrm>
            <a:off x="6502400" y="4701319"/>
            <a:ext cx="889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A33"/>
                </a:solidFill>
                <a:latin typeface="Arial" pitchFamily="34" charset="0"/>
                <a:ea typeface="Arial" pitchFamily="34" charset="-122"/>
                <a:cs typeface="Arial" pitchFamily="34" charset="-120"/>
              </a:rPr>
              <a:t>5</a:t>
            </a:r>
            <a:endParaRPr lang="en-US" sz="1200" dirty="0"/>
          </a:p>
        </p:txBody>
      </p:sp>
      <p:sp>
        <p:nvSpPr>
          <p:cNvPr id="64" name="Text 62"/>
          <p:cNvSpPr/>
          <p:nvPr/>
        </p:nvSpPr>
        <p:spPr>
          <a:xfrm>
            <a:off x="6502400" y="4914640"/>
            <a:ext cx="889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A33"/>
                </a:solidFill>
                <a:latin typeface="Arial" pitchFamily="34" charset="0"/>
                <a:ea typeface="Arial" pitchFamily="34" charset="-122"/>
                <a:cs typeface="Arial" pitchFamily="34" charset="-120"/>
              </a:rPr>
              <a:t>R-10</a:t>
            </a:r>
            <a:endParaRPr lang="en-US" sz="1200" dirty="0"/>
          </a:p>
        </p:txBody>
      </p:sp>
      <p:sp>
        <p:nvSpPr>
          <p:cNvPr id="65" name="Shape 63"/>
          <p:cNvSpPr/>
          <p:nvPr/>
        </p:nvSpPr>
        <p:spPr>
          <a:xfrm>
            <a:off x="7721600" y="1463018"/>
            <a:ext cx="254000" cy="254000"/>
          </a:xfrm>
          <a:prstGeom prst="roundRect">
            <a:avLst>
              <a:gd name="adj" fmla="val 20000"/>
            </a:avLst>
          </a:prstGeom>
          <a:solidFill>
            <a:srgbClr val="C0392B"/>
          </a:solidFill>
          <a:ln/>
        </p:spPr>
      </p:sp>
      <p:sp>
        <p:nvSpPr>
          <p:cNvPr id="66" name="Text 64"/>
          <p:cNvSpPr/>
          <p:nvPr/>
        </p:nvSpPr>
        <p:spPr>
          <a:xfrm>
            <a:off x="8077200" y="1474465"/>
            <a:ext cx="211423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Critical: score 16 to 25</a:t>
            </a:r>
            <a:endParaRPr lang="en-US" sz="1300" dirty="0"/>
          </a:p>
        </p:txBody>
      </p:sp>
      <p:sp>
        <p:nvSpPr>
          <p:cNvPr id="67" name="Shape 65"/>
          <p:cNvSpPr/>
          <p:nvPr/>
        </p:nvSpPr>
        <p:spPr>
          <a:xfrm>
            <a:off x="7721600" y="1844018"/>
            <a:ext cx="254000" cy="254000"/>
          </a:xfrm>
          <a:prstGeom prst="roundRect">
            <a:avLst>
              <a:gd name="adj" fmla="val 20000"/>
            </a:avLst>
          </a:prstGeom>
          <a:solidFill>
            <a:srgbClr val="F4A259"/>
          </a:solidFill>
          <a:ln/>
        </p:spPr>
      </p:sp>
      <p:sp>
        <p:nvSpPr>
          <p:cNvPr id="68" name="Text 66"/>
          <p:cNvSpPr/>
          <p:nvPr/>
        </p:nvSpPr>
        <p:spPr>
          <a:xfrm>
            <a:off x="8077200" y="1855465"/>
            <a:ext cx="188277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High: score 10 to 15</a:t>
            </a:r>
            <a:endParaRPr lang="en-US" sz="1300" dirty="0"/>
          </a:p>
        </p:txBody>
      </p:sp>
      <p:sp>
        <p:nvSpPr>
          <p:cNvPr id="69" name="Shape 67"/>
          <p:cNvSpPr/>
          <p:nvPr/>
        </p:nvSpPr>
        <p:spPr>
          <a:xfrm>
            <a:off x="7721600" y="2225018"/>
            <a:ext cx="254000" cy="254000"/>
          </a:xfrm>
          <a:prstGeom prst="roundRect">
            <a:avLst>
              <a:gd name="adj" fmla="val 20000"/>
            </a:avLst>
          </a:prstGeom>
          <a:solidFill>
            <a:srgbClr val="FFE08A"/>
          </a:solidFill>
          <a:ln/>
        </p:spPr>
      </p:sp>
      <p:sp>
        <p:nvSpPr>
          <p:cNvPr id="70" name="Text 68"/>
          <p:cNvSpPr/>
          <p:nvPr/>
        </p:nvSpPr>
        <p:spPr>
          <a:xfrm>
            <a:off x="8077200" y="2236465"/>
            <a:ext cx="197072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Medium: score 5 to 9</a:t>
            </a:r>
            <a:endParaRPr lang="en-US" sz="1300" dirty="0"/>
          </a:p>
        </p:txBody>
      </p:sp>
      <p:sp>
        <p:nvSpPr>
          <p:cNvPr id="71" name="Shape 69"/>
          <p:cNvSpPr/>
          <p:nvPr/>
        </p:nvSpPr>
        <p:spPr>
          <a:xfrm>
            <a:off x="7721600" y="2606018"/>
            <a:ext cx="254000" cy="254000"/>
          </a:xfrm>
          <a:prstGeom prst="roundRect">
            <a:avLst>
              <a:gd name="adj" fmla="val 20000"/>
            </a:avLst>
          </a:prstGeom>
          <a:solidFill>
            <a:srgbClr val="B7E1A1"/>
          </a:solidFill>
          <a:ln/>
        </p:spPr>
      </p:sp>
      <p:sp>
        <p:nvSpPr>
          <p:cNvPr id="72" name="Text 70"/>
          <p:cNvSpPr/>
          <p:nvPr/>
        </p:nvSpPr>
        <p:spPr>
          <a:xfrm>
            <a:off x="8077200" y="2617465"/>
            <a:ext cx="161837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Low: score 1 to 4</a:t>
            </a:r>
            <a:endParaRPr lang="en-US" sz="1300" dirty="0"/>
          </a:p>
        </p:txBody>
      </p:sp>
      <p:sp>
        <p:nvSpPr>
          <p:cNvPr id="73" name="Text 71"/>
          <p:cNvSpPr/>
          <p:nvPr/>
        </p:nvSpPr>
        <p:spPr>
          <a:xfrm>
            <a:off x="7721600" y="2987018"/>
            <a:ext cx="376732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Risk = Likelihood × Impact. Rows are likelihood, columns are impact. Each cell shows its score and the risks placed there.</a:t>
            </a:r>
            <a:endParaRPr lang="en-US" sz="1300" dirty="0"/>
          </a:p>
        </p:txBody>
      </p:sp>
      <p:sp>
        <p:nvSpPr>
          <p:cNvPr id="74" name="Text 72"/>
          <p:cNvSpPr/>
          <p:nvPr/>
        </p:nvSpPr>
        <p:spPr>
          <a:xfrm>
            <a:off x="7721600" y="3807358"/>
            <a:ext cx="3657600" cy="947341"/>
          </a:xfrm>
          <a:prstGeom prst="roundRect">
            <a:avLst>
              <a:gd name="adj" fmla="val 8044"/>
            </a:avLst>
          </a:prstGeom>
          <a:solidFill>
            <a:srgbClr val="FFF2C7"/>
          </a:solidFill>
          <a:ln/>
        </p:spPr>
        <p:txBody>
          <a:bodyPr wrap="square" lIns="104682" tIns="104682" rIns="2574" bIns="79282" rtlCol="0" anchor="t">
            <a:normAutofit/>
          </a:bodyPr>
          <a:lstStyle/>
          <a:p>
            <a:pPr algn="l" indent="0" marL="0">
              <a:lnSpc>
                <a:spcPts val="1820"/>
              </a:lnSpc>
              <a:buNone/>
            </a:pPr>
            <a:r>
              <a:rPr lang="en-US" sz="1300" b="1" dirty="0">
                <a:solidFill>
                  <a:srgbClr val="121A33"/>
                </a:solidFill>
                <a:latin typeface="Arial" pitchFamily="34" charset="0"/>
                <a:ea typeface="Arial" pitchFamily="34" charset="-122"/>
                <a:cs typeface="Arial" pitchFamily="34" charset="-120"/>
              </a:rPr>
              <a:t>Ratings rest on management's answers, the public pages and the app, and may change as more evidence arrives.</a:t>
            </a:r>
            <a:endParaRPr lang="en-US" sz="1300" dirty="0"/>
          </a:p>
        </p:txBody>
      </p:sp>
      <p:sp>
        <p:nvSpPr>
          <p:cNvPr id="75" name="Text 7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Risk scores by number (1 of 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874433"/>
        </p:xfrm>
        <a:graphic>
          <a:graphicData uri="http://schemas.openxmlformats.org/drawingml/2006/table">
            <a:tbl>
              <a:tblPr/>
              <a:tblGrid>
                <a:gridCol w="844296"/>
                <a:gridCol w="5487924"/>
                <a:gridCol w="1160907"/>
                <a:gridCol w="949833"/>
                <a:gridCol w="844296"/>
                <a:gridCol w="1266444"/>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Likelihood</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Impact</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Score</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Rating</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Staff account taken over through weak or reused passwords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Phishing message tricks staff into giving access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Customer details shared on personal chats or phones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F6B3B"/>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Shared accounts hide who did what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F6B3B"/>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Former staff or contractors keep access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F6B3B"/>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Lost or stolen unlocked device exposes data</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F6B3B"/>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R-07</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Breach not noticed, recorded or reported in time</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B8560B"/>
                          </a:solidFill>
                          <a:latin typeface="Arial" pitchFamily="34" charset="0"/>
                          <a:ea typeface="Arial" pitchFamily="34" charset="-122"/>
                          <a:cs typeface="Arial" pitchFamily="34" charset="-120"/>
                        </a:rPr>
                        <a:t>High</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55334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Risk = Likelihood × Impact. Low 1 to 4, Medium 5 to 9, High 10 to 15, Critical 16 to 25.</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Risk scores by number (2 of 2)</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2874433"/>
        </p:xfrm>
        <a:graphic>
          <a:graphicData uri="http://schemas.openxmlformats.org/drawingml/2006/table">
            <a:tbl>
              <a:tblPr/>
              <a:tblGrid>
                <a:gridCol w="844296"/>
                <a:gridCol w="5487924"/>
                <a:gridCol w="1160907"/>
                <a:gridCol w="949833"/>
                <a:gridCol w="844296"/>
                <a:gridCol w="1266444"/>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Likelihood</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Impact</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820"/>
                        </a:lnSpc>
                        <a:buNone/>
                      </a:pPr>
                      <a:r>
                        <a:rPr lang="en-US" sz="1300" b="1" dirty="0">
                          <a:solidFill>
                            <a:srgbClr val="F6F4EF"/>
                          </a:solidFill>
                          <a:latin typeface="Arial" pitchFamily="34" charset="0"/>
                          <a:ea typeface="Arial" pitchFamily="34" charset="-122"/>
                          <a:cs typeface="Arial" pitchFamily="34" charset="-120"/>
                        </a:rPr>
                        <a:t>Score</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Rating</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Customer request to see, fix or delete data mishandled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R-09</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Vendor mishandles data, no written agreement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R-10</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Data lost because backups were never tested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Data kept far longer than needed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2F6B3B"/>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Untrained staff do not know what to do in an incident</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Consent and privacy policy not clearly shown at sign-up</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R-14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Work on public Wi-Fi exposes data</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820"/>
                        </a:lnSpc>
                        <a:buNone/>
                      </a:pPr>
                      <a:r>
                        <a:rPr lang="en-US" sz="1300" dirty="0">
                          <a:solidFill>
                            <a:srgbClr val="121A33"/>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7A52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55334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Risk = Likelihood × Impact. Low 1 to 4, Medium 5 to 9, High 10 to 15, Critical 16 to 25.</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Highest-rated risks, by risk number</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3395134"/>
        </p:xfrm>
        <a:graphic>
          <a:graphicData uri="http://schemas.openxmlformats.org/drawingml/2006/table">
            <a:tbl>
              <a:tblPr/>
              <a:tblGrid>
                <a:gridCol w="738759"/>
                <a:gridCol w="3060573"/>
                <a:gridCol w="844296"/>
                <a:gridCol w="1055370"/>
                <a:gridCol w="4854702"/>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680"/>
                        </a:lnSpc>
                        <a:buNone/>
                      </a:pPr>
                      <a:r>
                        <a:rPr lang="en-US" sz="1200" b="1" dirty="0">
                          <a:solidFill>
                            <a:srgbClr val="F6F4EF"/>
                          </a:solidFill>
                          <a:latin typeface="Arial" pitchFamily="34" charset="0"/>
                          <a:ea typeface="Arial" pitchFamily="34" charset="-122"/>
                          <a:cs typeface="Arial" pitchFamily="34" charset="-120"/>
                        </a:rPr>
                        <a:t>Score</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algn="ctr" indent="0" marL="0">
                        <a:lnSpc>
                          <a:spcPts val="1680"/>
                        </a:lnSpc>
                        <a:buNone/>
                      </a:pPr>
                      <a:r>
                        <a:rPr lang="en-US" sz="1200" b="1" dirty="0">
                          <a:solidFill>
                            <a:srgbClr val="F6F4EF"/>
                          </a:solidFill>
                          <a:latin typeface="Arial" pitchFamily="34" charset="0"/>
                          <a:ea typeface="Arial" pitchFamily="34" charset="-122"/>
                          <a:cs typeface="Arial" pitchFamily="34" charset="-120"/>
                        </a:rPr>
                        <a:t>Rating</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Why it is rated this way</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Staff account taken over through weak or reused passwords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7A5200"/>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reports strong passwords and two-step sign-in; the impact of a takeover would still be major</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R-02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Phishing message tricks staff into giving access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7A5200"/>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reports training; phishing remains a constant threat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R-07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Breach not noticed, recorded or reported in time</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B8560B"/>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reports a register and reporting steps; public pages say nothing on breaches; impact is severe</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R-09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Vendor mishandles data, no written agreement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7A5200"/>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reports written agreements; public pages name no vendors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5968">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R-13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Consent and privacy policy not clearly shown at sign-up</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7A5200"/>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No consent line or privacy link seen beside the sign-up button</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R-14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Work on public Wi-Fi exposes data</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121A33"/>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680"/>
                        </a:lnSpc>
                        <a:buNone/>
                      </a:pPr>
                      <a:r>
                        <a:rPr lang="en-US" sz="1200" dirty="0">
                          <a:solidFill>
                            <a:srgbClr val="7A5200"/>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Management answered Partly on avoiding public Wi-Fi for work</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What to fix first</a:t>
            </a:r>
            <a:endParaRPr lang="en-US" sz="3200" dirty="0"/>
          </a:p>
        </p:txBody>
      </p:sp>
      <p:sp>
        <p:nvSpPr>
          <p:cNvPr id="3" name="Shape 1"/>
          <p:cNvSpPr/>
          <p:nvPr/>
        </p:nvSpPr>
        <p:spPr>
          <a:xfrm>
            <a:off x="812800" y="1463018"/>
            <a:ext cx="3380978" cy="2822575"/>
          </a:xfrm>
          <a:prstGeom prst="roundRect">
            <a:avLst>
              <a:gd name="adj" fmla="val 3600"/>
            </a:avLst>
          </a:prstGeom>
          <a:solidFill>
            <a:srgbClr val="121A33"/>
          </a:solidFill>
          <a:ln/>
        </p:spPr>
      </p:sp>
      <p:sp>
        <p:nvSpPr>
          <p:cNvPr id="4" name="Text 2"/>
          <p:cNvSpPr/>
          <p:nvPr/>
        </p:nvSpPr>
        <p:spPr>
          <a:xfrm>
            <a:off x="1066800" y="1717018"/>
            <a:ext cx="295916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D23F"/>
                </a:solidFill>
                <a:latin typeface="Arial" pitchFamily="34" charset="0"/>
                <a:ea typeface="Arial" pitchFamily="34" charset="-122"/>
                <a:cs typeface="Arial" pitchFamily="34" charset="-120"/>
              </a:rPr>
              <a:t>1. Fix first (1)</a:t>
            </a:r>
            <a:endParaRPr lang="en-US" sz="1800" dirty="0"/>
          </a:p>
        </p:txBody>
      </p:sp>
      <p:sp>
        <p:nvSpPr>
          <p:cNvPr id="5" name="Text 3"/>
          <p:cNvSpPr/>
          <p:nvPr/>
        </p:nvSpPr>
        <p:spPr>
          <a:xfrm>
            <a:off x="1066800" y="2067520"/>
            <a:ext cx="29591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F0"/>
                </a:solidFill>
                <a:latin typeface="Arial" pitchFamily="34" charset="0"/>
                <a:ea typeface="Arial" pitchFamily="34" charset="-122"/>
                <a:cs typeface="Arial" pitchFamily="34" charset="-120"/>
              </a:rPr>
              <a:t>High rating</a:t>
            </a:r>
            <a:endParaRPr lang="en-US" sz="1200" dirty="0"/>
          </a:p>
        </p:txBody>
      </p:sp>
      <p:sp>
        <p:nvSpPr>
          <p:cNvPr id="6" name="Text 4"/>
          <p:cNvSpPr/>
          <p:nvPr/>
        </p:nvSpPr>
        <p:spPr>
          <a:xfrm>
            <a:off x="1066800" y="2407841"/>
            <a:ext cx="29591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F"/>
                </a:solidFill>
                <a:latin typeface="Arial" pitchFamily="34" charset="0"/>
                <a:ea typeface="Arial" pitchFamily="34" charset="-122"/>
                <a:cs typeface="Arial" pitchFamily="34" charset="-120"/>
              </a:rPr>
              <a:t>R-07 Test and write down the breach plan</a:t>
            </a:r>
            <a:endParaRPr lang="en-US" sz="1300" dirty="0"/>
          </a:p>
        </p:txBody>
      </p:sp>
      <p:sp>
        <p:nvSpPr>
          <p:cNvPr id="7" name="Shape 5"/>
          <p:cNvSpPr/>
          <p:nvPr/>
        </p:nvSpPr>
        <p:spPr>
          <a:xfrm>
            <a:off x="4400153" y="1466193"/>
            <a:ext cx="3383161" cy="2816225"/>
          </a:xfrm>
          <a:prstGeom prst="roundRect">
            <a:avLst>
              <a:gd name="adj" fmla="val 3495"/>
            </a:avLst>
          </a:prstGeom>
          <a:solidFill>
            <a:srgbClr val="FBFAF7"/>
          </a:solidFill>
          <a:ln w="6350">
            <a:solidFill>
              <a:srgbClr val="DDD9CE"/>
            </a:solidFill>
            <a:prstDash val="solid"/>
          </a:ln>
        </p:spPr>
      </p:sp>
      <p:sp>
        <p:nvSpPr>
          <p:cNvPr id="8" name="Text 6"/>
          <p:cNvSpPr/>
          <p:nvPr/>
        </p:nvSpPr>
        <p:spPr>
          <a:xfrm>
            <a:off x="4655212" y="1721247"/>
            <a:ext cx="295923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2. Quick fixes (4)</a:t>
            </a:r>
            <a:endParaRPr lang="en-US" sz="1800" dirty="0"/>
          </a:p>
        </p:txBody>
      </p:sp>
      <p:sp>
        <p:nvSpPr>
          <p:cNvPr id="9" name="Text 7"/>
          <p:cNvSpPr/>
          <p:nvPr/>
        </p:nvSpPr>
        <p:spPr>
          <a:xfrm>
            <a:off x="4655212" y="2071762"/>
            <a:ext cx="2959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Medium rating, low cost</a:t>
            </a:r>
            <a:endParaRPr lang="en-US" sz="1200" dirty="0"/>
          </a:p>
        </p:txBody>
      </p:sp>
      <p:sp>
        <p:nvSpPr>
          <p:cNvPr id="10" name="Text 8"/>
          <p:cNvSpPr/>
          <p:nvPr/>
        </p:nvSpPr>
        <p:spPr>
          <a:xfrm>
            <a:off x="4655212" y="2412082"/>
            <a:ext cx="295923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R-08 Customer request steps and rights</a:t>
            </a:r>
            <a:endParaRPr lang="en-US" sz="1300" dirty="0"/>
          </a:p>
        </p:txBody>
      </p:sp>
      <p:sp>
        <p:nvSpPr>
          <p:cNvPr id="11" name="Text 9"/>
          <p:cNvSpPr/>
          <p:nvPr/>
        </p:nvSpPr>
        <p:spPr>
          <a:xfrm>
            <a:off x="4655212" y="2950505"/>
            <a:ext cx="295923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R-09 Name vendors, confirm agreements</a:t>
            </a:r>
            <a:endParaRPr lang="en-US" sz="1300" dirty="0"/>
          </a:p>
        </p:txBody>
      </p:sp>
      <p:sp>
        <p:nvSpPr>
          <p:cNvPr id="12" name="Text 10"/>
          <p:cNvSpPr/>
          <p:nvPr/>
        </p:nvSpPr>
        <p:spPr>
          <a:xfrm>
            <a:off x="4655212" y="3488928"/>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R-13 Consent line and privacy link</a:t>
            </a:r>
            <a:endParaRPr lang="en-US" sz="1300" dirty="0"/>
          </a:p>
        </p:txBody>
      </p:sp>
      <p:sp>
        <p:nvSpPr>
          <p:cNvPr id="13" name="Text 11"/>
          <p:cNvSpPr/>
          <p:nvPr/>
        </p:nvSpPr>
        <p:spPr>
          <a:xfrm>
            <a:off x="4655212" y="3796246"/>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R-14 A rule for public Wi-Fi</a:t>
            </a:r>
            <a:endParaRPr lang="en-US" sz="1300" dirty="0"/>
          </a:p>
        </p:txBody>
      </p:sp>
      <p:sp>
        <p:nvSpPr>
          <p:cNvPr id="14" name="Shape 12"/>
          <p:cNvSpPr/>
          <p:nvPr/>
        </p:nvSpPr>
        <p:spPr>
          <a:xfrm>
            <a:off x="7992864" y="1466193"/>
            <a:ext cx="3383161" cy="2816225"/>
          </a:xfrm>
          <a:prstGeom prst="roundRect">
            <a:avLst>
              <a:gd name="adj" fmla="val 3495"/>
            </a:avLst>
          </a:prstGeom>
          <a:solidFill>
            <a:srgbClr val="FBFAF7"/>
          </a:solidFill>
          <a:ln w="6350">
            <a:solidFill>
              <a:srgbClr val="DDD9CE"/>
            </a:solidFill>
            <a:prstDash val="solid"/>
          </a:ln>
        </p:spPr>
      </p:sp>
      <p:sp>
        <p:nvSpPr>
          <p:cNvPr id="15" name="Text 13"/>
          <p:cNvSpPr/>
          <p:nvPr/>
        </p:nvSpPr>
        <p:spPr>
          <a:xfrm>
            <a:off x="8247923" y="1721247"/>
            <a:ext cx="295923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3. Keep up and verify (4)</a:t>
            </a:r>
            <a:endParaRPr lang="en-US" sz="1800" dirty="0"/>
          </a:p>
        </p:txBody>
      </p:sp>
      <p:sp>
        <p:nvSpPr>
          <p:cNvPr id="16" name="Text 14"/>
          <p:cNvSpPr/>
          <p:nvPr/>
        </p:nvSpPr>
        <p:spPr>
          <a:xfrm>
            <a:off x="8247923" y="2071762"/>
            <a:ext cx="2959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Medium rating, already in place</a:t>
            </a:r>
            <a:endParaRPr lang="en-US" sz="1200" dirty="0"/>
          </a:p>
        </p:txBody>
      </p:sp>
      <p:sp>
        <p:nvSpPr>
          <p:cNvPr id="17" name="Text 15"/>
          <p:cNvSpPr/>
          <p:nvPr/>
        </p:nvSpPr>
        <p:spPr>
          <a:xfrm>
            <a:off x="8247923" y="2412082"/>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R-01 Two-step sign-in everywhere</a:t>
            </a:r>
            <a:endParaRPr lang="en-US" sz="1300" dirty="0"/>
          </a:p>
        </p:txBody>
      </p:sp>
      <p:sp>
        <p:nvSpPr>
          <p:cNvPr id="18" name="Text 16"/>
          <p:cNvSpPr/>
          <p:nvPr/>
        </p:nvSpPr>
        <p:spPr>
          <a:xfrm>
            <a:off x="8247923" y="2719388"/>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R-02 Yearly phishing refresher</a:t>
            </a:r>
            <a:endParaRPr lang="en-US" sz="1300" dirty="0"/>
          </a:p>
        </p:txBody>
      </p:sp>
      <p:sp>
        <p:nvSpPr>
          <p:cNvPr id="19" name="Text 17"/>
          <p:cNvSpPr/>
          <p:nvPr/>
        </p:nvSpPr>
        <p:spPr>
          <a:xfrm>
            <a:off x="8247923" y="3026705"/>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R-10 Test the restore regularly</a:t>
            </a:r>
            <a:endParaRPr lang="en-US" sz="1300" dirty="0"/>
          </a:p>
        </p:txBody>
      </p:sp>
      <p:sp>
        <p:nvSpPr>
          <p:cNvPr id="20" name="Text 18"/>
          <p:cNvSpPr/>
          <p:nvPr/>
        </p:nvSpPr>
        <p:spPr>
          <a:xfrm>
            <a:off x="8247923" y="3334023"/>
            <a:ext cx="29592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R-12 Refresher training</a:t>
            </a:r>
            <a:endParaRPr lang="en-US" sz="1300" dirty="0"/>
          </a:p>
        </p:txBody>
      </p:sp>
      <p:sp>
        <p:nvSpPr>
          <p:cNvPr id="21" name="Text 19"/>
          <p:cNvSpPr/>
          <p:nvPr/>
        </p:nvSpPr>
        <p:spPr>
          <a:xfrm>
            <a:off x="812800" y="448879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Monitor (Low): R-03, R-04, R-05, R-06 and R-11. Priority combines the risk rating with the cost to fix. R-13 is only a text edit, so do it first among the quick fixes.</a:t>
            </a:r>
            <a:endParaRPr lang="en-US" sz="1200" dirty="0"/>
          </a:p>
        </p:txBody>
      </p:sp>
      <p:sp>
        <p:nvSpPr>
          <p:cNvPr id="22"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Policies: five simple templates</a:t>
            </a:r>
            <a:endParaRPr lang="en-US" sz="3200" dirty="0"/>
          </a:p>
        </p:txBody>
      </p:sp>
      <p:sp>
        <p:nvSpPr>
          <p:cNvPr id="3" name="Shape 1"/>
          <p:cNvSpPr/>
          <p:nvPr/>
        </p:nvSpPr>
        <p:spPr>
          <a:xfrm>
            <a:off x="815975" y="1466193"/>
            <a:ext cx="3380317" cy="1828271"/>
          </a:xfrm>
          <a:prstGeom prst="roundRect">
            <a:avLst>
              <a:gd name="adj" fmla="val 5384"/>
            </a:avLst>
          </a:prstGeom>
          <a:solidFill>
            <a:srgbClr val="FBFAF7"/>
          </a:solidFill>
          <a:ln w="6350">
            <a:solidFill>
              <a:srgbClr val="DDD9CE"/>
            </a:solidFill>
            <a:prstDash val="solid"/>
          </a:ln>
        </p:spPr>
      </p:sp>
      <p:sp>
        <p:nvSpPr>
          <p:cNvPr id="4" name="Text 2"/>
          <p:cNvSpPr/>
          <p:nvPr/>
        </p:nvSpPr>
        <p:spPr>
          <a:xfrm>
            <a:off x="1071033" y="17212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Incident and breach plan</a:t>
            </a:r>
            <a:endParaRPr lang="en-US" sz="1800" dirty="0"/>
          </a:p>
        </p:txBody>
      </p:sp>
      <p:sp>
        <p:nvSpPr>
          <p:cNvPr id="5" name="Text 3"/>
          <p:cNvSpPr/>
          <p:nvPr/>
        </p:nvSpPr>
        <p:spPr>
          <a:xfrm>
            <a:off x="1071033" y="2071762"/>
            <a:ext cx="295630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Who to tell, what to write down, and when to report. One page and a simple log.</a:t>
            </a:r>
            <a:endParaRPr lang="en-US" sz="1300" dirty="0"/>
          </a:p>
        </p:txBody>
      </p:sp>
      <p:sp>
        <p:nvSpPr>
          <p:cNvPr id="6" name="Shape 4"/>
          <p:cNvSpPr/>
          <p:nvPr/>
        </p:nvSpPr>
        <p:spPr>
          <a:xfrm>
            <a:off x="4405842" y="1466193"/>
            <a:ext cx="3380317" cy="1828271"/>
          </a:xfrm>
          <a:prstGeom prst="roundRect">
            <a:avLst>
              <a:gd name="adj" fmla="val 5384"/>
            </a:avLst>
          </a:prstGeom>
          <a:solidFill>
            <a:srgbClr val="FBFAF7"/>
          </a:solidFill>
          <a:ln w="6350">
            <a:solidFill>
              <a:srgbClr val="DDD9CE"/>
            </a:solidFill>
            <a:prstDash val="solid"/>
          </a:ln>
        </p:spPr>
      </p:sp>
      <p:sp>
        <p:nvSpPr>
          <p:cNvPr id="7" name="Text 5"/>
          <p:cNvSpPr/>
          <p:nvPr/>
        </p:nvSpPr>
        <p:spPr>
          <a:xfrm>
            <a:off x="4660900" y="1721247"/>
            <a:ext cx="2956306"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Customer chats and phones</a:t>
            </a:r>
            <a:endParaRPr lang="en-US" sz="1800" dirty="0"/>
          </a:p>
        </p:txBody>
      </p:sp>
      <p:sp>
        <p:nvSpPr>
          <p:cNvPr id="8" name="Text 6"/>
          <p:cNvSpPr/>
          <p:nvPr/>
        </p:nvSpPr>
        <p:spPr>
          <a:xfrm>
            <a:off x="4660900" y="2346065"/>
            <a:ext cx="295630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One rule: customer details stay in the HairMela system, not in personal chats.</a:t>
            </a:r>
            <a:endParaRPr lang="en-US" sz="1300" dirty="0"/>
          </a:p>
        </p:txBody>
      </p:sp>
      <p:sp>
        <p:nvSpPr>
          <p:cNvPr id="9" name="Shape 7"/>
          <p:cNvSpPr/>
          <p:nvPr/>
        </p:nvSpPr>
        <p:spPr>
          <a:xfrm>
            <a:off x="7995709" y="1466193"/>
            <a:ext cx="3380317" cy="1828271"/>
          </a:xfrm>
          <a:prstGeom prst="roundRect">
            <a:avLst>
              <a:gd name="adj" fmla="val 5384"/>
            </a:avLst>
          </a:prstGeom>
          <a:solidFill>
            <a:srgbClr val="FBFAF7"/>
          </a:solidFill>
          <a:ln w="6350">
            <a:solidFill>
              <a:srgbClr val="DDD9CE"/>
            </a:solidFill>
            <a:prstDash val="solid"/>
          </a:ln>
        </p:spPr>
      </p:sp>
      <p:sp>
        <p:nvSpPr>
          <p:cNvPr id="10" name="Text 8"/>
          <p:cNvSpPr/>
          <p:nvPr/>
        </p:nvSpPr>
        <p:spPr>
          <a:xfrm>
            <a:off x="8250767" y="172124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Accounts and leavers</a:t>
            </a:r>
            <a:endParaRPr lang="en-US" sz="1800" dirty="0"/>
          </a:p>
        </p:txBody>
      </p:sp>
      <p:sp>
        <p:nvSpPr>
          <p:cNvPr id="11" name="Text 9"/>
          <p:cNvSpPr/>
          <p:nvPr/>
        </p:nvSpPr>
        <p:spPr>
          <a:xfrm>
            <a:off x="8250767" y="2071762"/>
            <a:ext cx="295630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Own login for everyone, two-step sign-in, and a checklist to remove access on exit.</a:t>
            </a:r>
            <a:endParaRPr lang="en-US" sz="1300" dirty="0"/>
          </a:p>
        </p:txBody>
      </p:sp>
      <p:sp>
        <p:nvSpPr>
          <p:cNvPr id="12" name="Shape 10"/>
          <p:cNvSpPr/>
          <p:nvPr/>
        </p:nvSpPr>
        <p:spPr>
          <a:xfrm>
            <a:off x="815975" y="3504009"/>
            <a:ext cx="3552428" cy="1322851"/>
          </a:xfrm>
          <a:prstGeom prst="roundRect">
            <a:avLst>
              <a:gd name="adj" fmla="val 7440"/>
            </a:avLst>
          </a:prstGeom>
          <a:solidFill>
            <a:srgbClr val="FBFAF7"/>
          </a:solidFill>
          <a:ln w="6350">
            <a:solidFill>
              <a:srgbClr val="DDD9CE"/>
            </a:solidFill>
            <a:prstDash val="solid"/>
          </a:ln>
        </p:spPr>
      </p:sp>
      <p:sp>
        <p:nvSpPr>
          <p:cNvPr id="13" name="Text 11"/>
          <p:cNvSpPr/>
          <p:nvPr/>
        </p:nvSpPr>
        <p:spPr>
          <a:xfrm>
            <a:off x="1071033" y="3759076"/>
            <a:ext cx="313358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Keep and delete</a:t>
            </a:r>
            <a:endParaRPr lang="en-US" sz="1800" dirty="0"/>
          </a:p>
        </p:txBody>
      </p:sp>
      <p:sp>
        <p:nvSpPr>
          <p:cNvPr id="14" name="Text 12"/>
          <p:cNvSpPr/>
          <p:nvPr/>
        </p:nvSpPr>
        <p:spPr>
          <a:xfrm>
            <a:off x="1071033" y="4109579"/>
            <a:ext cx="313358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How long each type of data is kept, and when it is deleted.</a:t>
            </a:r>
            <a:endParaRPr lang="en-US" sz="1300" dirty="0"/>
          </a:p>
        </p:txBody>
      </p:sp>
      <p:sp>
        <p:nvSpPr>
          <p:cNvPr id="15" name="Shape 13"/>
          <p:cNvSpPr/>
          <p:nvPr/>
        </p:nvSpPr>
        <p:spPr>
          <a:xfrm>
            <a:off x="4577953" y="3504009"/>
            <a:ext cx="3552494" cy="1322851"/>
          </a:xfrm>
          <a:prstGeom prst="roundRect">
            <a:avLst>
              <a:gd name="adj" fmla="val 7440"/>
            </a:avLst>
          </a:prstGeom>
          <a:solidFill>
            <a:srgbClr val="FBFAF7"/>
          </a:solidFill>
          <a:ln w="6350">
            <a:solidFill>
              <a:srgbClr val="DDD9CE"/>
            </a:solidFill>
            <a:prstDash val="solid"/>
          </a:ln>
        </p:spPr>
      </p:sp>
      <p:sp>
        <p:nvSpPr>
          <p:cNvPr id="16" name="Text 14"/>
          <p:cNvSpPr/>
          <p:nvPr/>
        </p:nvSpPr>
        <p:spPr>
          <a:xfrm>
            <a:off x="4833012" y="3759076"/>
            <a:ext cx="31336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347F5"/>
                </a:solidFill>
                <a:latin typeface="Arial" pitchFamily="34" charset="0"/>
                <a:ea typeface="Arial" pitchFamily="34" charset="-122"/>
                <a:cs typeface="Arial" pitchFamily="34" charset="-120"/>
              </a:rPr>
              <a:t>Customer requests</a:t>
            </a:r>
            <a:endParaRPr lang="en-US" sz="1800" dirty="0"/>
          </a:p>
        </p:txBody>
      </p:sp>
      <p:sp>
        <p:nvSpPr>
          <p:cNvPr id="17" name="Text 15"/>
          <p:cNvSpPr/>
          <p:nvPr/>
        </p:nvSpPr>
        <p:spPr>
          <a:xfrm>
            <a:off x="4833012" y="4109579"/>
            <a:ext cx="3133649"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Steps for when a customer asks to see, fix or delete their data.</a:t>
            </a:r>
            <a:endParaRPr lang="en-US" sz="1300" dirty="0"/>
          </a:p>
        </p:txBody>
      </p:sp>
      <p:sp>
        <p:nvSpPr>
          <p:cNvPr id="18" name="Text 16"/>
          <p:cNvSpPr/>
          <p:nvPr/>
        </p:nvSpPr>
        <p:spPr>
          <a:xfrm>
            <a:off x="812800" y="5033243"/>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Short, plain templates written for HairMela's team. They are in the report package and on GitHub.</a:t>
            </a:r>
            <a:endParaRPr lang="en-US" sz="13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Awareness: the five-habit flyer</a:t>
            </a:r>
            <a:endParaRPr lang="en-US" sz="3200" dirty="0"/>
          </a:p>
        </p:txBody>
      </p:sp>
      <p:sp>
        <p:nvSpPr>
          <p:cNvPr id="3" name="Shape 1"/>
          <p:cNvSpPr/>
          <p:nvPr/>
        </p:nvSpPr>
        <p:spPr>
          <a:xfrm>
            <a:off x="815975" y="1466193"/>
            <a:ext cx="1984970" cy="1688637"/>
          </a:xfrm>
          <a:prstGeom prst="roundRect">
            <a:avLst>
              <a:gd name="adj" fmla="val 5829"/>
            </a:avLst>
          </a:prstGeom>
          <a:solidFill>
            <a:srgbClr val="FBFAF7"/>
          </a:solidFill>
          <a:ln w="6350">
            <a:solidFill>
              <a:srgbClr val="DDD9CE"/>
            </a:solidFill>
            <a:prstDash val="solid"/>
          </a:ln>
        </p:spPr>
      </p:sp>
      <p:pic>
        <p:nvPicPr>
          <p:cNvPr id="4" name="Image 0" descr="Key">    </p:cNvPr>
          <p:cNvPicPr>
            <a:picLocks noChangeAspect="1"/>
          </p:cNvPicPr>
          <p:nvPr/>
        </p:nvPicPr>
        <p:blipFill>
          <a:blip r:embed="rId1"/>
          <a:srcRect l="0" r="0" t="0" b="0"/>
          <a:stretch/>
        </p:blipFill>
        <p:spPr>
          <a:xfrm>
            <a:off x="1071033" y="1721247"/>
            <a:ext cx="355600" cy="355600"/>
          </a:xfrm>
          <a:prstGeom prst="rect">
            <a:avLst/>
          </a:prstGeom>
        </p:spPr>
      </p:pic>
      <p:sp>
        <p:nvSpPr>
          <p:cNvPr id="5" name="Text 2"/>
          <p:cNvSpPr/>
          <p:nvPr/>
        </p:nvSpPr>
        <p:spPr>
          <a:xfrm>
            <a:off x="1071033" y="2153047"/>
            <a:ext cx="1525654"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Strong passwords</a:t>
            </a:r>
            <a:endParaRPr lang="en-US" sz="1400" dirty="0"/>
          </a:p>
        </p:txBody>
      </p:sp>
      <p:sp>
        <p:nvSpPr>
          <p:cNvPr id="6" name="Shape 3"/>
          <p:cNvSpPr/>
          <p:nvPr/>
        </p:nvSpPr>
        <p:spPr>
          <a:xfrm>
            <a:off x="2959695" y="1466193"/>
            <a:ext cx="1985037" cy="1688637"/>
          </a:xfrm>
          <a:prstGeom prst="roundRect">
            <a:avLst>
              <a:gd name="adj" fmla="val 5829"/>
            </a:avLst>
          </a:prstGeom>
          <a:solidFill>
            <a:srgbClr val="FBFAF7"/>
          </a:solidFill>
          <a:ln w="6350">
            <a:solidFill>
              <a:srgbClr val="DDD9CE"/>
            </a:solidFill>
            <a:prstDash val="solid"/>
          </a:ln>
        </p:spPr>
      </p:sp>
      <p:pic>
        <p:nvPicPr>
          <p:cNvPr id="7" name="Image 1" descr="Warning">    </p:cNvPr>
          <p:cNvPicPr>
            <a:picLocks noChangeAspect="1"/>
          </p:cNvPicPr>
          <p:nvPr/>
        </p:nvPicPr>
        <p:blipFill>
          <a:blip r:embed="rId2"/>
          <a:srcRect l="0" r="0" t="0" b="0"/>
          <a:stretch/>
        </p:blipFill>
        <p:spPr>
          <a:xfrm>
            <a:off x="3214754" y="1721247"/>
            <a:ext cx="355600" cy="355600"/>
          </a:xfrm>
          <a:prstGeom prst="rect">
            <a:avLst/>
          </a:prstGeom>
        </p:spPr>
      </p:pic>
      <p:sp>
        <p:nvSpPr>
          <p:cNvPr id="8" name="Text 4"/>
          <p:cNvSpPr/>
          <p:nvPr/>
        </p:nvSpPr>
        <p:spPr>
          <a:xfrm>
            <a:off x="3214754" y="2153047"/>
            <a:ext cx="1525720"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Think before you click</a:t>
            </a:r>
            <a:endParaRPr lang="en-US" sz="1400" dirty="0"/>
          </a:p>
        </p:txBody>
      </p:sp>
      <p:sp>
        <p:nvSpPr>
          <p:cNvPr id="9" name="Shape 5"/>
          <p:cNvSpPr/>
          <p:nvPr/>
        </p:nvSpPr>
        <p:spPr>
          <a:xfrm>
            <a:off x="5103482" y="1466193"/>
            <a:ext cx="1984970" cy="1688637"/>
          </a:xfrm>
          <a:prstGeom prst="roundRect">
            <a:avLst>
              <a:gd name="adj" fmla="val 5829"/>
            </a:avLst>
          </a:prstGeom>
          <a:solidFill>
            <a:srgbClr val="FBFAF7"/>
          </a:solidFill>
          <a:ln w="6350">
            <a:solidFill>
              <a:srgbClr val="DDD9CE"/>
            </a:solidFill>
            <a:prstDash val="solid"/>
          </a:ln>
        </p:spPr>
      </p:sp>
      <p:pic>
        <p:nvPicPr>
          <p:cNvPr id="10" name="Image 2" descr="Chat">    </p:cNvPr>
          <p:cNvPicPr>
            <a:picLocks noChangeAspect="1"/>
          </p:cNvPicPr>
          <p:nvPr/>
        </p:nvPicPr>
        <p:blipFill>
          <a:blip r:embed="rId3"/>
          <a:srcRect l="0" r="0" t="0" b="0"/>
          <a:stretch/>
        </p:blipFill>
        <p:spPr>
          <a:xfrm>
            <a:off x="5358540" y="1721247"/>
            <a:ext cx="355600" cy="355600"/>
          </a:xfrm>
          <a:prstGeom prst="rect">
            <a:avLst/>
          </a:prstGeom>
        </p:spPr>
      </p:pic>
      <p:sp>
        <p:nvSpPr>
          <p:cNvPr id="11" name="Text 6"/>
          <p:cNvSpPr/>
          <p:nvPr/>
        </p:nvSpPr>
        <p:spPr>
          <a:xfrm>
            <a:off x="5358540" y="2153047"/>
            <a:ext cx="1525654"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Keep customer details out of personal chats</a:t>
            </a:r>
            <a:endParaRPr lang="en-US" sz="1400" dirty="0"/>
          </a:p>
        </p:txBody>
      </p:sp>
      <p:sp>
        <p:nvSpPr>
          <p:cNvPr id="12" name="Shape 7"/>
          <p:cNvSpPr/>
          <p:nvPr/>
        </p:nvSpPr>
        <p:spPr>
          <a:xfrm>
            <a:off x="7247203" y="1466193"/>
            <a:ext cx="1985037" cy="1688637"/>
          </a:xfrm>
          <a:prstGeom prst="roundRect">
            <a:avLst>
              <a:gd name="adj" fmla="val 5829"/>
            </a:avLst>
          </a:prstGeom>
          <a:solidFill>
            <a:srgbClr val="FBFAF7"/>
          </a:solidFill>
          <a:ln w="6350">
            <a:solidFill>
              <a:srgbClr val="DDD9CE"/>
            </a:solidFill>
            <a:prstDash val="solid"/>
          </a:ln>
        </p:spPr>
      </p:sp>
      <p:pic>
        <p:nvPicPr>
          <p:cNvPr id="13" name="Image 3" descr="Lock">    </p:cNvPr>
          <p:cNvPicPr>
            <a:picLocks noChangeAspect="1"/>
          </p:cNvPicPr>
          <p:nvPr/>
        </p:nvPicPr>
        <p:blipFill>
          <a:blip r:embed="rId4"/>
          <a:srcRect l="0" r="0" t="0" b="0"/>
          <a:stretch/>
        </p:blipFill>
        <p:spPr>
          <a:xfrm>
            <a:off x="7502261" y="1721247"/>
            <a:ext cx="355600" cy="355600"/>
          </a:xfrm>
          <a:prstGeom prst="rect">
            <a:avLst/>
          </a:prstGeom>
        </p:spPr>
      </p:pic>
      <p:sp>
        <p:nvSpPr>
          <p:cNvPr id="14" name="Text 8"/>
          <p:cNvSpPr/>
          <p:nvPr/>
        </p:nvSpPr>
        <p:spPr>
          <a:xfrm>
            <a:off x="7502261" y="2153047"/>
            <a:ext cx="1525720"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Lock it and update it</a:t>
            </a:r>
            <a:endParaRPr lang="en-US" sz="1400" dirty="0"/>
          </a:p>
        </p:txBody>
      </p:sp>
      <p:sp>
        <p:nvSpPr>
          <p:cNvPr id="15" name="Shape 9"/>
          <p:cNvSpPr/>
          <p:nvPr/>
        </p:nvSpPr>
        <p:spPr>
          <a:xfrm>
            <a:off x="9390989" y="1466193"/>
            <a:ext cx="1985037" cy="1688637"/>
          </a:xfrm>
          <a:prstGeom prst="roundRect">
            <a:avLst>
              <a:gd name="adj" fmla="val 5829"/>
            </a:avLst>
          </a:prstGeom>
          <a:solidFill>
            <a:srgbClr val="FBFAF7"/>
          </a:solidFill>
          <a:ln w="6350">
            <a:solidFill>
              <a:srgbClr val="DDD9CE"/>
            </a:solidFill>
            <a:prstDash val="solid"/>
          </a:ln>
        </p:spPr>
      </p:sp>
      <p:pic>
        <p:nvPicPr>
          <p:cNvPr id="16" name="Image 4" descr="PaperPlane">    </p:cNvPr>
          <p:cNvPicPr>
            <a:picLocks noChangeAspect="1"/>
          </p:cNvPicPr>
          <p:nvPr/>
        </p:nvPicPr>
        <p:blipFill>
          <a:blip r:embed="rId5"/>
          <a:srcRect l="0" r="0" t="0" b="0"/>
          <a:stretch/>
        </p:blipFill>
        <p:spPr>
          <a:xfrm>
            <a:off x="9646047" y="1721247"/>
            <a:ext cx="355600" cy="355600"/>
          </a:xfrm>
          <a:prstGeom prst="rect">
            <a:avLst/>
          </a:prstGeom>
        </p:spPr>
      </p:pic>
      <p:sp>
        <p:nvSpPr>
          <p:cNvPr id="17" name="Text 10"/>
          <p:cNvSpPr/>
          <p:nvPr/>
        </p:nvSpPr>
        <p:spPr>
          <a:xfrm>
            <a:off x="9646047" y="2153047"/>
            <a:ext cx="1525720"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1A33"/>
                </a:solidFill>
                <a:latin typeface="Arial" pitchFamily="34" charset="0"/>
                <a:ea typeface="Arial" pitchFamily="34" charset="-122"/>
                <a:cs typeface="Arial" pitchFamily="34" charset="-120"/>
              </a:rPr>
              <a:t>Report it fast, without blame</a:t>
            </a:r>
            <a:endParaRPr lang="en-US" sz="1400" dirty="0"/>
          </a:p>
        </p:txBody>
      </p:sp>
      <p:sp>
        <p:nvSpPr>
          <p:cNvPr id="18" name="Text 11"/>
          <p:cNvSpPr/>
          <p:nvPr/>
        </p:nvSpPr>
        <p:spPr>
          <a:xfrm>
            <a:off x="812800" y="3361209"/>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Five habits on one flyer for the HairMela team, to be shared after the presentation.</a:t>
            </a:r>
            <a:endParaRPr lang="en-US" sz="1300" dirty="0"/>
          </a:p>
        </p:txBody>
      </p:sp>
      <p:sp>
        <p:nvSpPr>
          <p:cNvPr id="19" name="Text 1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Measuring the change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18"/>
          <a:ext cx="10553700" cy="1929805"/>
        </p:xfrm>
        <a:graphic>
          <a:graphicData uri="http://schemas.openxmlformats.org/drawingml/2006/table">
            <a:tbl>
              <a:tblPr/>
              <a:tblGrid>
                <a:gridCol w="6121146"/>
                <a:gridCol w="4432554"/>
              </a:tblGrid>
              <a:tr h="385961">
                <a:tc>
                  <a:txBody>
                    <a:bodyPr/>
                    <a:lstStyle/>
                    <a:p>
                      <a:pPr indent="0" marL="0">
                        <a:lnSpc>
                          <a:spcPts val="1960"/>
                        </a:lnSpc>
                        <a:buNone/>
                      </a:pPr>
                      <a:r>
                        <a:rPr lang="en-US" sz="1400" b="1" dirty="0">
                          <a:solidFill>
                            <a:srgbClr val="F6F4EF"/>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960"/>
                        </a:lnSpc>
                        <a:buNone/>
                      </a:pPr>
                      <a:r>
                        <a:rPr lang="en-US" sz="1400" b="1" dirty="0">
                          <a:solidFill>
                            <a:srgbClr val="F6F4EF"/>
                          </a:solidFill>
                          <a:latin typeface="Arial" pitchFamily="34" charset="0"/>
                          <a:ea typeface="Arial" pitchFamily="34" charset="-122"/>
                          <a:cs typeface="Arial" pitchFamily="34" charset="-120"/>
                        </a:rPr>
                        <a:t>Status</a:t>
                      </a:r>
                      <a:endParaRPr lang="en-US" sz="1400" dirty="0">
                        <a:latin typeface="Arial" charset="0"/>
                        <a:ea typeface="Arial" charset="0"/>
                        <a:cs typeface="Arial" charset="0"/>
                      </a:endParaRPr>
                    </a:p>
                  </a:txBody>
                  <a:tcPr marL="62230" marR="62230" marT="62230" marB="6223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85961">
                <a:tc>
                  <a:txBody>
                    <a:bodyPr/>
                    <a:lstStyle/>
                    <a:p>
                      <a:pPr indent="0" marL="0">
                        <a:lnSpc>
                          <a:spcPts val="1960"/>
                        </a:lnSpc>
                        <a:buNone/>
                      </a:pPr>
                      <a:r>
                        <a:rPr lang="en-US" sz="1400" dirty="0">
                          <a:solidFill>
                            <a:srgbClr val="121A33"/>
                          </a:solidFill>
                          <a:latin typeface="Arial" pitchFamily="34" charset="0"/>
                          <a:ea typeface="Arial" pitchFamily="34" charset="-122"/>
                          <a:cs typeface="Arial" pitchFamily="34" charset="-120"/>
                        </a:rPr>
                        <a:t>Present the findings at the hub</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7A5200"/>
                          </a:solidFill>
                          <a:latin typeface="Arial" pitchFamily="34" charset="0"/>
                          <a:ea typeface="Arial" pitchFamily="34" charset="-122"/>
                          <a:cs typeface="Arial" pitchFamily="34" charset="-120"/>
                        </a:rPr>
                        <a:t>Today</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1A33"/>
                          </a:solidFill>
                          <a:latin typeface="Arial" pitchFamily="34" charset="0"/>
                          <a:ea typeface="Arial" pitchFamily="34" charset="-122"/>
                          <a:cs typeface="Arial" pitchFamily="34" charset="-120"/>
                        </a:rPr>
                        <a:t>Share the report, templates and awareness flyer with HairMela</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7A5200"/>
                          </a:solidFill>
                          <a:latin typeface="Arial" pitchFamily="34" charset="0"/>
                          <a:ea typeface="Arial" pitchFamily="34" charset="-122"/>
                          <a:cs typeface="Arial" pitchFamily="34" charset="-120"/>
                        </a:rPr>
                        <a:t>Planned, after the presentation</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1A33"/>
                          </a:solidFill>
                          <a:latin typeface="Arial" pitchFamily="34" charset="0"/>
                          <a:ea typeface="Arial" pitchFamily="34" charset="-122"/>
                          <a:cs typeface="Arial" pitchFamily="34" charset="-120"/>
                        </a:rPr>
                        <a:t>Follow-up survey with the same questions plus flyer feedback</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7A5200"/>
                          </a:solidFill>
                          <a:latin typeface="Arial" pitchFamily="34" charset="0"/>
                          <a:ea typeface="Arial" pitchFamily="34" charset="-122"/>
                          <a:cs typeface="Arial" pitchFamily="34" charset="-120"/>
                        </a:rPr>
                        <a:t>Planned, after sharing</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1A33"/>
                          </a:solidFill>
                          <a:latin typeface="Arial" pitchFamily="34" charset="0"/>
                          <a:ea typeface="Arial" pitchFamily="34" charset="-122"/>
                          <a:cs typeface="Arial" pitchFamily="34" charset="-120"/>
                        </a:rPr>
                        <a:t>Compare baseline and follow-up; report the change</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5B6475"/>
                          </a:solidFill>
                          <a:latin typeface="Arial" pitchFamily="34" charset="0"/>
                          <a:ea typeface="Arial" pitchFamily="34" charset="-122"/>
                          <a:cs typeface="Arial" pitchFamily="34" charset="-120"/>
                        </a:rPr>
                        <a:t>After the follow-up</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360872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Nothing has been shared with HairMela yet, so no change is claimed.</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Limits of this audit</a:t>
            </a:r>
            <a:endParaRPr lang="en-US" sz="3200" dirty="0"/>
          </a:p>
        </p:txBody>
      </p:sp>
      <p:sp>
        <p:nvSpPr>
          <p:cNvPr id="3" name="Shape 1"/>
          <p:cNvSpPr/>
          <p:nvPr/>
        </p:nvSpPr>
        <p:spPr>
          <a:xfrm>
            <a:off x="815975" y="1466193"/>
            <a:ext cx="5175250" cy="2757818"/>
          </a:xfrm>
          <a:prstGeom prst="roundRect">
            <a:avLst>
              <a:gd name="adj" fmla="val 3569"/>
            </a:avLst>
          </a:prstGeom>
          <a:solidFill>
            <a:srgbClr val="FBFAF7"/>
          </a:solidFill>
          <a:ln w="6350">
            <a:solidFill>
              <a:srgbClr val="DDD9CE"/>
            </a:solidFill>
            <a:prstDash val="solid"/>
          </a:ln>
        </p:spPr>
      </p:sp>
      <p:sp>
        <p:nvSpPr>
          <p:cNvPr id="4" name="Text 2"/>
          <p:cNvSpPr/>
          <p:nvPr/>
        </p:nvSpPr>
        <p:spPr>
          <a:xfrm>
            <a:off x="10710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B3B"/>
                </a:solidFill>
                <a:latin typeface="Arial" pitchFamily="34" charset="0"/>
                <a:ea typeface="Arial" pitchFamily="34" charset="-122"/>
                <a:cs typeface="Arial" pitchFamily="34" charset="-120"/>
              </a:rPr>
              <a:t>What this audit is</a:t>
            </a:r>
            <a:endParaRPr lang="en-US" sz="1800" dirty="0"/>
          </a:p>
        </p:txBody>
      </p:sp>
      <p:pic>
        <p:nvPicPr>
          <p:cNvPr id="5" name="Image 0" descr="Check">    </p:cNvPr>
          <p:cNvPicPr>
            <a:picLocks noChangeAspect="1"/>
          </p:cNvPicPr>
          <p:nvPr/>
        </p:nvPicPr>
        <p:blipFill>
          <a:blip r:embed="rId1"/>
          <a:srcRect l="0" r="0" t="0" b="0"/>
          <a:stretch/>
        </p:blipFill>
        <p:spPr>
          <a:xfrm>
            <a:off x="1071033" y="2122562"/>
            <a:ext cx="177800" cy="177800"/>
          </a:xfrm>
          <a:prstGeom prst="rect">
            <a:avLst/>
          </a:prstGeom>
        </p:spPr>
      </p:pic>
      <p:sp>
        <p:nvSpPr>
          <p:cNvPr id="6" name="Text 3"/>
          <p:cNvSpPr/>
          <p:nvPr/>
        </p:nvSpPr>
        <p:spPr>
          <a:xfrm>
            <a:off x="1337733" y="2122562"/>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Public pages, the app as a normal customer, and a survey answered by HairMela's management</a:t>
            </a:r>
            <a:endParaRPr lang="en-US" sz="1300" dirty="0"/>
          </a:p>
        </p:txBody>
      </p:sp>
      <p:pic>
        <p:nvPicPr>
          <p:cNvPr id="7" name="Image 1" descr="Check">    </p:cNvPr>
          <p:cNvPicPr>
            <a:picLocks noChangeAspect="1"/>
          </p:cNvPicPr>
          <p:nvPr/>
        </p:nvPicPr>
        <p:blipFill>
          <a:blip r:embed="rId2"/>
          <a:srcRect l="0" r="0" t="0" b="0"/>
          <a:stretch/>
        </p:blipFill>
        <p:spPr>
          <a:xfrm>
            <a:off x="1071033" y="2660985"/>
            <a:ext cx="177800" cy="177800"/>
          </a:xfrm>
          <a:prstGeom prst="rect">
            <a:avLst/>
          </a:prstGeom>
        </p:spPr>
      </p:pic>
      <p:sp>
        <p:nvSpPr>
          <p:cNvPr id="8" name="Text 4"/>
          <p:cNvSpPr/>
          <p:nvPr/>
        </p:nvSpPr>
        <p:spPr>
          <a:xfrm>
            <a:off x="1337733" y="2660985"/>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Done with HairMela's permission</a:t>
            </a:r>
            <a:endParaRPr lang="en-US" sz="1300" dirty="0"/>
          </a:p>
        </p:txBody>
      </p:sp>
      <p:pic>
        <p:nvPicPr>
          <p:cNvPr id="9" name="Image 2" descr="Check">    </p:cNvPr>
          <p:cNvPicPr>
            <a:picLocks noChangeAspect="1"/>
          </p:cNvPicPr>
          <p:nvPr/>
        </p:nvPicPr>
        <p:blipFill>
          <a:blip r:embed="rId3"/>
          <a:srcRect l="0" r="0" t="0" b="0"/>
          <a:stretch/>
        </p:blipFill>
        <p:spPr>
          <a:xfrm>
            <a:off x="1071033" y="2968303"/>
            <a:ext cx="177800" cy="177800"/>
          </a:xfrm>
          <a:prstGeom prst="rect">
            <a:avLst/>
          </a:prstGeom>
        </p:spPr>
      </p:pic>
      <p:sp>
        <p:nvSpPr>
          <p:cNvPr id="10" name="Text 5"/>
          <p:cNvSpPr/>
          <p:nvPr/>
        </p:nvSpPr>
        <p:spPr>
          <a:xfrm>
            <a:off x="1337733" y="2968303"/>
            <a:ext cx="453038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A baseline and a practical action plan</a:t>
            </a:r>
            <a:endParaRPr lang="en-US" sz="1300" dirty="0"/>
          </a:p>
        </p:txBody>
      </p:sp>
      <p:sp>
        <p:nvSpPr>
          <p:cNvPr id="11" name="Shape 6"/>
          <p:cNvSpPr/>
          <p:nvPr/>
        </p:nvSpPr>
        <p:spPr>
          <a:xfrm>
            <a:off x="6200775" y="1466193"/>
            <a:ext cx="5175250" cy="2757818"/>
          </a:xfrm>
          <a:prstGeom prst="roundRect">
            <a:avLst>
              <a:gd name="adj" fmla="val 3569"/>
            </a:avLst>
          </a:prstGeom>
          <a:solidFill>
            <a:srgbClr val="FBFAF7"/>
          </a:solidFill>
          <a:ln w="6350">
            <a:solidFill>
              <a:srgbClr val="DDD9CE"/>
            </a:solidFill>
            <a:prstDash val="solid"/>
          </a:ln>
        </p:spPr>
      </p:sp>
      <p:sp>
        <p:nvSpPr>
          <p:cNvPr id="12" name="Text 7"/>
          <p:cNvSpPr/>
          <p:nvPr/>
        </p:nvSpPr>
        <p:spPr>
          <a:xfrm>
            <a:off x="6455833" y="1721247"/>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A5200"/>
                </a:solidFill>
                <a:latin typeface="Arial" pitchFamily="34" charset="0"/>
                <a:ea typeface="Arial" pitchFamily="34" charset="-122"/>
                <a:cs typeface="Arial" pitchFamily="34" charset="-120"/>
              </a:rPr>
              <a:t>What it is not</a:t>
            </a:r>
            <a:endParaRPr lang="en-US" sz="1800" dirty="0"/>
          </a:p>
        </p:txBody>
      </p:sp>
      <p:pic>
        <p:nvPicPr>
          <p:cNvPr id="13" name="Image 3" descr="Warning">    </p:cNvPr>
          <p:cNvPicPr>
            <a:picLocks noChangeAspect="1"/>
          </p:cNvPicPr>
          <p:nvPr/>
        </p:nvPicPr>
        <p:blipFill>
          <a:blip r:embed="rId4"/>
          <a:srcRect l="0" r="0" t="0" b="0"/>
          <a:stretch/>
        </p:blipFill>
        <p:spPr>
          <a:xfrm>
            <a:off x="6455833" y="2122562"/>
            <a:ext cx="177800" cy="177800"/>
          </a:xfrm>
          <a:prstGeom prst="rect">
            <a:avLst/>
          </a:prstGeom>
        </p:spPr>
      </p:pic>
      <p:sp>
        <p:nvSpPr>
          <p:cNvPr id="14" name="Text 8"/>
          <p:cNvSpPr/>
          <p:nvPr/>
        </p:nvSpPr>
        <p:spPr>
          <a:xfrm>
            <a:off x="6722534" y="2122562"/>
            <a:ext cx="46503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 scanning, testing or access to systems or customer data</a:t>
            </a:r>
            <a:endParaRPr lang="en-US" sz="1300" dirty="0"/>
          </a:p>
        </p:txBody>
      </p:sp>
      <p:pic>
        <p:nvPicPr>
          <p:cNvPr id="15" name="Image 4" descr="Warning">    </p:cNvPr>
          <p:cNvPicPr>
            <a:picLocks noChangeAspect="1"/>
          </p:cNvPicPr>
          <p:nvPr/>
        </p:nvPicPr>
        <p:blipFill>
          <a:blip r:embed="rId5"/>
          <a:srcRect l="0" r="0" t="0" b="0"/>
          <a:stretch/>
        </p:blipFill>
        <p:spPr>
          <a:xfrm>
            <a:off x="6455833" y="2429867"/>
            <a:ext cx="177800" cy="177800"/>
          </a:xfrm>
          <a:prstGeom prst="rect">
            <a:avLst/>
          </a:prstGeom>
        </p:spPr>
      </p:pic>
      <p:sp>
        <p:nvSpPr>
          <p:cNvPr id="16" name="Text 9"/>
          <p:cNvSpPr/>
          <p:nvPr/>
        </p:nvSpPr>
        <p:spPr>
          <a:xfrm>
            <a:off x="6722534" y="2429867"/>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The score is management-reported; documents were not seen</a:t>
            </a:r>
            <a:endParaRPr lang="en-US" sz="1300" dirty="0"/>
          </a:p>
        </p:txBody>
      </p:sp>
      <p:pic>
        <p:nvPicPr>
          <p:cNvPr id="17" name="Image 5" descr="Warning">    </p:cNvPr>
          <p:cNvPicPr>
            <a:picLocks noChangeAspect="1"/>
          </p:cNvPicPr>
          <p:nvPr/>
        </p:nvPicPr>
        <p:blipFill>
          <a:blip r:embed="rId6"/>
          <a:srcRect l="0" r="0" t="0" b="0"/>
          <a:stretch/>
        </p:blipFill>
        <p:spPr>
          <a:xfrm>
            <a:off x="6455833" y="2968303"/>
            <a:ext cx="177800" cy="177800"/>
          </a:xfrm>
          <a:prstGeom prst="rect">
            <a:avLst/>
          </a:prstGeom>
        </p:spPr>
      </p:pic>
      <p:sp>
        <p:nvSpPr>
          <p:cNvPr id="18" name="Text 10"/>
          <p:cNvSpPr/>
          <p:nvPr/>
        </p:nvSpPr>
        <p:spPr>
          <a:xfrm>
            <a:off x="6722534" y="2968303"/>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Public pages are thinner than management reports, so those are follow-ups</a:t>
            </a:r>
            <a:endParaRPr lang="en-US" sz="1300" dirty="0"/>
          </a:p>
        </p:txBody>
      </p:sp>
      <p:pic>
        <p:nvPicPr>
          <p:cNvPr id="19" name="Image 6" descr="Warning">    </p:cNvPr>
          <p:cNvPicPr>
            <a:picLocks noChangeAspect="1"/>
          </p:cNvPicPr>
          <p:nvPr/>
        </p:nvPicPr>
        <p:blipFill>
          <a:blip r:embed="rId7"/>
          <a:srcRect l="0" r="0" t="0" b="0"/>
          <a:stretch/>
        </p:blipFill>
        <p:spPr>
          <a:xfrm>
            <a:off x="6455833" y="3506725"/>
            <a:ext cx="177800" cy="177800"/>
          </a:xfrm>
          <a:prstGeom prst="rect">
            <a:avLst/>
          </a:prstGeom>
        </p:spPr>
      </p:pic>
      <p:sp>
        <p:nvSpPr>
          <p:cNvPr id="20" name="Text 11"/>
          <p:cNvSpPr/>
          <p:nvPr/>
        </p:nvSpPr>
        <p:spPr>
          <a:xfrm>
            <a:off x="6722534" y="3506725"/>
            <a:ext cx="453038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A33"/>
                </a:solidFill>
                <a:latin typeface="Arial" pitchFamily="34" charset="0"/>
                <a:ea typeface="Arial" pitchFamily="34" charset="-122"/>
                <a:cs typeface="Arial" pitchFamily="34" charset="-120"/>
              </a:rPr>
              <a:t>Not legal advice; NDPA sections need checking in the official Act</a:t>
            </a:r>
            <a:endParaRPr lang="en-US" sz="1300" dirty="0"/>
          </a:p>
        </p:txBody>
      </p:sp>
      <p:sp>
        <p:nvSpPr>
          <p:cNvPr id="21" name="Text 1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A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Arial" pitchFamily="34" charset="0"/>
                <a:ea typeface="Arial" pitchFamily="34" charset="-122"/>
                <a:cs typeface="Arial" pitchFamily="34" charset="-120"/>
              </a:rPr>
              <a:t>Conclusion</a:t>
            </a:r>
            <a:endParaRPr lang="en-US" sz="3200" dirty="0"/>
          </a:p>
        </p:txBody>
      </p:sp>
      <p:sp>
        <p:nvSpPr>
          <p:cNvPr id="3" name="Text 1"/>
          <p:cNvSpPr/>
          <p:nvPr/>
        </p:nvSpPr>
        <p:spPr>
          <a:xfrm>
            <a:off x="812800" y="1463018"/>
            <a:ext cx="10883392" cy="665427"/>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4EF"/>
                </a:solidFill>
                <a:latin typeface="Arial" pitchFamily="34" charset="0"/>
                <a:ea typeface="Arial" pitchFamily="34" charset="-122"/>
                <a:cs typeface="Arial" pitchFamily="34" charset="-120"/>
              </a:rPr>
              <a:t>HairMela scores 98%, Strong, as reported by its management. The next step is to confirm it with documents and close the gaps customers can see.</a:t>
            </a:r>
            <a:endParaRPr lang="en-US" sz="1800" dirty="0"/>
          </a:p>
        </p:txBody>
      </p:sp>
      <p:pic>
        <p:nvPicPr>
          <p:cNvPr id="4" name="Image 0" descr="Lightning">    </p:cNvPr>
          <p:cNvPicPr>
            <a:picLocks noChangeAspect="1"/>
          </p:cNvPicPr>
          <p:nvPr/>
        </p:nvPicPr>
        <p:blipFill>
          <a:blip r:embed="rId1"/>
          <a:srcRect l="0" r="0" t="0" b="0"/>
          <a:stretch/>
        </p:blipFill>
        <p:spPr>
          <a:xfrm>
            <a:off x="812800" y="2357041"/>
            <a:ext cx="177800" cy="177800"/>
          </a:xfrm>
          <a:prstGeom prst="rect">
            <a:avLst/>
          </a:prstGeom>
        </p:spPr>
      </p:pic>
      <p:sp>
        <p:nvSpPr>
          <p:cNvPr id="5" name="Text 2"/>
          <p:cNvSpPr/>
          <p:nvPr/>
        </p:nvSpPr>
        <p:spPr>
          <a:xfrm>
            <a:off x="1079500" y="2357041"/>
            <a:ext cx="1060869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F"/>
                </a:solidFill>
                <a:latin typeface="Arial" pitchFamily="34" charset="0"/>
                <a:ea typeface="Arial" pitchFamily="34" charset="-122"/>
                <a:cs typeface="Arial" pitchFamily="34" charset="-120"/>
              </a:rPr>
              <a:t>Test and write down the breach plan (R-07)</a:t>
            </a:r>
            <a:endParaRPr lang="en-US" sz="1500" dirty="0"/>
          </a:p>
        </p:txBody>
      </p:sp>
      <p:pic>
        <p:nvPicPr>
          <p:cNvPr id="6" name="Image 1" descr="Search">    </p:cNvPr>
          <p:cNvPicPr>
            <a:picLocks noChangeAspect="1"/>
          </p:cNvPicPr>
          <p:nvPr/>
        </p:nvPicPr>
        <p:blipFill>
          <a:blip r:embed="rId2"/>
          <a:srcRect l="0" r="0" t="0" b="0"/>
          <a:stretch/>
        </p:blipFill>
        <p:spPr>
          <a:xfrm>
            <a:off x="812800" y="2750741"/>
            <a:ext cx="177800" cy="177800"/>
          </a:xfrm>
          <a:prstGeom prst="rect">
            <a:avLst/>
          </a:prstGeom>
        </p:spPr>
      </p:pic>
      <p:sp>
        <p:nvSpPr>
          <p:cNvPr id="7" name="Text 3"/>
          <p:cNvSpPr/>
          <p:nvPr/>
        </p:nvSpPr>
        <p:spPr>
          <a:xfrm>
            <a:off x="1079500" y="2750741"/>
            <a:ext cx="1060869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F"/>
                </a:solidFill>
                <a:latin typeface="Arial" pitchFamily="34" charset="0"/>
                <a:ea typeface="Arial" pitchFamily="34" charset="-122"/>
                <a:cs typeface="Arial" pitchFamily="34" charset="-120"/>
              </a:rPr>
              <a:t>Make the public pages match practice: consent line, privacy link, rights, retention (R-08, R-13)</a:t>
            </a:r>
            <a:endParaRPr lang="en-US" sz="1500" dirty="0"/>
          </a:p>
        </p:txBody>
      </p:sp>
      <p:pic>
        <p:nvPicPr>
          <p:cNvPr id="8" name="Image 2" descr="Users">    </p:cNvPr>
          <p:cNvPicPr>
            <a:picLocks noChangeAspect="1"/>
          </p:cNvPicPr>
          <p:nvPr/>
        </p:nvPicPr>
        <p:blipFill>
          <a:blip r:embed="rId3"/>
          <a:srcRect l="0" r="0" t="0" b="0"/>
          <a:stretch/>
        </p:blipFill>
        <p:spPr>
          <a:xfrm>
            <a:off x="812800" y="3144441"/>
            <a:ext cx="177800" cy="177800"/>
          </a:xfrm>
          <a:prstGeom prst="rect">
            <a:avLst/>
          </a:prstGeom>
        </p:spPr>
      </p:pic>
      <p:sp>
        <p:nvSpPr>
          <p:cNvPr id="9" name="Text 4"/>
          <p:cNvSpPr/>
          <p:nvPr/>
        </p:nvSpPr>
        <p:spPr>
          <a:xfrm>
            <a:off x="1079500" y="3144441"/>
            <a:ext cx="1060869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F"/>
                </a:solidFill>
                <a:latin typeface="Arial" pitchFamily="34" charset="0"/>
                <a:ea typeface="Arial" pitchFamily="34" charset="-122"/>
                <a:cs typeface="Arial" pitchFamily="34" charset="-120"/>
              </a:rPr>
              <a:t>Name vendors, confirm agreements, and set a public Wi-Fi rule (R-09, R-14)</a:t>
            </a:r>
            <a:endParaRPr lang="en-US" sz="1500" dirty="0"/>
          </a:p>
        </p:txBody>
      </p:sp>
      <p:pic>
        <p:nvPicPr>
          <p:cNvPr id="10" name="Image 3" descr="Chart">    </p:cNvPr>
          <p:cNvPicPr>
            <a:picLocks noChangeAspect="1"/>
          </p:cNvPicPr>
          <p:nvPr/>
        </p:nvPicPr>
        <p:blipFill>
          <a:blip r:embed="rId4"/>
          <a:srcRect l="0" r="0" t="0" b="0"/>
          <a:stretch/>
        </p:blipFill>
        <p:spPr>
          <a:xfrm>
            <a:off x="812800" y="3538141"/>
            <a:ext cx="177800" cy="177800"/>
          </a:xfrm>
          <a:prstGeom prst="rect">
            <a:avLst/>
          </a:prstGeom>
        </p:spPr>
      </p:pic>
      <p:sp>
        <p:nvSpPr>
          <p:cNvPr id="11" name="Text 5"/>
          <p:cNvSpPr/>
          <p:nvPr/>
        </p:nvSpPr>
        <p:spPr>
          <a:xfrm>
            <a:off x="1079500" y="3538141"/>
            <a:ext cx="1060869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F"/>
                </a:solidFill>
                <a:latin typeface="Arial" pitchFamily="34" charset="0"/>
                <a:ea typeface="Arial" pitchFamily="34" charset="-122"/>
                <a:cs typeface="Arial" pitchFamily="34" charset="-120"/>
              </a:rPr>
              <a:t>Repeat the survey and measure the change</a:t>
            </a:r>
            <a:endParaRPr lang="en-US" sz="1500" dirty="0"/>
          </a:p>
        </p:txBody>
      </p:sp>
      <p:sp>
        <p:nvSpPr>
          <p:cNvPr id="12"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F0"/>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1A33"/>
        </a:solidFill>
      </p:bgPr>
    </p:bg>
    <p:spTree>
      <p:nvGrpSpPr>
        <p:cNvPr id="1" name=""/>
        <p:cNvGrpSpPr/>
        <p:nvPr/>
      </p:nvGrpSpPr>
      <p:grpSpPr>
        <a:xfrm>
          <a:off x="0" y="0"/>
          <a:ext cx="0" cy="0"/>
          <a:chOff x="0" y="0"/>
          <a:chExt cx="0" cy="0"/>
        </a:xfrm>
      </p:grpSpPr>
      <p:sp>
        <p:nvSpPr>
          <p:cNvPr id="2" name="Text 0"/>
          <p:cNvSpPr/>
          <p:nvPr>
            <p:ph type="title"/>
          </p:nvPr>
        </p:nvSpPr>
        <p:spPr>
          <a:xfrm>
            <a:off x="812800" y="243966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F"/>
                </a:solidFill>
                <a:latin typeface="Arial" pitchFamily="34" charset="0"/>
                <a:ea typeface="Arial" pitchFamily="34" charset="-122"/>
                <a:cs typeface="Arial" pitchFamily="34" charset="-120"/>
              </a:rPr>
              <a:t>Thank you</a:t>
            </a:r>
            <a:endParaRPr lang="en-US" sz="6000" dirty="0"/>
          </a:p>
        </p:txBody>
      </p:sp>
      <p:sp>
        <p:nvSpPr>
          <p:cNvPr id="3" name="Text 1"/>
          <p:cNvSpPr/>
          <p:nvPr/>
        </p:nvSpPr>
        <p:spPr>
          <a:xfrm>
            <a:off x="812800" y="3442965"/>
            <a:ext cx="1088339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2F0"/>
                </a:solidFill>
                <a:latin typeface="Arial" pitchFamily="34" charset="0"/>
                <a:ea typeface="Arial" pitchFamily="34" charset="-122"/>
                <a:cs typeface="Arial" pitchFamily="34" charset="-120"/>
              </a:rPr>
              <a:t>Questions?</a:t>
            </a:r>
            <a:endParaRPr lang="en-US" sz="1800" dirty="0"/>
          </a:p>
        </p:txBody>
      </p:sp>
      <p:sp>
        <p:nvSpPr>
          <p:cNvPr id="4" name="Text 2"/>
          <p:cNvSpPr/>
          <p:nvPr/>
        </p:nvSpPr>
        <p:spPr>
          <a:xfrm>
            <a:off x="812800" y="396617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D23F"/>
                </a:solidFill>
                <a:latin typeface="Arial" pitchFamily="34" charset="0"/>
                <a:ea typeface="Arial" pitchFamily="34" charset="-122"/>
                <a:cs typeface="Arial" pitchFamily="34" charset="-120"/>
              </a:rPr>
              <a:t>Ayeni Ayomide · Cybersecurity trainee, Axiahub</a:t>
            </a:r>
            <a:endParaRPr lang="en-US" sz="1400" dirty="0"/>
          </a:p>
        </p:txBody>
      </p:sp>
      <p:sp>
        <p:nvSpPr>
          <p:cNvPr id="5"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F0"/>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A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Arial" pitchFamily="34" charset="0"/>
                <a:ea typeface="Arial" pitchFamily="34" charset="-122"/>
                <a:cs typeface="Arial" pitchFamily="34" charset="-120"/>
              </a:rPr>
              <a:t>Appendix</a:t>
            </a:r>
            <a:endParaRPr lang="en-US" sz="3200" dirty="0"/>
          </a:p>
        </p:txBody>
      </p:sp>
      <p:sp>
        <p:nvSpPr>
          <p:cNvPr id="3" name="Text 1"/>
          <p:cNvSpPr/>
          <p:nvPr/>
        </p:nvSpPr>
        <p:spPr>
          <a:xfrm>
            <a:off x="812800" y="146301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F0"/>
                </a:solidFill>
                <a:latin typeface="Arial" pitchFamily="34" charset="0"/>
                <a:ea typeface="Arial" pitchFamily="34" charset="-122"/>
                <a:cs typeface="Arial" pitchFamily="34" charset="-120"/>
              </a:rPr>
              <a:t>Evidence and references. Shown only if asked.</a:t>
            </a:r>
            <a:endParaRPr lang="en-US" sz="1600" dirty="0"/>
          </a:p>
        </p:txBody>
      </p:sp>
      <p:sp>
        <p:nvSpPr>
          <p:cNvPr id="4"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F0"/>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Appendix: evidence and data handling</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30"/>
          <a:ext cx="10553700" cy="2515129"/>
        </p:xfrm>
        <a:graphic>
          <a:graphicData uri="http://schemas.openxmlformats.org/drawingml/2006/table">
            <a:tbl>
              <a:tblPr/>
              <a:tblGrid>
                <a:gridCol w="2532888"/>
                <a:gridCol w="8020812"/>
              </a:tblGrid>
              <a:tr h="359304">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Evidence</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820"/>
                        </a:lnSpc>
                        <a:buNone/>
                      </a:pPr>
                      <a:r>
                        <a:rPr lang="en-US" sz="1300" b="1" dirty="0">
                          <a:solidFill>
                            <a:srgbClr val="F6F4EF"/>
                          </a:solidFill>
                          <a:latin typeface="Arial" pitchFamily="34" charset="0"/>
                          <a:ea typeface="Arial" pitchFamily="34" charset="-122"/>
                          <a:cs typeface="Arial" pitchFamily="34" charset="-120"/>
                        </a:rPr>
                        <a:t>What it is and how it is handled</a:t>
                      </a:r>
                      <a:endParaRPr lang="en-US" sz="1300" dirty="0">
                        <a:latin typeface="Arial" charset="0"/>
                        <a:ea typeface="Arial" charset="0"/>
                        <a:cs typeface="Arial" charset="0"/>
                      </a:endParaRPr>
                    </a:p>
                  </a:txBody>
                  <a:tcPr marL="57785" marR="57785" marT="57785" marB="57785"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Permission</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Email and WhatsApp from HairMela, with the limits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Public pages</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Privacy policy, terms of use and delete-account page, reviewed 14 October 2026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App review</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Screenshots of sign-up, profile and settings from my own account, with email addresses covered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Management survey</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Voluntary form answered by HairMela's management; kept confidential and not published</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Checklist and register</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25 controls and 14 risks, in the report and on GitHub</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Policies and flyer</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1A33"/>
                          </a:solidFill>
                          <a:latin typeface="Arial" pitchFamily="34" charset="0"/>
                          <a:ea typeface="Arial" pitchFamily="34" charset="-122"/>
                          <a:cs typeface="Arial" pitchFamily="34" charset="-120"/>
                        </a:rPr>
                        <a:t>Five templates and a five-habit flyer, written for HairMela's team</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4194051"/>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150"/>
                </a:solidFill>
                <a:latin typeface="Arial" pitchFamily="34" charset="0"/>
                <a:ea typeface="Arial" pitchFamily="34" charset="-122"/>
                <a:cs typeface="Arial" pitchFamily="34" charset="-120"/>
              </a:rPr>
              <a:t>Raw survey responses are not published. No customer or personal data appears in any screenshot.</a:t>
            </a:r>
            <a:endParaRPr lang="en-US" sz="13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A33"/>
                </a:solidFill>
                <a:latin typeface="Arial" pitchFamily="34" charset="0"/>
                <a:ea typeface="Arial" pitchFamily="34" charset="-122"/>
                <a:cs typeface="Arial" pitchFamily="34" charset="-120"/>
              </a:rPr>
              <a:t>Appendix: references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730"/>
          <a:ext cx="10553700" cy="3659121"/>
        </p:xfrm>
        <a:graphic>
          <a:graphicData uri="http://schemas.openxmlformats.org/drawingml/2006/table">
            <a:tbl>
              <a:tblPr/>
              <a:tblGrid>
                <a:gridCol w="2321814"/>
                <a:gridCol w="8231886"/>
              </a:tblGrid>
              <a:tr h="332647">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NDPA 2023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c>
                  <a:txBody>
                    <a:bodyPr/>
                    <a:lstStyle/>
                    <a:p>
                      <a:pPr indent="0" marL="0">
                        <a:lnSpc>
                          <a:spcPts val="1680"/>
                        </a:lnSpc>
                        <a:buNone/>
                      </a:pPr>
                      <a:r>
                        <a:rPr lang="en-US" sz="1200" b="1" dirty="0">
                          <a:solidFill>
                            <a:srgbClr val="F6F4EF"/>
                          </a:solidFill>
                          <a:latin typeface="Arial" pitchFamily="34" charset="0"/>
                          <a:ea typeface="Arial" pitchFamily="34" charset="-122"/>
                          <a:cs typeface="Arial" pitchFamily="34" charset="-120"/>
                        </a:rPr>
                        <a:t>Topic used in this audit</a:t>
                      </a:r>
                      <a:endParaRPr lang="en-US" sz="1200" dirty="0">
                        <a:latin typeface="Arial" charset="0"/>
                        <a:ea typeface="Arial" charset="0"/>
                        <a:cs typeface="Arial" charset="0"/>
                      </a:endParaRPr>
                    </a:p>
                  </a:txBody>
                  <a:tcPr marL="53340" marR="53340" marT="53340" marB="53340" anchor="t">
                    <a:lnL w="12700" cap="flat" cmpd="sng" algn="ctr">
                      <a:solidFill>
                        <a:srgbClr val="12192C"/>
                      </a:solidFill>
                      <a:prstDash val="solid"/>
                      <a:round/>
                      <a:headEnd type="none" w="med" len="med"/>
                      <a:tailEnd type="none" w="med" len="med"/>
                    </a:lnL>
                    <a:lnR w="12700" cap="flat" cmpd="sng" algn="ctr">
                      <a:solidFill>
                        <a:srgbClr val="1219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92C"/>
                      </a:solidFill>
                      <a:prstDash val="solid"/>
                      <a:round/>
                      <a:headEnd type="none" w="med" len="med"/>
                      <a:tailEnd type="none" w="med" len="med"/>
                    </a:lnB>
                    <a:solidFill>
                      <a:srgbClr val="121A33"/>
                    </a:solidFill>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Principles of processing</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192C"/>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s.25 and s.26</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Lawful basis and consent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Information given to the data subject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s.28</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Data protection impact assessment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s.29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Controller and processor duties; written agreements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s.32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Data protection officer (controllers of major importance)</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s.34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Access, correction and erasure rights</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s.39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Security of personal data</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s.40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Breach: tell the NDPC within 72 hours; tell people if risk is high</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s.44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21A33"/>
                          </a:solidFill>
                          <a:latin typeface="Arial" pitchFamily="34" charset="0"/>
                          <a:ea typeface="Arial" pitchFamily="34" charset="-122"/>
                          <a:cs typeface="Arial" pitchFamily="34" charset="-120"/>
                        </a:rPr>
                        <a:t>Registration of controllers and processors of major importance</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33804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150"/>
                </a:solidFill>
                <a:latin typeface="Arial" pitchFamily="34" charset="0"/>
                <a:ea typeface="Arial" pitchFamily="34" charset="-122"/>
                <a:cs typeface="Arial" pitchFamily="34" charset="-120"/>
              </a:rPr>
              <a:t>Frameworks: NIST Cybersecurity Framework 2.0 and the Nigeria Data Protection Act 2023. Section numbers should be confirmed in the official copy of the Act.</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HairMela security audit | Ayeni Ayomide, Axiahub</a:t>
            </a:r>
            <a:endParaRPr lang="en-US" sz="1200" dirty="0"/>
          </a:p>
        </p:txBody>
      </p:sp>
    </p:spTree>
  </p:cSld>
  <p:clrMapOvr>
    <a:masterClrMapping/>
  </p:clrMapOvr>
</p:sld>
</file>

<file path=ppt/theme/theme1.xml><?xml version="1.0" encoding="utf-8"?>
<a:theme xmlns:a="http://schemas.openxmlformats.org/drawingml/2006/main" name="HairMela Security and Data Protection Audit">
  <a:themeElements>
    <a:clrScheme name="HairMela Security and Data Protection Audit">
      <a:dk1>
        <a:srgbClr val="121A33"/>
      </a:dk1>
      <a:lt1>
        <a:srgbClr val="F6F4EF"/>
      </a:lt1>
      <a:dk2>
        <a:srgbClr val="4B5162"/>
      </a:dk2>
      <a:lt2>
        <a:srgbClr val="DFDEDC"/>
      </a:lt2>
      <a:accent1>
        <a:srgbClr val="2347F5"/>
      </a:accent1>
      <a:accent2>
        <a:srgbClr val="C9D2F0"/>
      </a:accent2>
      <a:accent3>
        <a:srgbClr val="B7E1A1"/>
      </a:accent3>
      <a:accent4>
        <a:srgbClr val="FFE08A"/>
      </a:accent4>
      <a:accent5>
        <a:srgbClr val="F4A259"/>
      </a:accent5>
      <a:accent6>
        <a:srgbClr val="C0392B"/>
      </a:accent6>
      <a:hlink>
        <a:srgbClr val="0563C1"/>
      </a:hlink>
      <a:folHlink>
        <a:srgbClr val="954F72"/>
      </a:folHlink>
    </a:clrScheme>
    <a:fontScheme name="HairMela Security and Data Protection Aud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HairMela Security and Data Protection Audit</dc:title>
  <dc:subject/>
  <dc:creator/>
  <cp:lastModifiedBy/>
  <cp:revision>1</cp:revision>
  <dcterms:created xsi:type="dcterms:W3CDTF">2026-10-20T11:43:58Z</dcterms:created>
  <dcterms:modified xsi:type="dcterms:W3CDTF">2026-10-20T11:43:58Z</dcterms:modified>
</cp:coreProperties>
</file>